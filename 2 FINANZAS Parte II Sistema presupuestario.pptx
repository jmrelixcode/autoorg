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8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425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71" r:id="rId19"/>
    <p:sldId id="436" r:id="rId20"/>
    <p:sldId id="437" r:id="rId21"/>
    <p:sldId id="438" r:id="rId22"/>
    <p:sldId id="439" r:id="rId23"/>
    <p:sldId id="454" r:id="rId24"/>
    <p:sldId id="455" r:id="rId25"/>
    <p:sldId id="456" r:id="rId26"/>
    <p:sldId id="457" r:id="rId27"/>
    <p:sldId id="458" r:id="rId28"/>
    <p:sldId id="459" r:id="rId29"/>
    <p:sldId id="460" r:id="rId30"/>
    <p:sldId id="461" r:id="rId31"/>
    <p:sldId id="462" r:id="rId32"/>
    <p:sldId id="463" r:id="rId33"/>
    <p:sldId id="464" r:id="rId34"/>
    <p:sldId id="465" r:id="rId35"/>
    <p:sldId id="466" r:id="rId36"/>
    <p:sldId id="467" r:id="rId37"/>
    <p:sldId id="468" r:id="rId38"/>
    <p:sldId id="469" r:id="rId39"/>
    <p:sldId id="470" r:id="rId40"/>
    <p:sldId id="440" r:id="rId41"/>
    <p:sldId id="441" r:id="rId42"/>
    <p:sldId id="442" r:id="rId43"/>
    <p:sldId id="443" r:id="rId44"/>
    <p:sldId id="444" r:id="rId45"/>
    <p:sldId id="445" r:id="rId46"/>
    <p:sldId id="260" r:id="rId47"/>
    <p:sldId id="264" r:id="rId48"/>
    <p:sldId id="266" r:id="rId49"/>
    <p:sldId id="265" r:id="rId50"/>
    <p:sldId id="448" r:id="rId51"/>
    <p:sldId id="446" r:id="rId52"/>
    <p:sldId id="451" r:id="rId53"/>
    <p:sldId id="449" r:id="rId54"/>
    <p:sldId id="450" r:id="rId55"/>
    <p:sldId id="452" r:id="rId56"/>
    <p:sldId id="453" r:id="rId57"/>
    <p:sldId id="268" r:id="rId58"/>
    <p:sldId id="419" r:id="rId59"/>
    <p:sldId id="421" r:id="rId60"/>
    <p:sldId id="270" r:id="rId61"/>
    <p:sldId id="269" r:id="rId62"/>
    <p:sldId id="272" r:id="rId63"/>
    <p:sldId id="424" r:id="rId64"/>
    <p:sldId id="422" r:id="rId65"/>
    <p:sldId id="423" r:id="rId66"/>
    <p:sldId id="271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1DDFA-95D4-4EB3-A370-4320A5ACEF2C}" v="6" dt="2023-11-16T00:29:49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0" autoAdjust="0"/>
    <p:restoredTop sz="94660"/>
  </p:normalViewPr>
  <p:slideViewPr>
    <p:cSldViewPr snapToGrid="0">
      <p:cViewPr varScale="1">
        <p:scale>
          <a:sx n="79" d="100"/>
          <a:sy n="79" d="100"/>
        </p:scale>
        <p:origin x="92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Lagos" userId="a0ca0c33f382036e" providerId="LiveId" clId="{0A21DDFA-95D4-4EB3-A370-4320A5ACEF2C}"/>
    <pc:docChg chg="undo custSel addSld delSld modSld">
      <pc:chgData name="Fernando Lagos" userId="a0ca0c33f382036e" providerId="LiveId" clId="{0A21DDFA-95D4-4EB3-A370-4320A5ACEF2C}" dt="2023-11-16T00:32:35.344" v="30" actId="20577"/>
      <pc:docMkLst>
        <pc:docMk/>
      </pc:docMkLst>
      <pc:sldChg chg="addSp delSp modSp new del">
        <pc:chgData name="Fernando Lagos" userId="a0ca0c33f382036e" providerId="LiveId" clId="{0A21DDFA-95D4-4EB3-A370-4320A5ACEF2C}" dt="2023-11-16T00:26:12.215" v="5" actId="680"/>
        <pc:sldMkLst>
          <pc:docMk/>
          <pc:sldMk cId="527011206" sldId="424"/>
        </pc:sldMkLst>
        <pc:graphicFrameChg chg="add del mod">
          <ac:chgData name="Fernando Lagos" userId="a0ca0c33f382036e" providerId="LiveId" clId="{0A21DDFA-95D4-4EB3-A370-4320A5ACEF2C}" dt="2023-11-16T00:26:02.181" v="2"/>
          <ac:graphicFrameMkLst>
            <pc:docMk/>
            <pc:sldMk cId="527011206" sldId="424"/>
            <ac:graphicFrameMk id="2" creationId="{1B78ADDF-78CB-1863-EE2D-15D7532A2E59}"/>
          </ac:graphicFrameMkLst>
        </pc:graphicFrameChg>
        <pc:graphicFrameChg chg="add del mod">
          <ac:chgData name="Fernando Lagos" userId="a0ca0c33f382036e" providerId="LiveId" clId="{0A21DDFA-95D4-4EB3-A370-4320A5ACEF2C}" dt="2023-11-16T00:26:11.121" v="4"/>
          <ac:graphicFrameMkLst>
            <pc:docMk/>
            <pc:sldMk cId="527011206" sldId="424"/>
            <ac:graphicFrameMk id="3" creationId="{FD55F576-9B47-5600-7BC6-6A48118C0112}"/>
          </ac:graphicFrameMkLst>
        </pc:graphicFrameChg>
      </pc:sldChg>
      <pc:sldChg chg="addSp modSp new mod">
        <pc:chgData name="Fernando Lagos" userId="a0ca0c33f382036e" providerId="LiveId" clId="{0A21DDFA-95D4-4EB3-A370-4320A5ACEF2C}" dt="2023-11-16T00:32:35.344" v="30" actId="20577"/>
        <pc:sldMkLst>
          <pc:docMk/>
          <pc:sldMk cId="2982757178" sldId="424"/>
        </pc:sldMkLst>
        <pc:graphicFrameChg chg="add mod modGraphic">
          <ac:chgData name="Fernando Lagos" userId="a0ca0c33f382036e" providerId="LiveId" clId="{0A21DDFA-95D4-4EB3-A370-4320A5ACEF2C}" dt="2023-11-16T00:31:23.583" v="26" actId="242"/>
          <ac:graphicFrameMkLst>
            <pc:docMk/>
            <pc:sldMk cId="2982757178" sldId="424"/>
            <ac:graphicFrameMk id="2" creationId="{04070C6F-F418-07EF-20F4-FFFEE52C98FF}"/>
          </ac:graphicFrameMkLst>
        </pc:graphicFrameChg>
        <pc:graphicFrameChg chg="add mod modGraphic">
          <ac:chgData name="Fernando Lagos" userId="a0ca0c33f382036e" providerId="LiveId" clId="{0A21DDFA-95D4-4EB3-A370-4320A5ACEF2C}" dt="2023-11-16T00:32:35.344" v="30" actId="20577"/>
          <ac:graphicFrameMkLst>
            <pc:docMk/>
            <pc:sldMk cId="2982757178" sldId="424"/>
            <ac:graphicFrameMk id="3" creationId="{3E84AB69-0BDA-3481-91F6-50762A3ECD8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247A2-3ACF-4D1D-8F6D-281D797125E2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29BA1-60A6-4240-AE04-BC1554420F2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595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29BA1-60A6-4240-AE04-BC1554420F21}" type="slidenum">
              <a:rPr lang="es-CL" smtClean="0"/>
              <a:t>56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436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97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5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5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97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68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2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47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37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53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6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327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21" r:id="rId6"/>
    <p:sldLayoutId id="2147483726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conomipedia.com/definiciones/ingreso.html" TargetMode="External"/><Relationship Id="rId2" Type="http://schemas.openxmlformats.org/officeDocument/2006/relationships/hyperlink" Target="https://economipedia.com/definiciones/presupuesto.html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economipedia.com/definiciones/gasto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Background Fill">
            <a:extLst>
              <a:ext uri="{FF2B5EF4-FFF2-40B4-BE49-F238E27FC236}">
                <a16:creationId xmlns:a16="http://schemas.microsoft.com/office/drawing/2014/main" id="{3E5E751B-5852-4839-83B3-6F79F8E8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Color Fill">
            <a:extLst>
              <a:ext uri="{FF2B5EF4-FFF2-40B4-BE49-F238E27FC236}">
                <a16:creationId xmlns:a16="http://schemas.microsoft.com/office/drawing/2014/main" id="{428B6687-5D8A-41C9-A626-A8C2CBFD8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73574D-F06D-455C-8175-AF8EB2E32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34870" y="0"/>
            <a:ext cx="4257130" cy="6858000"/>
            <a:chOff x="7934870" y="0"/>
            <a:chExt cx="4257130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6F862D1-D372-44FB-AEB1-8F6EA5683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48949" y="5077229"/>
              <a:ext cx="2643051" cy="1780771"/>
            </a:xfrm>
            <a:custGeom>
              <a:avLst/>
              <a:gdLst>
                <a:gd name="connsiteX0" fmla="*/ 688454 w 2606118"/>
                <a:gd name="connsiteY0" fmla="*/ 45 h 1780771"/>
                <a:gd name="connsiteX1" fmla="*/ 2185726 w 2606118"/>
                <a:gd name="connsiteY1" fmla="*/ 493214 h 1780771"/>
                <a:gd name="connsiteX2" fmla="*/ 2604211 w 2606118"/>
                <a:gd name="connsiteY2" fmla="*/ 1304250 h 1780771"/>
                <a:gd name="connsiteX3" fmla="*/ 2606118 w 2606118"/>
                <a:gd name="connsiteY3" fmla="*/ 1313978 h 1780771"/>
                <a:gd name="connsiteX4" fmla="*/ 2606118 w 2606118"/>
                <a:gd name="connsiteY4" fmla="*/ 1780771 h 1780771"/>
                <a:gd name="connsiteX5" fmla="*/ 215846 w 2606118"/>
                <a:gd name="connsiteY5" fmla="*/ 1780771 h 1780771"/>
                <a:gd name="connsiteX6" fmla="*/ 187787 w 2606118"/>
                <a:gd name="connsiteY6" fmla="*/ 1724104 h 1780771"/>
                <a:gd name="connsiteX7" fmla="*/ 49732 w 2606118"/>
                <a:gd name="connsiteY7" fmla="*/ 49732 h 1780771"/>
                <a:gd name="connsiteX8" fmla="*/ 688454 w 2606118"/>
                <a:gd name="connsiteY8" fmla="*/ 45 h 17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6118" h="1780771">
                  <a:moveTo>
                    <a:pt x="688454" y="45"/>
                  </a:moveTo>
                  <a:cubicBezTo>
                    <a:pt x="1159303" y="2313"/>
                    <a:pt x="1785062" y="92550"/>
                    <a:pt x="2185726" y="493214"/>
                  </a:cubicBezTo>
                  <a:cubicBezTo>
                    <a:pt x="2408317" y="715805"/>
                    <a:pt x="2535097" y="1007870"/>
                    <a:pt x="2604211" y="1304250"/>
                  </a:cubicBezTo>
                  <a:lnTo>
                    <a:pt x="2606118" y="1313978"/>
                  </a:lnTo>
                  <a:lnTo>
                    <a:pt x="2606118" y="1780771"/>
                  </a:lnTo>
                  <a:lnTo>
                    <a:pt x="215846" y="1780771"/>
                  </a:lnTo>
                  <a:lnTo>
                    <a:pt x="187787" y="1724104"/>
                  </a:lnTo>
                  <a:cubicBezTo>
                    <a:pt x="-127724" y="989597"/>
                    <a:pt x="49732" y="49732"/>
                    <a:pt x="49732" y="49732"/>
                  </a:cubicBezTo>
                  <a:cubicBezTo>
                    <a:pt x="49732" y="49732"/>
                    <a:pt x="322237" y="-1720"/>
                    <a:pt x="688454" y="4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4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0288BFC-8446-4D20-BA63-79FA81DA9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60221" y="469962"/>
              <a:ext cx="528731" cy="1057462"/>
            </a:xfrm>
            <a:custGeom>
              <a:avLst/>
              <a:gdLst>
                <a:gd name="connsiteX0" fmla="*/ 528731 w 528731"/>
                <a:gd name="connsiteY0" fmla="*/ 0 h 1057462"/>
                <a:gd name="connsiteX1" fmla="*/ 528731 w 528731"/>
                <a:gd name="connsiteY1" fmla="*/ 1057462 h 1057462"/>
                <a:gd name="connsiteX2" fmla="*/ 0 w 528731"/>
                <a:gd name="connsiteY2" fmla="*/ 528731 h 1057462"/>
                <a:gd name="connsiteX3" fmla="*/ 528731 w 528731"/>
                <a:gd name="connsiteY3" fmla="*/ 0 h 105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731" h="1057462">
                  <a:moveTo>
                    <a:pt x="528731" y="0"/>
                  </a:moveTo>
                  <a:lnTo>
                    <a:pt x="528731" y="1057462"/>
                  </a:lnTo>
                  <a:cubicBezTo>
                    <a:pt x="236721" y="1057462"/>
                    <a:pt x="0" y="820741"/>
                    <a:pt x="0" y="528731"/>
                  </a:cubicBezTo>
                  <a:cubicBezTo>
                    <a:pt x="0" y="236721"/>
                    <a:pt x="236721" y="0"/>
                    <a:pt x="528731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939C530-AFE7-4C51-B999-86DC5F3F7F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65646" y="1470520"/>
              <a:ext cx="328008" cy="328008"/>
            </a:xfrm>
            <a:prstGeom prst="ellipse">
              <a:avLst/>
            </a:pr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CC9DA47-842F-4D6E-AED6-94B36610C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34870" y="1"/>
              <a:ext cx="3034340" cy="2483913"/>
            </a:xfrm>
            <a:custGeom>
              <a:avLst/>
              <a:gdLst>
                <a:gd name="connsiteX0" fmla="*/ 39219 w 3034340"/>
                <a:gd name="connsiteY0" fmla="*/ 0 h 2483913"/>
                <a:gd name="connsiteX1" fmla="*/ 2995122 w 3034340"/>
                <a:gd name="connsiteY1" fmla="*/ 0 h 2483913"/>
                <a:gd name="connsiteX2" fmla="*/ 3006509 w 3034340"/>
                <a:gd name="connsiteY2" fmla="*/ 46641 h 2483913"/>
                <a:gd name="connsiteX3" fmla="*/ 2589045 w 3034340"/>
                <a:gd name="connsiteY3" fmla="*/ 1412038 h 2483913"/>
                <a:gd name="connsiteX4" fmla="*/ 1517170 w 3034340"/>
                <a:gd name="connsiteY4" fmla="*/ 2483913 h 2483913"/>
                <a:gd name="connsiteX5" fmla="*/ 445296 w 3034340"/>
                <a:gd name="connsiteY5" fmla="*/ 1412038 h 2483913"/>
                <a:gd name="connsiteX6" fmla="*/ 27832 w 3034340"/>
                <a:gd name="connsiteY6" fmla="*/ 46641 h 248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4340" h="2483913">
                  <a:moveTo>
                    <a:pt x="39219" y="0"/>
                  </a:moveTo>
                  <a:lnTo>
                    <a:pt x="2995122" y="0"/>
                  </a:lnTo>
                  <a:lnTo>
                    <a:pt x="3006509" y="46641"/>
                  </a:lnTo>
                  <a:cubicBezTo>
                    <a:pt x="3099279" y="525788"/>
                    <a:pt x="2960124" y="1040959"/>
                    <a:pt x="2589045" y="1412038"/>
                  </a:cubicBezTo>
                  <a:lnTo>
                    <a:pt x="1517170" y="2483913"/>
                  </a:lnTo>
                  <a:lnTo>
                    <a:pt x="445296" y="1412038"/>
                  </a:lnTo>
                  <a:cubicBezTo>
                    <a:pt x="74217" y="1040959"/>
                    <a:pt x="-64938" y="525788"/>
                    <a:pt x="27832" y="46641"/>
                  </a:cubicBez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D7B5037-A44A-4D5D-B12D-68631CF4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97828" y="0"/>
              <a:ext cx="2708425" cy="2263840"/>
            </a:xfrm>
            <a:custGeom>
              <a:avLst/>
              <a:gdLst>
                <a:gd name="connsiteX0" fmla="*/ 46413 w 2708425"/>
                <a:gd name="connsiteY0" fmla="*/ 0 h 2263840"/>
                <a:gd name="connsiteX1" fmla="*/ 2662013 w 2708425"/>
                <a:gd name="connsiteY1" fmla="*/ 0 h 2263840"/>
                <a:gd name="connsiteX2" fmla="*/ 2683584 w 2708425"/>
                <a:gd name="connsiteY2" fmla="*/ 88351 h 2263840"/>
                <a:gd name="connsiteX3" fmla="*/ 2310959 w 2708425"/>
                <a:gd name="connsiteY3" fmla="*/ 1307094 h 2263840"/>
                <a:gd name="connsiteX4" fmla="*/ 1354213 w 2708425"/>
                <a:gd name="connsiteY4" fmla="*/ 2263840 h 2263840"/>
                <a:gd name="connsiteX5" fmla="*/ 397467 w 2708425"/>
                <a:gd name="connsiteY5" fmla="*/ 1307094 h 2263840"/>
                <a:gd name="connsiteX6" fmla="*/ 24842 w 2708425"/>
                <a:gd name="connsiteY6" fmla="*/ 88351 h 226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8425" h="2263840">
                  <a:moveTo>
                    <a:pt x="46413" y="0"/>
                  </a:moveTo>
                  <a:lnTo>
                    <a:pt x="2662013" y="0"/>
                  </a:lnTo>
                  <a:lnTo>
                    <a:pt x="2683584" y="88351"/>
                  </a:lnTo>
                  <a:cubicBezTo>
                    <a:pt x="2766390" y="516035"/>
                    <a:pt x="2642182" y="975871"/>
                    <a:pt x="2310959" y="1307094"/>
                  </a:cubicBezTo>
                  <a:lnTo>
                    <a:pt x="1354213" y="2263840"/>
                  </a:lnTo>
                  <a:lnTo>
                    <a:pt x="397467" y="1307094"/>
                  </a:lnTo>
                  <a:cubicBezTo>
                    <a:pt x="66245" y="975871"/>
                    <a:pt x="-57964" y="516035"/>
                    <a:pt x="24842" y="88351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Texture">
            <a:extLst>
              <a:ext uri="{FF2B5EF4-FFF2-40B4-BE49-F238E27FC236}">
                <a16:creationId xmlns:a16="http://schemas.microsoft.com/office/drawing/2014/main" id="{D9F678FF-4541-4601-B506-CC0A4AC96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1AFA29-5320-4D0A-7C27-52382E9EA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76656"/>
            <a:ext cx="5540202" cy="3063240"/>
          </a:xfrm>
        </p:spPr>
        <p:txBody>
          <a:bodyPr>
            <a:normAutofit/>
          </a:bodyPr>
          <a:lstStyle/>
          <a:p>
            <a:r>
              <a:rPr lang="es-ES" dirty="0"/>
              <a:t>Sistema presupuestario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D4EFC3-7116-50BF-17B5-5F0374308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840480"/>
            <a:ext cx="5540202" cy="2340864"/>
          </a:xfrm>
        </p:spPr>
        <p:txBody>
          <a:bodyPr>
            <a:normAutofit/>
          </a:bodyPr>
          <a:lstStyle/>
          <a:p>
            <a:r>
              <a:rPr lang="es-ES" dirty="0"/>
              <a:t>Prof. Fernando Lagos</a:t>
            </a:r>
          </a:p>
          <a:p>
            <a:r>
              <a:rPr lang="es-ES" dirty="0"/>
              <a:t>fernando.lagos07@inacapmail.cl</a:t>
            </a:r>
          </a:p>
        </p:txBody>
      </p:sp>
      <p:pic>
        <p:nvPicPr>
          <p:cNvPr id="4" name="Picture 3" descr="Vista de ángulo reducido de las nubes en el cielo">
            <a:extLst>
              <a:ext uri="{FF2B5EF4-FFF2-40B4-BE49-F238E27FC236}">
                <a16:creationId xmlns:a16="http://schemas.microsoft.com/office/drawing/2014/main" id="{9121D918-1BA5-DFC0-B8A5-FA32177056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95" r="3" b="13135"/>
          <a:stretch/>
        </p:blipFill>
        <p:spPr>
          <a:xfrm>
            <a:off x="6360177" y="1934966"/>
            <a:ext cx="5831823" cy="3046917"/>
          </a:xfrm>
          <a:custGeom>
            <a:avLst/>
            <a:gdLst/>
            <a:ahLst/>
            <a:cxnLst/>
            <a:rect l="l" t="t" r="r" b="b"/>
            <a:pathLst>
              <a:path w="5831823" h="3046917">
                <a:moveTo>
                  <a:pt x="4630021" y="7292"/>
                </a:moveTo>
                <a:lnTo>
                  <a:pt x="5831823" y="7292"/>
                </a:lnTo>
                <a:lnTo>
                  <a:pt x="5831823" y="2450538"/>
                </a:lnTo>
                <a:lnTo>
                  <a:pt x="5800042" y="2493038"/>
                </a:lnTo>
                <a:cubicBezTo>
                  <a:pt x="5520878" y="2831307"/>
                  <a:pt x="5098400" y="3046917"/>
                  <a:pt x="4625556" y="3046917"/>
                </a:cubicBezTo>
                <a:lnTo>
                  <a:pt x="3107978" y="3046917"/>
                </a:lnTo>
                <a:lnTo>
                  <a:pt x="3107978" y="1529337"/>
                </a:lnTo>
                <a:cubicBezTo>
                  <a:pt x="3107978" y="688726"/>
                  <a:pt x="3789410" y="7292"/>
                  <a:pt x="4630021" y="7292"/>
                </a:cubicBezTo>
                <a:close/>
                <a:moveTo>
                  <a:pt x="0" y="0"/>
                </a:moveTo>
                <a:lnTo>
                  <a:pt x="1517580" y="0"/>
                </a:lnTo>
                <a:cubicBezTo>
                  <a:pt x="2358191" y="0"/>
                  <a:pt x="3039624" y="681433"/>
                  <a:pt x="3039624" y="1522044"/>
                </a:cubicBezTo>
                <a:lnTo>
                  <a:pt x="3039624" y="3039623"/>
                </a:lnTo>
                <a:lnTo>
                  <a:pt x="1522045" y="3039623"/>
                </a:lnTo>
                <a:cubicBezTo>
                  <a:pt x="681434" y="3039623"/>
                  <a:pt x="0" y="2358190"/>
                  <a:pt x="0" y="151757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5669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043B1-FD19-B83A-87C0-3AFB7BBF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proyección de presupuesto?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DDE382-1C2C-5C34-561C-B6F66AB16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Son la proyección de los ingresos, gastos y costos para un periodo determinado. Con el propósito de determinar la conveniencia económica del negocio. </a:t>
            </a:r>
          </a:p>
          <a:p>
            <a:r>
              <a:rPr lang="es-ES" dirty="0"/>
              <a:t>Además, permitirá conocer si existirá efectivo suficiente o habrá déficit.</a:t>
            </a:r>
          </a:p>
          <a:p>
            <a:r>
              <a:rPr lang="es-ES" dirty="0"/>
              <a:t>También, es un  presupuesto el cálculo anticipado del costo de un producto o servicio. Esto con el objetivo de determinar el precio.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444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19C02-6F8A-E660-E758-A6D3E672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833373"/>
          </a:xfrm>
        </p:spPr>
        <p:txBody>
          <a:bodyPr>
            <a:normAutofit fontScale="90000"/>
          </a:bodyPr>
          <a:lstStyle/>
          <a:p>
            <a:r>
              <a:rPr lang="es-ES" dirty="0"/>
              <a:t>Naturaleza de la proyección del presupuesto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21F5F7-6EC0-FB02-622F-AE889147B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la expresión numérica de un negocio.</a:t>
            </a:r>
          </a:p>
          <a:p>
            <a:endParaRPr lang="es-ES" dirty="0"/>
          </a:p>
          <a:p>
            <a:r>
              <a:rPr lang="es-ES" dirty="0"/>
              <a:t>Sirve para anticiparse.</a:t>
            </a:r>
          </a:p>
          <a:p>
            <a:endParaRPr lang="es-ES" dirty="0"/>
          </a:p>
          <a:p>
            <a:r>
              <a:rPr lang="es-ES" dirty="0"/>
              <a:t>También, permite controlar lo programado.</a:t>
            </a:r>
          </a:p>
          <a:p>
            <a:endParaRPr lang="es-ES" dirty="0"/>
          </a:p>
          <a:p>
            <a:r>
              <a:rPr lang="es-ES" dirty="0"/>
              <a:t>Permite asignar responsabilidades.</a:t>
            </a:r>
          </a:p>
          <a:p>
            <a:endParaRPr lang="es-ES" dirty="0"/>
          </a:p>
          <a:p>
            <a:r>
              <a:rPr lang="es-ES" dirty="0"/>
              <a:t>Los presupuestos pueden ser fijos o móviles.</a:t>
            </a:r>
          </a:p>
        </p:txBody>
      </p:sp>
    </p:spTree>
    <p:extLst>
      <p:ext uri="{BB962C8B-B14F-4D97-AF65-F5344CB8AC3E}">
        <p14:creationId xmlns:p14="http://schemas.microsoft.com/office/powerpoint/2010/main" val="3802646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1B3CC-1F7E-0B32-2ADD-C7732709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0267"/>
            <a:ext cx="7685037" cy="1151467"/>
          </a:xfrm>
        </p:spPr>
        <p:txBody>
          <a:bodyPr>
            <a:normAutofit fontScale="90000"/>
          </a:bodyPr>
          <a:lstStyle/>
          <a:p>
            <a:r>
              <a:rPr lang="es-ES" dirty="0"/>
              <a:t>¿Qué elementos necesitamos para proyectar un presupuesto?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27954-8B17-ABF8-77A6-E9BFCE6C9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Obtener información.</a:t>
            </a:r>
          </a:p>
          <a:p>
            <a:endParaRPr lang="es-ES" dirty="0"/>
          </a:p>
          <a:p>
            <a:r>
              <a:rPr lang="es-ES" dirty="0"/>
              <a:t>Planificar las actividades.</a:t>
            </a:r>
          </a:p>
          <a:p>
            <a:endParaRPr lang="es-ES" dirty="0"/>
          </a:p>
          <a:p>
            <a:r>
              <a:rPr lang="es-ES" dirty="0"/>
              <a:t>Participación de todas las áreas de la empresa.</a:t>
            </a:r>
          </a:p>
          <a:p>
            <a:endParaRPr lang="es-ES" dirty="0"/>
          </a:p>
          <a:p>
            <a:r>
              <a:rPr lang="es-ES" dirty="0"/>
              <a:t>Determinar los objetivos de cada área.</a:t>
            </a:r>
          </a:p>
          <a:p>
            <a:endParaRPr lang="es-ES" dirty="0"/>
          </a:p>
          <a:p>
            <a:r>
              <a:rPr lang="es-ES" dirty="0"/>
              <a:t>Planes para cumplir los presupuestos.</a:t>
            </a:r>
          </a:p>
          <a:p>
            <a:endParaRPr lang="es-ES" dirty="0"/>
          </a:p>
          <a:p>
            <a:r>
              <a:rPr lang="es-ES" dirty="0"/>
              <a:t>Control del presupuesto.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918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E5131-F0CE-3A2A-B646-AC3E807A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878529"/>
          </a:xfrm>
        </p:spPr>
        <p:txBody>
          <a:bodyPr/>
          <a:lstStyle/>
          <a:p>
            <a:r>
              <a:rPr lang="es-ES" dirty="0"/>
              <a:t>Responsabilidad del presupuesto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98C43B-7FA3-DFF4-ACD7-E9D8C65B9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Cada área de la empresa es responsable de la proyección del presupuesto.</a:t>
            </a:r>
          </a:p>
          <a:p>
            <a:endParaRPr lang="es-ES" dirty="0"/>
          </a:p>
          <a:p>
            <a:r>
              <a:rPr lang="es-ES" dirty="0"/>
              <a:t>Sin embargo, el área financiera es responsable de la generación de los presupuestos globales que integran los presupuestos por área. </a:t>
            </a:r>
          </a:p>
          <a:p>
            <a:endParaRPr lang="es-ES" dirty="0"/>
          </a:p>
          <a:p>
            <a:r>
              <a:rPr lang="es-ES" dirty="0"/>
              <a:t>Además, generalmente el área financiera efectúa el control de los presupuestos por área y general.</a:t>
            </a:r>
          </a:p>
        </p:txBody>
      </p:sp>
    </p:spTree>
    <p:extLst>
      <p:ext uri="{BB962C8B-B14F-4D97-AF65-F5344CB8AC3E}">
        <p14:creationId xmlns:p14="http://schemas.microsoft.com/office/powerpoint/2010/main" val="307902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AA668-9005-44B1-CFAF-3576D1BC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presupuestos pueden ser </a:t>
            </a:r>
            <a:br>
              <a:rPr lang="es-ES" dirty="0"/>
            </a:br>
            <a:r>
              <a:rPr lang="es-ES" dirty="0"/>
              <a:t> Operativos vs. Financieros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87F72C-B6A7-A567-3DC9-7C98D3279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dirty="0"/>
              <a:t>Operativos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CDE952-88B8-EBAC-00AF-A0EEBA3E5A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i="0" dirty="0">
                <a:effectLst/>
                <a:latin typeface="Open Sans" panose="020B0606030504020204" pitchFamily="34" charset="0"/>
              </a:rPr>
              <a:t>El </a:t>
            </a:r>
            <a:r>
              <a:rPr lang="es-ES" i="0" strike="noStrike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presupuesto</a:t>
            </a:r>
            <a:r>
              <a:rPr lang="es-ES" i="0" dirty="0">
                <a:effectLst/>
                <a:latin typeface="Open Sans" panose="020B0606030504020204" pitchFamily="34" charset="0"/>
              </a:rPr>
              <a:t> operativo consiste en aquel documento que recoge los </a:t>
            </a:r>
            <a:r>
              <a:rPr lang="es-ES" i="0" strike="noStrike" dirty="0">
                <a:effectLst/>
                <a:latin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ingresos</a:t>
            </a:r>
            <a:r>
              <a:rPr lang="es-ES" i="0" dirty="0">
                <a:effectLst/>
                <a:latin typeface="Open Sans" panose="020B0606030504020204" pitchFamily="34" charset="0"/>
              </a:rPr>
              <a:t> y </a:t>
            </a:r>
            <a:r>
              <a:rPr lang="es-ES" i="0" strike="noStrike" dirty="0">
                <a:effectLst/>
                <a:latin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gastos</a:t>
            </a:r>
            <a:r>
              <a:rPr lang="es-ES" i="0" dirty="0">
                <a:effectLst/>
                <a:latin typeface="Open Sans" panose="020B0606030504020204" pitchFamily="34" charset="0"/>
              </a:rPr>
              <a:t> de carácter ordinario de una empresa</a:t>
            </a:r>
            <a:r>
              <a:rPr lang="es-ES" b="0" i="0" dirty="0">
                <a:effectLst/>
                <a:latin typeface="Open Sans" panose="020B0606030504020204" pitchFamily="34" charset="0"/>
              </a:rPr>
              <a:t>.</a:t>
            </a:r>
          </a:p>
          <a:p>
            <a:r>
              <a:rPr lang="es-ES" dirty="0">
                <a:latin typeface="Open Sans" panose="020B0606030504020204" pitchFamily="34" charset="0"/>
              </a:rPr>
              <a:t>Permite proyectar, detalladamente, las ventas del negocio, generalmente se hace a un año, así como los gastos que deberá hacer para operar y cumplir con su meta de ingresos.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2F0C28-2042-F85C-D559-6A9C9510F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dirty="0"/>
              <a:t>Financieros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8D6B0F8-54FA-47FF-3884-66065219CDB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>
                <a:latin typeface="Open Sans" panose="020B0606030504020204" pitchFamily="34" charset="0"/>
              </a:rPr>
              <a:t>Un </a:t>
            </a:r>
            <a:r>
              <a:rPr lang="es-ES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presupuesto</a:t>
            </a:r>
            <a:r>
              <a:rPr lang="es-ES" dirty="0">
                <a:latin typeface="Open Sans" panose="020B0606030504020204" pitchFamily="34" charset="0"/>
              </a:rPr>
              <a:t> financiero es aquel documento que trata de poner en relieve la situación económica de una empresa durante un periodo determinado.</a:t>
            </a:r>
          </a:p>
          <a:p>
            <a:r>
              <a:rPr lang="es-ES" dirty="0">
                <a:latin typeface="Open Sans" panose="020B0606030504020204" pitchFamily="34" charset="0"/>
              </a:rPr>
              <a:t>Permitirá saber qué tan rentable es el negocio.</a:t>
            </a:r>
          </a:p>
        </p:txBody>
      </p:sp>
    </p:spTree>
    <p:extLst>
      <p:ext uri="{BB962C8B-B14F-4D97-AF65-F5344CB8AC3E}">
        <p14:creationId xmlns:p14="http://schemas.microsoft.com/office/powerpoint/2010/main" val="5293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869BC-4067-3B41-399B-CDC7280D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Tipos de proyección de presupuestos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7FBC76-0F2D-1F11-8C75-A0D43E2B5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Convencional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9018-802D-49E6-3BD4-7E7EF06AAB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En este tipo de presupuesto se parte de una base ya existente correspondiente al período anterior.</a:t>
            </a:r>
          </a:p>
          <a:p>
            <a:endParaRPr lang="es-ES" dirty="0"/>
          </a:p>
          <a:p>
            <a:r>
              <a:rPr lang="es-ES" dirty="0"/>
              <a:t>De igual manera se pueden incorporar nuevas partidas si es que se requiere.</a:t>
            </a:r>
          </a:p>
          <a:p>
            <a:endParaRPr lang="es-ES" dirty="0"/>
          </a:p>
          <a:p>
            <a:r>
              <a:rPr lang="es-ES" dirty="0"/>
              <a:t>Requiere un criterio para proyectar.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8EE10C-1C7E-8952-1000-66ED47EDB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Base cero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55FE71-BC52-5FE8-BE0E-0F7EA2EFB6E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ES" dirty="0"/>
              <a:t>Este caso se usa cuando no hay período anterior, es decir, la empresa está empezando.</a:t>
            </a:r>
          </a:p>
          <a:p>
            <a:endParaRPr lang="es-ES" dirty="0"/>
          </a:p>
          <a:p>
            <a:r>
              <a:rPr lang="es-ES" dirty="0"/>
              <a:t>También, se usa cuando la empresa requiere o decide partir de cero.</a:t>
            </a:r>
          </a:p>
          <a:p>
            <a:endParaRPr lang="es-ES" dirty="0"/>
          </a:p>
          <a:p>
            <a:r>
              <a:rPr lang="es-ES" dirty="0"/>
              <a:t>Muchas veces esta opción es más arriesgada, pero puede ser un gran desafío para lograr. </a:t>
            </a:r>
          </a:p>
        </p:txBody>
      </p:sp>
    </p:spTree>
    <p:extLst>
      <p:ext uri="{BB962C8B-B14F-4D97-AF65-F5344CB8AC3E}">
        <p14:creationId xmlns:p14="http://schemas.microsoft.com/office/powerpoint/2010/main" val="217624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AAFCF-DD05-E3AA-EE3D-8AFDB27A2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1) El presupuesto operativo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DF35F4-2F1F-D9FA-75F2-1A7C5D72B966}"/>
              </a:ext>
            </a:extLst>
          </p:cNvPr>
          <p:cNvSpPr txBox="1"/>
          <p:nvPr/>
        </p:nvSpPr>
        <p:spPr>
          <a:xfrm>
            <a:off x="457200" y="276413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presupuesto operativo es el instrumento que permite planificar y controlar los recursos necesarios para el funcionamiento cotidiano de una empresa. </a:t>
            </a:r>
          </a:p>
          <a:p>
            <a:endParaRPr lang="es-ES" dirty="0"/>
          </a:p>
          <a:p>
            <a:r>
              <a:rPr lang="es-ES" dirty="0"/>
              <a:t>Es el reflejo de las decisiones tácticas que sostienen las áreas productivas, administrativas y  de logística.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80287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CD210-4185-1033-88D9-45DB1825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857"/>
            <a:ext cx="10450629" cy="1325564"/>
          </a:xfrm>
        </p:spPr>
        <p:txBody>
          <a:bodyPr/>
          <a:lstStyle/>
          <a:p>
            <a:r>
              <a:rPr lang="es-CL" dirty="0"/>
              <a:t>Componentes clave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B9ACD2-5114-FC5A-B0E2-489AF2C29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a) Ingresos operativos</a:t>
            </a:r>
          </a:p>
          <a:p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983CB4-1537-C807-7FAF-196F5A1588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Ventas proyectadas de productos terminados.</a:t>
            </a:r>
          </a:p>
          <a:p>
            <a:r>
              <a:rPr lang="es-ES" dirty="0"/>
              <a:t>Servicios complementarios (ej. mecanizado, embalaje).</a:t>
            </a:r>
          </a:p>
          <a:p>
            <a:r>
              <a:rPr lang="es-ES" dirty="0"/>
              <a:t>Subproductos o reutilización de residuos.</a:t>
            </a:r>
            <a:endParaRPr lang="es-CL" dirty="0"/>
          </a:p>
          <a:p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3B4652-40E8-75A5-9833-7B423FC6E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b) Gastos operativos</a:t>
            </a:r>
          </a:p>
          <a:p>
            <a:endParaRPr lang="es-CL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290365-F433-8873-E242-1652084944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/>
              <a:t>Materia prima: insumos directos para producción.</a:t>
            </a:r>
          </a:p>
          <a:p>
            <a:r>
              <a:rPr lang="es-ES" dirty="0"/>
              <a:t>Mano de obra directa: operarios, supervisores, turnos.</a:t>
            </a:r>
          </a:p>
          <a:p>
            <a:r>
              <a:rPr lang="es-ES" dirty="0"/>
              <a:t>Energía y servicios básicos: electricidad, agua, gas.</a:t>
            </a:r>
          </a:p>
          <a:p>
            <a:r>
              <a:rPr lang="es-ES" dirty="0"/>
              <a:t>Mantenimiento de maquinaria: repuestos, lubricantes, servicios técnicos.</a:t>
            </a:r>
          </a:p>
          <a:p>
            <a:r>
              <a:rPr lang="es-ES" dirty="0"/>
              <a:t>Logística: transporte, almacenamiento, distribución.</a:t>
            </a:r>
          </a:p>
          <a:p>
            <a:r>
              <a:rPr lang="es-ES" dirty="0"/>
              <a:t>Gastos administrativos: contabilidad, RRHH, licencias.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8177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A96B1-54A8-CF58-4248-12CF9666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Función</a:t>
            </a:r>
            <a:br>
              <a:rPr lang="es-CL" dirty="0"/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3F0513-D839-AA31-E2BC-FC438DBAD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341329"/>
            <a:ext cx="9381067" cy="3835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dirty="0"/>
              <a:t>• 	Determinar el costo unitario de producción.</a:t>
            </a:r>
          </a:p>
          <a:p>
            <a:pPr marL="0" indent="0">
              <a:buNone/>
            </a:pPr>
            <a:r>
              <a:rPr lang="es-ES" sz="2800" dirty="0"/>
              <a:t>• 	Estimar el margen operativo.</a:t>
            </a:r>
          </a:p>
          <a:p>
            <a:pPr marL="0" indent="0">
              <a:buNone/>
            </a:pPr>
            <a:r>
              <a:rPr lang="es-ES" sz="2800" dirty="0"/>
              <a:t>• 	Identificar cuellos de botella o sobrecostos.</a:t>
            </a:r>
          </a:p>
          <a:p>
            <a:pPr marL="0" indent="0">
              <a:buNone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635335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ADA9C-B7CF-093B-A92A-3006FCD3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2) Presupuesto Financiero en una Pequeña Industria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8EEB22-1E67-129F-ECB3-0E7C32134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10451534" cy="38356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dirty="0"/>
              <a:t>Este presupuesto proyecta la salud económica y capacidad de inversión de la empresa. Va más allá del día a día y se enfoca en decisiones estratégicas.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54119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1C35E-4DD2-62EA-CBA1-81C79EC59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Componentes clave</a:t>
            </a:r>
            <a:br>
              <a:rPr lang="es-CL" dirty="0"/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FC8CFA-6517-D8BA-28A1-78F6098A72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es-ES" sz="2400" dirty="0"/>
              <a:t>Estado de resultados proyectado:</a:t>
            </a:r>
          </a:p>
          <a:p>
            <a:pPr marL="0" indent="0">
              <a:buNone/>
            </a:pPr>
            <a:endParaRPr lang="es-ES" sz="2400" dirty="0"/>
          </a:p>
          <a:p>
            <a:r>
              <a:rPr lang="es-ES" sz="2400" dirty="0"/>
              <a:t>Ingresos totales vs. costos totales.</a:t>
            </a:r>
          </a:p>
          <a:p>
            <a:r>
              <a:rPr lang="es-ES" sz="2400" dirty="0"/>
              <a:t>Utilidad neta esperada.</a:t>
            </a:r>
            <a:endParaRPr lang="es-CL" sz="24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E66334-AF45-A65C-1269-FA7968749B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2400" dirty="0"/>
              <a:t>b) Flujo de caja:</a:t>
            </a:r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r>
              <a:rPr lang="es-CL" sz="2400" dirty="0"/>
              <a:t>• Entradas: ventas cobradas, financiamiento, subsidios.</a:t>
            </a:r>
          </a:p>
          <a:p>
            <a:pPr marL="0" indent="0">
              <a:buNone/>
            </a:pPr>
            <a:r>
              <a:rPr lang="es-CL" sz="2400" dirty="0"/>
              <a:t>• Salidas: pagos a proveedores, sueldos, cuotas de crédito.</a:t>
            </a:r>
          </a:p>
        </p:txBody>
      </p:sp>
    </p:spTree>
    <p:extLst>
      <p:ext uri="{BB962C8B-B14F-4D97-AF65-F5344CB8AC3E}">
        <p14:creationId xmlns:p14="http://schemas.microsoft.com/office/powerpoint/2010/main" val="3178153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598DFA-1520-676D-56E9-F779FB8717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c) Planes de inversión: </a:t>
            </a:r>
          </a:p>
          <a:p>
            <a:pPr marL="0" indent="0">
              <a:buNone/>
            </a:pPr>
            <a:endParaRPr lang="es-ES" sz="2400" dirty="0"/>
          </a:p>
          <a:p>
            <a:r>
              <a:rPr lang="es-ES" sz="2400" dirty="0"/>
              <a:t>Compra de maquinaria nueva.</a:t>
            </a:r>
          </a:p>
          <a:p>
            <a:r>
              <a:rPr lang="es-ES" sz="2400" dirty="0"/>
              <a:t>Automatización de procesos.</a:t>
            </a:r>
          </a:p>
          <a:p>
            <a:r>
              <a:rPr lang="es-ES" sz="2400" dirty="0"/>
              <a:t>Expansión de planta o apertura de nuevos canales de venta.</a:t>
            </a:r>
            <a:endParaRPr lang="es-CL" sz="24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9D7164-A730-2ED7-2840-0F84A5D376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2400" dirty="0"/>
              <a:t>d) Fuentes de financiamiento:</a:t>
            </a:r>
          </a:p>
          <a:p>
            <a:pPr marL="0" indent="0">
              <a:buNone/>
            </a:pPr>
            <a:endParaRPr lang="es-CL" sz="2400" dirty="0"/>
          </a:p>
          <a:p>
            <a:r>
              <a:rPr lang="es-CL" sz="2400" dirty="0"/>
              <a:t>Créditos bancarios.</a:t>
            </a:r>
          </a:p>
          <a:p>
            <a:r>
              <a:rPr lang="es-CL" sz="2400" dirty="0"/>
              <a:t>Leasing de equipos.</a:t>
            </a:r>
          </a:p>
          <a:p>
            <a:r>
              <a:rPr lang="es-CL" sz="2400" dirty="0"/>
              <a:t>Fondos públicos (CORFO, SERCOTEC).</a:t>
            </a:r>
          </a:p>
        </p:txBody>
      </p:sp>
    </p:spTree>
    <p:extLst>
      <p:ext uri="{BB962C8B-B14F-4D97-AF65-F5344CB8AC3E}">
        <p14:creationId xmlns:p14="http://schemas.microsoft.com/office/powerpoint/2010/main" val="3534493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8F22A-F8EA-0091-A58A-90B0D571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Función</a:t>
            </a:r>
            <a:br>
              <a:rPr lang="es-CL" dirty="0"/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E74A6-0BD7-BFE6-D64C-C9EB9BDD4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2341329"/>
            <a:ext cx="9533467" cy="3835633"/>
          </a:xfrm>
        </p:spPr>
        <p:txBody>
          <a:bodyPr>
            <a:normAutofit/>
          </a:bodyPr>
          <a:lstStyle/>
          <a:p>
            <a:r>
              <a:rPr lang="es-ES" sz="2400" dirty="0"/>
              <a:t>Evaluar la viabilidad de crecimiento.</a:t>
            </a:r>
          </a:p>
          <a:p>
            <a:r>
              <a:rPr lang="es-ES" sz="2400" dirty="0"/>
              <a:t>Determinar la capacidad de endeudamiento.</a:t>
            </a:r>
          </a:p>
          <a:p>
            <a:r>
              <a:rPr lang="es-ES" sz="2400" dirty="0"/>
              <a:t>Medir el retorno sobre la inversión (ROI).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682939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E7DFB0F-FA82-643F-66EE-7F49206AD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38" t="21763" r="18708" b="29349"/>
          <a:stretch>
            <a:fillRect/>
          </a:stretch>
        </p:blipFill>
        <p:spPr>
          <a:xfrm>
            <a:off x="756745" y="838713"/>
            <a:ext cx="9122979" cy="53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C75A4C4-E2CD-A6B3-F38C-008804D16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081382"/>
              </p:ext>
            </p:extLst>
          </p:nvPr>
        </p:nvGraphicFramePr>
        <p:xfrm>
          <a:off x="457199" y="2091556"/>
          <a:ext cx="7972098" cy="39413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7366">
                  <a:extLst>
                    <a:ext uri="{9D8B030D-6E8A-4147-A177-3AD203B41FA5}">
                      <a16:colId xmlns:a16="http://schemas.microsoft.com/office/drawing/2014/main" val="3925304106"/>
                    </a:ext>
                  </a:extLst>
                </a:gridCol>
                <a:gridCol w="2657366">
                  <a:extLst>
                    <a:ext uri="{9D8B030D-6E8A-4147-A177-3AD203B41FA5}">
                      <a16:colId xmlns:a16="http://schemas.microsoft.com/office/drawing/2014/main" val="3559411935"/>
                    </a:ext>
                  </a:extLst>
                </a:gridCol>
                <a:gridCol w="2657366">
                  <a:extLst>
                    <a:ext uri="{9D8B030D-6E8A-4147-A177-3AD203B41FA5}">
                      <a16:colId xmlns:a16="http://schemas.microsoft.com/office/drawing/2014/main" val="2081044133"/>
                    </a:ext>
                  </a:extLst>
                </a:gridCol>
              </a:tblGrid>
              <a:tr h="3050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Categoría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Detalle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Monto Estimado (CLP)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55807580"/>
                  </a:ext>
                </a:extLst>
              </a:tr>
              <a:tr h="30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Ingresos por ventas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Producción mensual × precio unitario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$120.000.000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8192648"/>
                  </a:ext>
                </a:extLst>
              </a:tr>
              <a:tr h="30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Materia prima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Insumos directos para producción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$35.000.000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5225721"/>
                  </a:ext>
                </a:extLst>
              </a:tr>
              <a:tr h="30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Mano de obra directa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Sueldos operarios y supervisores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$25.000.000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2589467"/>
                  </a:ext>
                </a:extLst>
              </a:tr>
              <a:tr h="30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Energía y servicios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Electricidad, agua, gas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$8.000.000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3576861"/>
                  </a:ext>
                </a:extLst>
              </a:tr>
              <a:tr h="5980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Mantenimiento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Repuestos, lubricantes, servicios técnicos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$5.000.000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9796087"/>
                  </a:ext>
                </a:extLst>
              </a:tr>
              <a:tr h="5980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Logística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Transporte, distribución, almacenamiento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$6.000.000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1876683"/>
                  </a:ext>
                </a:extLst>
              </a:tr>
              <a:tr h="30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Gastos administrativos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Contabilidad, RRHH, licencias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 dirty="0">
                          <a:effectLst/>
                        </a:rPr>
                        <a:t>$4.000.000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3802807"/>
                  </a:ext>
                </a:extLst>
              </a:tr>
              <a:tr h="30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Otros gastos operativos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Seguridad, limpieza, papelería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$2.000.000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8121507"/>
                  </a:ext>
                </a:extLst>
              </a:tr>
              <a:tr h="3051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Total gastos operativos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s-CL" sz="12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$85.000.000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2605175"/>
                  </a:ext>
                </a:extLst>
              </a:tr>
              <a:tr h="30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Margen operativo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Ingresos – gastos operativos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 dirty="0">
                          <a:effectLst/>
                        </a:rPr>
                        <a:t>$35.000.000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220899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9F8172A-8CE4-5BC8-016F-CF92456EF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56152"/>
            <a:ext cx="12380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L" altLang="es-CL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Ejemplo de </a:t>
            </a:r>
            <a:r>
              <a:rPr kumimoji="0" lang="es-CL" altLang="es-C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Presupuesto Operativo</a:t>
            </a:r>
            <a:endParaRPr kumimoji="0" lang="es-CL" altLang="es-C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056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F9D7545-3E6C-B4E1-82D7-CAFF35160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66183"/>
              </p:ext>
            </p:extLst>
          </p:nvPr>
        </p:nvGraphicFramePr>
        <p:xfrm>
          <a:off x="457199" y="2039007"/>
          <a:ext cx="8539656" cy="41515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6552">
                  <a:extLst>
                    <a:ext uri="{9D8B030D-6E8A-4147-A177-3AD203B41FA5}">
                      <a16:colId xmlns:a16="http://schemas.microsoft.com/office/drawing/2014/main" val="2727262094"/>
                    </a:ext>
                  </a:extLst>
                </a:gridCol>
                <a:gridCol w="2846552">
                  <a:extLst>
                    <a:ext uri="{9D8B030D-6E8A-4147-A177-3AD203B41FA5}">
                      <a16:colId xmlns:a16="http://schemas.microsoft.com/office/drawing/2014/main" val="1637757404"/>
                    </a:ext>
                  </a:extLst>
                </a:gridCol>
                <a:gridCol w="2846552">
                  <a:extLst>
                    <a:ext uri="{9D8B030D-6E8A-4147-A177-3AD203B41FA5}">
                      <a16:colId xmlns:a16="http://schemas.microsoft.com/office/drawing/2014/main" val="1759032815"/>
                    </a:ext>
                  </a:extLst>
                </a:gridCol>
              </a:tblGrid>
              <a:tr h="3814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Categoría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Detalle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Monto Estimado (CLP)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0052922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Inversión en maquinaria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Nueva línea de envasado automático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$300.000.000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7470607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Financiamiento externo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 dirty="0">
                          <a:effectLst/>
                        </a:rPr>
                        <a:t>Crédito bancario a 36 meses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$200.000.000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6281771"/>
                  </a:ext>
                </a:extLst>
              </a:tr>
              <a:tr h="748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Subsidios públicos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Fondo CORFO para innovación productiva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$50.000.000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7877362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Flujo de caja proyectado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Ventas – pagos – cuotas – reinversión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$40.000.000 mensuales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29360202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ROI esperado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Ahorro + nuevos ingresos / inversión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35% anual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4251161"/>
                  </a:ext>
                </a:extLst>
              </a:tr>
              <a:tr h="748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Punto de equilibrio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Ventas mínimas para cubrir costos totales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$90.000.000 mensuales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9002505"/>
                  </a:ext>
                </a:extLst>
              </a:tr>
              <a:tr h="748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Riesgos financieros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>
                          <a:effectLst/>
                        </a:rPr>
                        <a:t>Variación de demanda, tasa de interés, fallas</a:t>
                      </a:r>
                      <a:endParaRPr lang="es-CL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0" dirty="0">
                          <a:effectLst/>
                        </a:rPr>
                        <a:t>Mitigación activa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28049721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C4601B7-FEB8-824D-0CB6-9C334805D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94" y="1013521"/>
            <a:ext cx="347640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L" altLang="es-CL" sz="1600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Ejemplo de</a:t>
            </a:r>
            <a:r>
              <a:rPr kumimoji="0" lang="es-CL" altLang="es-C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Presupuesto Financiero</a:t>
            </a:r>
            <a:endParaRPr kumimoji="0" lang="es-CL" altLang="es-C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686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321741-EACF-CD77-D3F8-8F675183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29" y="583660"/>
            <a:ext cx="9854119" cy="729574"/>
          </a:xfrm>
        </p:spPr>
        <p:txBody>
          <a:bodyPr>
            <a:normAutofit fontScale="90000"/>
          </a:bodyPr>
          <a:lstStyle/>
          <a:p>
            <a:r>
              <a:rPr lang="es-CL" dirty="0"/>
              <a:t>Lo necesario para hacer un presupuesto es: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E8054C-0EBD-6830-BE05-358AC82E7FC1}"/>
              </a:ext>
            </a:extLst>
          </p:cNvPr>
          <p:cNvSpPr txBox="1"/>
          <p:nvPr/>
        </p:nvSpPr>
        <p:spPr>
          <a:xfrm>
            <a:off x="449903" y="1914436"/>
            <a:ext cx="92972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s-ES" sz="2400" dirty="0"/>
              <a:t>Proyectar o estimar las ventas en unidades.</a:t>
            </a:r>
          </a:p>
          <a:p>
            <a:pPr marL="457200" indent="-457200">
              <a:buAutoNum type="arabicPeriod"/>
            </a:pPr>
            <a:r>
              <a:rPr lang="es-ES" sz="2400" dirty="0"/>
              <a:t>Proyectar la cantidad de unidades que se deben producir.</a:t>
            </a:r>
          </a:p>
          <a:p>
            <a:pPr marL="457200" indent="-457200">
              <a:buAutoNum type="arabicPeriod"/>
            </a:pPr>
            <a:r>
              <a:rPr lang="es-ES" sz="2400" dirty="0"/>
              <a:t>Determinar el costo de producción: Materias primas (M.P.); Mano de obra directa (M.O.); Costos indirectos de fabricación (CIF)</a:t>
            </a:r>
          </a:p>
          <a:p>
            <a:pPr marL="457200" indent="-457200">
              <a:buAutoNum type="arabicPeriod"/>
            </a:pPr>
            <a:r>
              <a:rPr lang="es-ES" sz="2400" dirty="0"/>
              <a:t>Considerar los gastos fijos o de administración y ventas: Sueldos fijos, comisiones, arriendo, cuentas básicas (energía, internet, agua, telefonía, etc.)</a:t>
            </a:r>
          </a:p>
          <a:p>
            <a:pPr marL="457200" indent="-457200">
              <a:buAutoNum type="arabicPeriod"/>
            </a:pPr>
            <a:r>
              <a:rPr lang="es-ES" sz="2400" dirty="0"/>
              <a:t>Determinar el precio al que se venderá.</a:t>
            </a:r>
          </a:p>
          <a:p>
            <a:pPr marL="457200" indent="-457200">
              <a:buAutoNum type="arabicPeriod"/>
            </a:pPr>
            <a:r>
              <a:rPr lang="es-ES" sz="2400" dirty="0"/>
              <a:t>Con todo esto se puede construir Estado de Resultado proyectado; determinar el punto de equilibrio; evaluar distintos escenarios.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4231096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420E57C-9601-1C9A-1974-BC37726937EC}"/>
              </a:ext>
            </a:extLst>
          </p:cNvPr>
          <p:cNvSpPr txBox="1"/>
          <p:nvPr/>
        </p:nvSpPr>
        <p:spPr>
          <a:xfrm>
            <a:off x="338050" y="202990"/>
            <a:ext cx="7698509" cy="3521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15000"/>
              </a:lnSpc>
              <a:spcAft>
                <a:spcPts val="800"/>
              </a:spcAft>
              <a:buAutoNum type="romanUcPeriod"/>
            </a:pPr>
            <a:r>
              <a:rPr lang="es-CL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Ejercicio en clases de presupuesto operativo: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CL" sz="2400" b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PANADERIA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Presupuesto de Ventas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Este es el punto de partida y se basa en las ventas proyectadas.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Ventas Proyectadas (en unidades):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Enero: 5,000 unidades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Febrero: 4,500 unidades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Marzo: 6,000 unidades</a:t>
            </a:r>
            <a:b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86AC18-2311-6587-55C3-626992F6C2C8}"/>
              </a:ext>
            </a:extLst>
          </p:cNvPr>
          <p:cNvSpPr txBox="1"/>
          <p:nvPr/>
        </p:nvSpPr>
        <p:spPr>
          <a:xfrm>
            <a:off x="547716" y="3238730"/>
            <a:ext cx="8139083" cy="391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Presupuesto de Producción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estima cuántas unidades se necesitan producir para cubrir las ventas proyectadas y mantener un inventario final deseado. En este ejemplo, supongamos que no hay inventario inicial ni final de productos terminados, lo que simplifica la producción a ser igual a las ventas.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Unidades a Producir: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Enero: 5,000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Febrero: 4,500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Marzo: 6,000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de Unidades a Producir:</a:t>
            </a: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5,000 + 4,500 + 6,000 = </a:t>
            </a: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15,500 unidades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575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3C45633-52A7-EDF9-26BF-25D831D00AA7}"/>
              </a:ext>
            </a:extLst>
          </p:cNvPr>
          <p:cNvSpPr txBox="1"/>
          <p:nvPr/>
        </p:nvSpPr>
        <p:spPr>
          <a:xfrm>
            <a:off x="413558" y="349067"/>
            <a:ext cx="6097384" cy="506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Presupuesto de Costo de Producción (o Costo de Mercancías Vendidas)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Aquí se calculan los costos directos de la producción.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Costo de Materia Prima por Unidad: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Harina, azúcar, huevos, etc.: $0.80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Costo de Mano de Obra Directa por Unidad: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Salarios de panaderos: $0.60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Costo Indirecto de Fabricación (CIF) por Unidad: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Electricidad del horno, gas, etc.: $0.40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Costo de Producción por Unidad:</a:t>
            </a: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$0.80 + $0.60 + $0.40 = </a:t>
            </a: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$1.80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Costo Total de Producción Trimestral:</a:t>
            </a:r>
            <a: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15,500 unidades x $1.80 = </a:t>
            </a:r>
            <a:r>
              <a:rPr lang="es-CL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$27,900</a:t>
            </a: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s-CL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CL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901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9D6EB5-CAF3-F7B7-EDB8-6338E05D0A68}"/>
              </a:ext>
            </a:extLst>
          </p:cNvPr>
          <p:cNvSpPr txBox="1"/>
          <p:nvPr/>
        </p:nvSpPr>
        <p:spPr>
          <a:xfrm>
            <a:off x="430184" y="435002"/>
            <a:ext cx="7751290" cy="6085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Presupuesto de Gastos de Venta y Administración (Gastos Operativos)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Estos son los costos indirectos necesarios para operar el negocio.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Gastos de Venta: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Publicidad (anuncios en redes sociales): $500 mensuales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Comisiones de vendedores (si aplica): $0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de Gastos de Venta Trimestrales: $500 x 3 = </a:t>
            </a:r>
            <a:r>
              <a:rPr lang="es-CL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$1,500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Gastos de Administración: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Sueldo del gerente: $1,500 mensuales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Arriendo del local: $1,000 mensuales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Servicios (agua, internet): $200 mensuales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Depreciación de equipos: $100 mensuales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de Gastos de Administración Trimestrales: ($1,500 + $1,000 + $200 + $100) x 3 = $2,800 x 3 = </a:t>
            </a:r>
            <a:r>
              <a:rPr lang="es-CL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$8,400</a:t>
            </a: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121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9745D5C-E32D-5EE6-B847-2B7ED534637A}"/>
              </a:ext>
            </a:extLst>
          </p:cNvPr>
          <p:cNvSpPr txBox="1"/>
          <p:nvPr/>
        </p:nvSpPr>
        <p:spPr>
          <a:xfrm>
            <a:off x="746067" y="476565"/>
            <a:ext cx="7403321" cy="4935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CL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Desarrollar: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AutoNum type="arabicPeriod"/>
            </a:pPr>
            <a:r>
              <a:rPr lang="es-CL" b="1" kern="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¿A qué precio se debe vender el producto para obtener una utilidad operativa de $950?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AutoNum type="arabicPeriod"/>
            </a:pPr>
            <a:r>
              <a:rPr lang="es-CL" b="1" kern="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¿Qué pasa si el precio se debe ajustar a la baja en un 10%?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AutoNum type="arabicPeriod"/>
            </a:pPr>
            <a:r>
              <a:rPr lang="es-CL" b="1" kern="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¿Qué pasa si la materia prima sube un 10%? 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AutoNum type="arabicPeriod"/>
            </a:pPr>
            <a:r>
              <a:rPr lang="es-CL" b="1" kern="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¿Qué sucede si se compra una nueva máquina que optimiza el proceso disminuyendo el costo de mano de obra directa a $0,45 y la depreciación aumenta a $180, manteniendo el precio del punto 1?; en cuanto queda la utilidad operacional? 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AutoNum type="arabicPeriod"/>
            </a:pPr>
            <a:r>
              <a:rPr lang="es-CL" b="1" kern="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¿Cuál es el punto de equilibrio inicial y el final?</a:t>
            </a:r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AutoNum type="arabicPeriod"/>
            </a:pP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s-CL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CL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358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227D3E0-DC89-9908-EE99-4D48B694D128}"/>
              </a:ext>
            </a:extLst>
          </p:cNvPr>
          <p:cNvSpPr txBox="1"/>
          <p:nvPr/>
        </p:nvSpPr>
        <p:spPr>
          <a:xfrm>
            <a:off x="568960" y="386140"/>
            <a:ext cx="60960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II. Presupuesto Operativo de un: </a:t>
            </a:r>
          </a:p>
          <a:p>
            <a:pPr>
              <a:buNone/>
            </a:pPr>
            <a:endParaRPr lang="es-CL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s-CL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Informático</a:t>
            </a:r>
          </a:p>
          <a:p>
            <a:pPr>
              <a:buNone/>
            </a:pPr>
            <a:endParaRPr lang="es-CL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s-CL" b="1" dirty="0">
                <a:effectLst/>
              </a:rPr>
              <a:t>1. Presupuesto de Servicios (equivalente al presupuesto de ventas)</a:t>
            </a:r>
            <a:r>
              <a:rPr lang="es-CL" b="1" dirty="0"/>
              <a:t>. </a:t>
            </a:r>
            <a:r>
              <a:rPr lang="es-CL" dirty="0">
                <a:effectLst/>
              </a:rPr>
              <a:t>Este es el punto de partida y se basa en los servicios proyectados que la empresa de software ofrecerá.</a:t>
            </a:r>
            <a:endParaRPr lang="es-CL" dirty="0"/>
          </a:p>
          <a:p>
            <a:pPr>
              <a:buNone/>
            </a:pPr>
            <a:endParaRPr lang="es-CL" b="1" dirty="0">
              <a:effectLst/>
            </a:endParaRPr>
          </a:p>
          <a:p>
            <a:pPr>
              <a:buNone/>
            </a:pPr>
            <a:r>
              <a:rPr lang="es-CL" b="1" dirty="0">
                <a:effectLst/>
              </a:rPr>
              <a:t>Servicios proyectados (en número de proyectos entregados):</a:t>
            </a:r>
          </a:p>
          <a:p>
            <a:pPr>
              <a:buNone/>
            </a:pP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 proyectos de desarrollo web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 proyectos de aplicaciones móviles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Marzo: 6 proyectos de sistemas de gestión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39617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BAC950F-3837-1532-76CF-1E126FAA5BE8}"/>
              </a:ext>
            </a:extLst>
          </p:cNvPr>
          <p:cNvSpPr txBox="1"/>
          <p:nvPr/>
        </p:nvSpPr>
        <p:spPr>
          <a:xfrm>
            <a:off x="518160" y="459939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2. Presupuesto de Producción (equivalente a unidades a producir).</a:t>
            </a:r>
          </a:p>
          <a:p>
            <a:pPr>
              <a:buNone/>
            </a:pPr>
            <a:endParaRPr lang="es-CL" b="1" dirty="0"/>
          </a:p>
          <a:p>
            <a:pPr>
              <a:buNone/>
            </a:pPr>
            <a:r>
              <a:rPr lang="es-CL" dirty="0">
                <a:effectLst/>
              </a:rPr>
              <a:t>Se estima cuántos proyectos deben desarrollarse para cubrir la demanda proyectada. En este ejemplo, no se considera backlog ni inventario de proyectos, por lo que la producción es igual a la demanda.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Proyectos a desarrollar: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Marzo: 6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CL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Total de proyectos a producir:</a:t>
            </a:r>
            <a:r>
              <a:rPr lang="es-CL" dirty="0">
                <a:effectLst/>
              </a:rPr>
              <a:t> 15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44776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C324865-093D-45A8-8558-6847A4CD65CA}"/>
              </a:ext>
            </a:extLst>
          </p:cNvPr>
          <p:cNvSpPr txBox="1"/>
          <p:nvPr/>
        </p:nvSpPr>
        <p:spPr>
          <a:xfrm>
            <a:off x="548640" y="735320"/>
            <a:ext cx="78536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3. Presupuesto de Costo de Producción (equivalente al costo de mercancías vendidas).</a:t>
            </a:r>
          </a:p>
          <a:p>
            <a:pPr>
              <a:buNone/>
            </a:pPr>
            <a:endParaRPr lang="es-CL" b="1" dirty="0"/>
          </a:p>
          <a:p>
            <a:pPr>
              <a:buNone/>
            </a:pPr>
            <a:r>
              <a:rPr lang="es-CL" dirty="0">
                <a:effectLst/>
              </a:rPr>
              <a:t>Aquí se calculan los costos directos de cada proyecto.</a:t>
            </a:r>
          </a:p>
          <a:p>
            <a:pPr>
              <a:buNone/>
            </a:pP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Licencias y Herramientas por Proyecto:</a:t>
            </a:r>
            <a:r>
              <a:rPr lang="es-CL" dirty="0">
                <a:effectLst/>
              </a:rPr>
              <a:t> $800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Mano de Obra Directa (programadores, </a:t>
            </a:r>
            <a:r>
              <a:rPr lang="es-CL" b="1" dirty="0" err="1">
                <a:effectLst/>
              </a:rPr>
              <a:t>testers</a:t>
            </a:r>
            <a:r>
              <a:rPr lang="es-CL" b="1" dirty="0">
                <a:effectLst/>
              </a:rPr>
              <a:t>):</a:t>
            </a:r>
            <a:r>
              <a:rPr lang="es-CL" dirty="0">
                <a:effectLst/>
              </a:rPr>
              <a:t> $600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Indirecto de Infraestructura (servidores, electricidad, internet):</a:t>
            </a:r>
            <a:r>
              <a:rPr lang="es-CL" dirty="0">
                <a:effectLst/>
              </a:rPr>
              <a:t> $400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Costo de producción por proyecto:</a:t>
            </a:r>
            <a:r>
              <a:rPr lang="es-CL" dirty="0">
                <a:effectLst/>
              </a:rPr>
              <a:t> $800 + $600 + $400 = </a:t>
            </a:r>
            <a:r>
              <a:rPr lang="es-CL" b="1" dirty="0">
                <a:effectLst/>
              </a:rPr>
              <a:t>$1.800</a:t>
            </a:r>
            <a:r>
              <a:rPr lang="es-CL" dirty="0">
                <a:effectLst/>
              </a:rPr>
              <a:t> </a:t>
            </a:r>
            <a:r>
              <a:rPr lang="es-CL" b="1" dirty="0">
                <a:effectLst/>
              </a:rPr>
              <a:t>Costo total de producción trimestral:</a:t>
            </a:r>
            <a:r>
              <a:rPr lang="es-CL" dirty="0">
                <a:effectLst/>
              </a:rPr>
              <a:t> 15 proyectos × $1.800 = </a:t>
            </a:r>
            <a:r>
              <a:rPr lang="es-CL" b="1" dirty="0">
                <a:effectLst/>
              </a:rPr>
              <a:t>$27.000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3897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828E526-BD5D-DFD6-F047-0F36A9ED1577}"/>
              </a:ext>
            </a:extLst>
          </p:cNvPr>
          <p:cNvSpPr txBox="1"/>
          <p:nvPr/>
        </p:nvSpPr>
        <p:spPr>
          <a:xfrm>
            <a:off x="497840" y="762060"/>
            <a:ext cx="7416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4. Presupuesto de Gastos de Venta y Administración (Gastos Operativos).</a:t>
            </a:r>
          </a:p>
          <a:p>
            <a:pPr>
              <a:buNone/>
            </a:pPr>
            <a:endParaRPr lang="es-CL" b="1" dirty="0"/>
          </a:p>
          <a:p>
            <a:pPr>
              <a:buNone/>
            </a:pPr>
            <a:r>
              <a:rPr lang="es-CL" dirty="0">
                <a:effectLst/>
              </a:rPr>
              <a:t>Son los costos indirectos necesarios para operar la empresa de software.</a:t>
            </a:r>
          </a:p>
          <a:p>
            <a:pPr>
              <a:buNone/>
            </a:pP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Marketing:</a:t>
            </a:r>
            <a:r>
              <a:rPr lang="es-CL" dirty="0">
                <a:effectLst/>
              </a:rPr>
              <a:t> Publicidad digital (Google </a:t>
            </a:r>
            <a:r>
              <a:rPr lang="es-CL" dirty="0" err="1">
                <a:effectLst/>
              </a:rPr>
              <a:t>Ads</a:t>
            </a:r>
            <a:r>
              <a:rPr lang="es-CL" dirty="0">
                <a:effectLst/>
              </a:rPr>
              <a:t>, RRSS): $500 mensuales → $1.500 trimestral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Administración: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Sueldo del gerente: $1.500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Arriendo oficina: $1.000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Servicios (internet, agua, luz): $200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Depreciación de equipos: $100 mensuales → Total mensual: $2.800 → Trimestral: $8.400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96262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72D344C-9116-1449-D767-C67E79B33096}"/>
              </a:ext>
            </a:extLst>
          </p:cNvPr>
          <p:cNvSpPr txBox="1"/>
          <p:nvPr/>
        </p:nvSpPr>
        <p:spPr>
          <a:xfrm>
            <a:off x="843280" y="914460"/>
            <a:ext cx="7213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Preguntas para desarrollar:</a:t>
            </a:r>
          </a:p>
          <a:p>
            <a:pPr>
              <a:buNone/>
            </a:pPr>
            <a:endParaRPr lang="es-CL" b="1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¿A qué precio se debe vender cada proyecto para obtener una </a:t>
            </a:r>
            <a:r>
              <a:rPr lang="es-CL" b="1" dirty="0">
                <a:effectLst/>
              </a:rPr>
              <a:t>utilidad operativa de $950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ocurre si el </a:t>
            </a:r>
            <a:r>
              <a:rPr lang="es-CL" b="1" dirty="0">
                <a:effectLst/>
              </a:rPr>
              <a:t>precio se ajusta a la baja en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pasa si el </a:t>
            </a:r>
            <a:r>
              <a:rPr lang="es-CL" b="1" dirty="0">
                <a:effectLst/>
              </a:rPr>
              <a:t>costo de licencias y herramientas sube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sucede si se compra una </a:t>
            </a:r>
            <a:r>
              <a:rPr lang="es-CL" b="1" dirty="0">
                <a:effectLst/>
              </a:rPr>
              <a:t>nueva herramienta de automatización</a:t>
            </a:r>
            <a:r>
              <a:rPr lang="es-CL" dirty="0">
                <a:effectLst/>
              </a:rPr>
              <a:t> que reduce el costo de mano de obra directa a $450, pero la depreciación aumenta a $180, manteniendo el precio inicial?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¿En cuánto queda la utilidad operacional?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¿Cómo se mueve el </a:t>
            </a:r>
            <a:r>
              <a:rPr lang="es-CL" b="1" dirty="0">
                <a:effectLst/>
              </a:rPr>
              <a:t>punto de equilibrio</a:t>
            </a:r>
            <a:r>
              <a:rPr lang="es-CL" dirty="0">
                <a:effectLst/>
              </a:rPr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7213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082190B-3B0F-18C9-FB99-08E10A559A3A}"/>
              </a:ext>
            </a:extLst>
          </p:cNvPr>
          <p:cNvSpPr txBox="1"/>
          <p:nvPr/>
        </p:nvSpPr>
        <p:spPr>
          <a:xfrm>
            <a:off x="701040" y="1018739"/>
            <a:ext cx="6096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III. Ejercicio en clases – Presupuesto Operativo de una </a:t>
            </a:r>
            <a:r>
              <a:rPr lang="es-CL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Obra de Construcción</a:t>
            </a:r>
          </a:p>
          <a:p>
            <a:pPr>
              <a:buNone/>
            </a:pPr>
            <a:endParaRPr lang="es-CL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r>
              <a:rPr lang="es-CL" b="1" dirty="0">
                <a:effectLst/>
              </a:rPr>
              <a:t>Presupuesto de Obras (equivalente al presupuesto de ventas).</a:t>
            </a:r>
          </a:p>
          <a:p>
            <a:endParaRPr lang="es-CL" b="1" dirty="0"/>
          </a:p>
          <a:p>
            <a:r>
              <a:rPr lang="es-CL" dirty="0">
                <a:effectLst/>
              </a:rPr>
              <a:t> Este es el punto de partida y se basa en las obras proyectadas que la empresa constructora realizará.</a:t>
            </a:r>
          </a:p>
          <a:p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Proyectos de remodelación proyectados (en metros cuadrados construidos):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500 m²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450 m²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/>
              <a:t>Marzo: 600 m²</a:t>
            </a:r>
          </a:p>
        </p:txBody>
      </p:sp>
    </p:spTree>
    <p:extLst>
      <p:ext uri="{BB962C8B-B14F-4D97-AF65-F5344CB8AC3E}">
        <p14:creationId xmlns:p14="http://schemas.microsoft.com/office/powerpoint/2010/main" val="1052925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F3E4D79-ECD0-B467-CE18-F254D7FAB745}"/>
              </a:ext>
            </a:extLst>
          </p:cNvPr>
          <p:cNvSpPr txBox="1"/>
          <p:nvPr/>
        </p:nvSpPr>
        <p:spPr>
          <a:xfrm>
            <a:off x="294640" y="185619"/>
            <a:ext cx="79349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2. Presupuesto de Ejecución (equivalente a unidades a producir)</a:t>
            </a:r>
            <a:r>
              <a:rPr lang="es-CL" dirty="0">
                <a:effectLst/>
              </a:rPr>
              <a:t> 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dirty="0">
                <a:effectLst/>
              </a:rPr>
              <a:t>Se estima cuántos metros cuadrados deben ejecutarse para cubrir la demanda proyectada. En este ejemplo, no se considera inventario de materiales sobrantes, por lo que la ejecución es igual a la demanda.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Metros cuadrados a construir: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450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Marzo: 600 </a:t>
            </a:r>
            <a:r>
              <a:rPr lang="es-CL" b="1" dirty="0">
                <a:effectLst/>
              </a:rPr>
              <a:t>Total:</a:t>
            </a:r>
            <a:r>
              <a:rPr lang="es-CL" dirty="0">
                <a:effectLst/>
              </a:rPr>
              <a:t> 1.550 m²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947472-2152-3979-33B0-A41BE88A330C}"/>
              </a:ext>
            </a:extLst>
          </p:cNvPr>
          <p:cNvSpPr txBox="1"/>
          <p:nvPr/>
        </p:nvSpPr>
        <p:spPr>
          <a:xfrm>
            <a:off x="294640" y="3533060"/>
            <a:ext cx="8229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3. Presupuesto de Costo de Construcción (equivalente al costo de producción).</a:t>
            </a:r>
            <a:r>
              <a:rPr lang="es-CL" dirty="0">
                <a:effectLst/>
              </a:rPr>
              <a:t> Aquí se calculan los costos directos de cada metro cuadrado construido.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Materiales por m² (cemento, acero, cerámicos, pintura):</a:t>
            </a:r>
            <a:r>
              <a:rPr lang="es-CL" dirty="0">
                <a:effectLst/>
              </a:rPr>
              <a:t> $80.000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Mano de Obra Directa por m² (maestros y ayudantes):</a:t>
            </a:r>
            <a:r>
              <a:rPr lang="es-CL" dirty="0">
                <a:effectLst/>
              </a:rPr>
              <a:t> $60.000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Indirecto de Obra por m² (electricidad, agua, herramientas, seguridad):</a:t>
            </a:r>
            <a:r>
              <a:rPr lang="es-CL" dirty="0">
                <a:effectLst/>
              </a:rPr>
              <a:t> $40.000</a:t>
            </a: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Costo de construcción por m²:</a:t>
            </a:r>
            <a:r>
              <a:rPr lang="es-CL" dirty="0">
                <a:effectLst/>
              </a:rPr>
              <a:t> $80.000 + $60.000 + $40.000 = </a:t>
            </a:r>
            <a:r>
              <a:rPr lang="es-CL" b="1" dirty="0">
                <a:effectLst/>
              </a:rPr>
              <a:t>$180.000</a:t>
            </a:r>
            <a:r>
              <a:rPr lang="es-CL" dirty="0">
                <a:effectLst/>
              </a:rPr>
              <a:t> </a:t>
            </a:r>
            <a:r>
              <a:rPr lang="es-CL" b="1" dirty="0">
                <a:effectLst/>
              </a:rPr>
              <a:t>Costo total trimestral:</a:t>
            </a:r>
            <a:r>
              <a:rPr lang="es-CL" dirty="0">
                <a:effectLst/>
              </a:rPr>
              <a:t> 1.550 m² × $180.000 = </a:t>
            </a:r>
            <a:r>
              <a:rPr lang="es-CL" b="1" dirty="0">
                <a:effectLst/>
              </a:rPr>
              <a:t>$279.000.000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41674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3584399-A755-3EC7-721E-4233B65F127A}"/>
              </a:ext>
            </a:extLst>
          </p:cNvPr>
          <p:cNvSpPr txBox="1"/>
          <p:nvPr/>
        </p:nvSpPr>
        <p:spPr>
          <a:xfrm>
            <a:off x="579120" y="464741"/>
            <a:ext cx="78028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4. Presupuesto de Gastos de Administración y Venta (Gastos Operativos)</a:t>
            </a:r>
            <a:r>
              <a:rPr lang="es-CL" dirty="0">
                <a:effectLst/>
              </a:rPr>
              <a:t> Son los costos indirectos necesarios para operar la empresa constructora.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Venta: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Publicidad en redes sociales y ferias locales: $500.000 mensuales → $1.500.000 trimestral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Administración: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Sueldo del administrador: $1.500.000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Arriendo oficina: $1.000.000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Servicios (agua, internet, luz): $200.000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Depreciación de equipos y herramientas: $100.000 mensuales → Total mensual: $2.800.000 → Trimestral: $8.400.000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98173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8DF9CC1-E18F-D625-787F-AE870A1F4F21}"/>
              </a:ext>
            </a:extLst>
          </p:cNvPr>
          <p:cNvSpPr txBox="1"/>
          <p:nvPr/>
        </p:nvSpPr>
        <p:spPr>
          <a:xfrm>
            <a:off x="863600" y="840661"/>
            <a:ext cx="68275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Preguntas para desarrollar en clase:</a:t>
            </a:r>
          </a:p>
          <a:p>
            <a:pPr>
              <a:buNone/>
            </a:pPr>
            <a:endParaRPr lang="es-CL" b="1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¿A qué precio por m² se debe vender el servicio de construcción para obtener una </a:t>
            </a:r>
            <a:r>
              <a:rPr lang="es-CL" b="1" dirty="0">
                <a:effectLst/>
              </a:rPr>
              <a:t>utilidad operativa de $9.500.000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ocurre si el </a:t>
            </a:r>
            <a:r>
              <a:rPr lang="es-CL" b="1" dirty="0">
                <a:effectLst/>
              </a:rPr>
              <a:t>precio por m² se ajusta a la baja en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pasa si el </a:t>
            </a:r>
            <a:r>
              <a:rPr lang="es-CL" b="1" dirty="0">
                <a:effectLst/>
              </a:rPr>
              <a:t>costo de materiales sube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sucede si se compra una </a:t>
            </a:r>
            <a:r>
              <a:rPr lang="es-CL" b="1" dirty="0">
                <a:effectLst/>
              </a:rPr>
              <a:t>nueva máquina mezcladora</a:t>
            </a:r>
            <a:r>
              <a:rPr lang="es-CL" dirty="0">
                <a:effectLst/>
              </a:rPr>
              <a:t> que reduce el costo de mano de obra directa a $45.000 por m², pero la depreciación aumenta a $180.000 mensuales, manteniendo el precio inicial?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¿En cuánto queda la utilidad operacional?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¿Cómo se mueve el </a:t>
            </a:r>
            <a:r>
              <a:rPr lang="es-CL" b="1" dirty="0">
                <a:effectLst/>
              </a:rPr>
              <a:t>punto de equilibrio</a:t>
            </a:r>
            <a:r>
              <a:rPr lang="es-CL" dirty="0">
                <a:effectLst/>
              </a:rPr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8663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703DCF4-3A9E-4000-76FB-C5A558712FF8}"/>
              </a:ext>
            </a:extLst>
          </p:cNvPr>
          <p:cNvSpPr txBox="1"/>
          <p:nvPr/>
        </p:nvSpPr>
        <p:spPr>
          <a:xfrm>
            <a:off x="975360" y="839599"/>
            <a:ext cx="6096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IV. Ejercicio en clases – Presupuesto Operativo de un </a:t>
            </a:r>
          </a:p>
          <a:p>
            <a:pPr>
              <a:buNone/>
            </a:pPr>
            <a:endParaRPr lang="es-CL" b="1" dirty="0"/>
          </a:p>
          <a:p>
            <a:pPr>
              <a:buNone/>
            </a:pPr>
            <a:r>
              <a:rPr lang="es-CL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Taller de Electromovilidad</a:t>
            </a:r>
          </a:p>
          <a:p>
            <a:pPr>
              <a:buNone/>
            </a:pPr>
            <a:endParaRPr lang="es-CL" b="1" dirty="0"/>
          </a:p>
          <a:p>
            <a:pPr marL="342900" indent="-342900">
              <a:buAutoNum type="arabicPeriod"/>
            </a:pPr>
            <a:r>
              <a:rPr lang="es-CL" b="1" dirty="0">
                <a:effectLst/>
              </a:rPr>
              <a:t>Presupuesto de Servicios (equivalente al presupuesto de ventas)</a:t>
            </a:r>
            <a:r>
              <a:rPr lang="es-CL" dirty="0">
                <a:effectLst/>
              </a:rPr>
              <a:t> </a:t>
            </a:r>
          </a:p>
          <a:p>
            <a:endParaRPr lang="es-CL" dirty="0"/>
          </a:p>
          <a:p>
            <a:r>
              <a:rPr lang="es-CL" dirty="0">
                <a:effectLst/>
              </a:rPr>
              <a:t>Este es el punto de partida y se basa en los servicios proyectados que el taller ofrecerá.</a:t>
            </a:r>
          </a:p>
          <a:p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Servicios proyectados (mantenciones de vehículos eléctricos):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50 mantenciones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45 mantenciones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Marzo: 60 mantenciones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6371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3C8E3BB-B7CD-C9D8-9E8F-29704A945265}"/>
              </a:ext>
            </a:extLst>
          </p:cNvPr>
          <p:cNvSpPr txBox="1"/>
          <p:nvPr/>
        </p:nvSpPr>
        <p:spPr>
          <a:xfrm>
            <a:off x="274320" y="297379"/>
            <a:ext cx="797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2. Presupuesto de Producción (equivalente a unidades a producir).</a:t>
            </a:r>
          </a:p>
          <a:p>
            <a:pPr>
              <a:buNone/>
            </a:pPr>
            <a:endParaRPr lang="es-CL" b="1" dirty="0"/>
          </a:p>
          <a:p>
            <a:pPr>
              <a:buNone/>
            </a:pPr>
            <a:r>
              <a:rPr lang="es-CL" dirty="0">
                <a:effectLst/>
              </a:rPr>
              <a:t>Se estima cuántos servicios deben realizarse para cubrir la demanda proyectada. En este ejemplo, no se considera backlog ni inventario de servicios, por lo que la producción es igual a la demanda.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Servicios a realizar: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45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Marzo: 60 </a:t>
            </a:r>
            <a:r>
              <a:rPr lang="es-CL" b="1" dirty="0">
                <a:effectLst/>
              </a:rPr>
              <a:t>Total de servicios:</a:t>
            </a:r>
            <a:r>
              <a:rPr lang="es-CL" dirty="0">
                <a:effectLst/>
              </a:rPr>
              <a:t> 155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948FAD-9F89-AA09-E55E-A13E2185F53E}"/>
              </a:ext>
            </a:extLst>
          </p:cNvPr>
          <p:cNvSpPr txBox="1"/>
          <p:nvPr/>
        </p:nvSpPr>
        <p:spPr>
          <a:xfrm>
            <a:off x="274320" y="3336280"/>
            <a:ext cx="797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3. Presupuesto de Costo de Producción (equivalente al costo de mercancías vendidas)</a:t>
            </a:r>
            <a:r>
              <a:rPr lang="es-CL" dirty="0">
                <a:effectLst/>
              </a:rPr>
              <a:t> Aquí se calculan los costos directos de cada servicio de electromovilidad.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Insumos por servicio (repuestos, lubricantes especiales, kits eléctricos):</a:t>
            </a:r>
            <a:r>
              <a:rPr lang="es-CL" dirty="0">
                <a:effectLst/>
              </a:rPr>
              <a:t> $80.000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Mano de Obra Directa (mecánicos especializados):</a:t>
            </a:r>
            <a:r>
              <a:rPr lang="es-CL" dirty="0">
                <a:effectLst/>
              </a:rPr>
              <a:t> $60.000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Indirecto de Taller (energía eléctrica para carga, herramientas, seguridad):</a:t>
            </a:r>
            <a:r>
              <a:rPr lang="es-CL" dirty="0">
                <a:effectLst/>
              </a:rPr>
              <a:t> $40.000</a:t>
            </a: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Costo de producción por servicio:</a:t>
            </a:r>
            <a:r>
              <a:rPr lang="es-CL" dirty="0">
                <a:effectLst/>
              </a:rPr>
              <a:t> $80.000 + $60.000 + $40.000 = </a:t>
            </a:r>
            <a:r>
              <a:rPr lang="es-CL" b="1" dirty="0">
                <a:effectLst/>
              </a:rPr>
              <a:t>$180.000</a:t>
            </a:r>
            <a:r>
              <a:rPr lang="es-CL" dirty="0">
                <a:effectLst/>
              </a:rPr>
              <a:t> </a:t>
            </a:r>
            <a:r>
              <a:rPr lang="es-CL" b="1" dirty="0">
                <a:effectLst/>
              </a:rPr>
              <a:t>Costo total trimestral:</a:t>
            </a:r>
            <a:r>
              <a:rPr lang="es-CL" dirty="0">
                <a:effectLst/>
              </a:rPr>
              <a:t> 155 servicios × $180.000 = </a:t>
            </a:r>
            <a:r>
              <a:rPr lang="es-CL" b="1" dirty="0">
                <a:effectLst/>
              </a:rPr>
              <a:t>$27.900.000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2179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3A9C19-23A7-00BD-CADB-C75032C83BB5}"/>
              </a:ext>
            </a:extLst>
          </p:cNvPr>
          <p:cNvSpPr txBox="1"/>
          <p:nvPr/>
        </p:nvSpPr>
        <p:spPr>
          <a:xfrm>
            <a:off x="558800" y="1277541"/>
            <a:ext cx="75895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4. Presupuesto de Gastos de Venta y Administración (Gastos Operativos)</a:t>
            </a:r>
            <a:r>
              <a:rPr lang="es-CL" dirty="0">
                <a:effectLst/>
              </a:rPr>
              <a:t> 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dirty="0">
                <a:effectLst/>
              </a:rPr>
              <a:t>Son los costos indirectos necesarios para operar el taller.</a:t>
            </a:r>
          </a:p>
          <a:p>
            <a:pPr>
              <a:buNone/>
            </a:pP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Marketing:</a:t>
            </a:r>
            <a:r>
              <a:rPr lang="es-CL" dirty="0">
                <a:effectLst/>
              </a:rPr>
              <a:t> Publicidad digital en redes sociales y ferias de electromovilidad: $500.000 mensuales → $1.500.000 trimestral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Administración: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Sueldo del administrador: $1.500.000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Arriendo del taller: $1.000.000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Servicios (agua, internet, luz): $200.000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Depreciación de equipos de diagnóstico y carga: $100.000 mensuales → Total mensual: $2.800.000 → Trimestral: $8.400.000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78268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AC28F6F-3601-6636-7D94-62EECC12A52C}"/>
              </a:ext>
            </a:extLst>
          </p:cNvPr>
          <p:cNvSpPr txBox="1"/>
          <p:nvPr/>
        </p:nvSpPr>
        <p:spPr>
          <a:xfrm>
            <a:off x="721360" y="759381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Preguntas para desarrollar:</a:t>
            </a:r>
          </a:p>
          <a:p>
            <a:pPr>
              <a:buNone/>
            </a:pPr>
            <a:endParaRPr lang="es-CL" b="1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¿A qué precio por servicio se debe cobrar para obtener una </a:t>
            </a:r>
            <a:r>
              <a:rPr lang="es-CL" b="1" dirty="0">
                <a:effectLst/>
              </a:rPr>
              <a:t>utilidad operativa de $9.500.000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ocurre si el </a:t>
            </a:r>
            <a:r>
              <a:rPr lang="es-CL" b="1" dirty="0">
                <a:effectLst/>
              </a:rPr>
              <a:t>precio por servicio se ajusta a la baja en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pasa si el </a:t>
            </a:r>
            <a:r>
              <a:rPr lang="es-CL" b="1" dirty="0">
                <a:effectLst/>
              </a:rPr>
              <a:t>costo de insumos sube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sucede si se compra una </a:t>
            </a:r>
            <a:r>
              <a:rPr lang="es-CL" b="1" dirty="0">
                <a:effectLst/>
              </a:rPr>
              <a:t>nueva máquina de diagnóstico eléctrico</a:t>
            </a:r>
            <a:r>
              <a:rPr lang="es-CL" dirty="0">
                <a:effectLst/>
              </a:rPr>
              <a:t> que reduce el costo de mano de obra directa a $45.000 por servicio, pero la depreciación aumenta a $180.000 mensuales, manteniendo el precio inicial?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¿En cuánto queda la utilidad operacional?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¿Cómo se mueve el </a:t>
            </a:r>
            <a:r>
              <a:rPr lang="es-CL" b="1" dirty="0">
                <a:effectLst/>
              </a:rPr>
              <a:t>punto de equilibrio</a:t>
            </a:r>
            <a:r>
              <a:rPr lang="es-CL" dirty="0">
                <a:effectLst/>
              </a:rPr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61331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226F199-3875-65FC-BFDC-3EDB14F2DC90}"/>
              </a:ext>
            </a:extLst>
          </p:cNvPr>
          <p:cNvSpPr txBox="1"/>
          <p:nvPr/>
        </p:nvSpPr>
        <p:spPr>
          <a:xfrm>
            <a:off x="538480" y="768479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V. Ejercicio en clases – Presupuesto Operativo de un </a:t>
            </a:r>
          </a:p>
          <a:p>
            <a:pPr>
              <a:buNone/>
            </a:pPr>
            <a:endParaRPr lang="es-CL" b="1" dirty="0"/>
          </a:p>
          <a:p>
            <a:pPr>
              <a:buNone/>
            </a:pPr>
            <a:r>
              <a:rPr lang="es-CL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Servicio de Mantención Industrial</a:t>
            </a:r>
          </a:p>
          <a:p>
            <a:pPr>
              <a:buNone/>
            </a:pPr>
            <a:endParaRPr lang="es-CL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r>
              <a:rPr lang="es-CL" b="1" dirty="0">
                <a:effectLst/>
              </a:rPr>
              <a:t>1. Presupuesto de Servicios (equivalente al presupuesto de ventas)</a:t>
            </a:r>
            <a:r>
              <a:rPr lang="es-CL" dirty="0">
                <a:effectLst/>
              </a:rPr>
              <a:t> Este es el punto de partida y se basa en los contratos de mantención proyectados.</a:t>
            </a:r>
            <a:endParaRPr lang="es-CL" dirty="0"/>
          </a:p>
          <a:p>
            <a:pPr>
              <a:buNone/>
            </a:pPr>
            <a:endParaRPr lang="es-CL" b="1" dirty="0">
              <a:effectLst/>
            </a:endParaRPr>
          </a:p>
          <a:p>
            <a:pPr>
              <a:buNone/>
            </a:pPr>
            <a:r>
              <a:rPr lang="es-CL" b="1" dirty="0">
                <a:effectLst/>
              </a:rPr>
              <a:t>Servicios proyectados (mantenciones preventivas de equipos industriales):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50 mantenciones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45 mantenciones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Marzo: 60 mantenciones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66724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2D077D-BC06-212F-4E75-B5F0D76C123D}"/>
              </a:ext>
            </a:extLst>
          </p:cNvPr>
          <p:cNvSpPr txBox="1"/>
          <p:nvPr/>
        </p:nvSpPr>
        <p:spPr>
          <a:xfrm>
            <a:off x="416560" y="409139"/>
            <a:ext cx="78333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2. Presupuesto de Producción (equivalente a unidades a producir)</a:t>
            </a:r>
            <a:r>
              <a:rPr lang="es-CL" dirty="0">
                <a:effectLst/>
              </a:rPr>
              <a:t> Se estima cuántos servicios deben realizarse para cubrir la demanda proyectada. En este ejemplo, no se considera backlog ni inventario de servicios, por lo que la producción es igual a la demanda.</a:t>
            </a: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Servicios a realizar: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Enero: 50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Febrero: 45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Marzo: 60 </a:t>
            </a:r>
            <a:r>
              <a:rPr lang="es-CL" b="1" dirty="0">
                <a:effectLst/>
              </a:rPr>
              <a:t>Total de servicios:</a:t>
            </a:r>
            <a:r>
              <a:rPr lang="es-CL" dirty="0">
                <a:effectLst/>
              </a:rPr>
              <a:t> 155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1FF291-504D-FB2B-2974-488A70B9EF0D}"/>
              </a:ext>
            </a:extLst>
          </p:cNvPr>
          <p:cNvSpPr txBox="1"/>
          <p:nvPr/>
        </p:nvSpPr>
        <p:spPr>
          <a:xfrm>
            <a:off x="416560" y="3133080"/>
            <a:ext cx="7701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3. Presupuesto de Costo de Producción (equivalente al costo de mercancías vendidas)</a:t>
            </a:r>
            <a:r>
              <a:rPr lang="es-CL" dirty="0">
                <a:effectLst/>
              </a:rPr>
              <a:t> Aquí se calculan los costos directos de cada servicio de mantención.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Insumos por servicio (lubricantes, repuestos menores, kits de mantención):</a:t>
            </a:r>
            <a:r>
              <a:rPr lang="es-CL" dirty="0">
                <a:effectLst/>
              </a:rPr>
              <a:t> $80.000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de Mano de Obra Directa (técnicos especializados):</a:t>
            </a:r>
            <a:r>
              <a:rPr lang="es-CL" dirty="0">
                <a:effectLst/>
              </a:rPr>
              <a:t> $60.000</a:t>
            </a: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Costo Indirecto de Taller (energía, herramientas, transporte a faenas):</a:t>
            </a:r>
            <a:r>
              <a:rPr lang="es-CL" dirty="0">
                <a:effectLst/>
              </a:rPr>
              <a:t> $40.000</a:t>
            </a: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Costo de producción por servicio:</a:t>
            </a:r>
            <a:r>
              <a:rPr lang="es-CL" dirty="0">
                <a:effectLst/>
              </a:rPr>
              <a:t> $80.000 + $60.000 + $40.000 = </a:t>
            </a:r>
            <a:r>
              <a:rPr lang="es-CL" b="1" dirty="0">
                <a:effectLst/>
              </a:rPr>
              <a:t>$180.000</a:t>
            </a:r>
            <a:r>
              <a:rPr lang="es-CL" dirty="0">
                <a:effectLst/>
              </a:rPr>
              <a:t> </a:t>
            </a:r>
            <a:r>
              <a:rPr lang="es-CL" b="1" dirty="0">
                <a:effectLst/>
              </a:rPr>
              <a:t>Costo total trimestral:</a:t>
            </a:r>
            <a:r>
              <a:rPr lang="es-CL" dirty="0">
                <a:effectLst/>
              </a:rPr>
              <a:t> 155 servicios × $180.000 = </a:t>
            </a:r>
            <a:r>
              <a:rPr lang="es-CL" b="1" dirty="0">
                <a:effectLst/>
              </a:rPr>
              <a:t>$27.900.000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27638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A646895-9886-8E26-2367-C2562C459536}"/>
              </a:ext>
            </a:extLst>
          </p:cNvPr>
          <p:cNvSpPr txBox="1"/>
          <p:nvPr/>
        </p:nvSpPr>
        <p:spPr>
          <a:xfrm>
            <a:off x="690880" y="552440"/>
            <a:ext cx="76403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>
                <a:effectLst/>
              </a:rPr>
              <a:t>4. Presupuesto de Gastos de Administración y Venta (Gastos Operativos)</a:t>
            </a:r>
            <a:r>
              <a:rPr lang="es-CL" dirty="0">
                <a:effectLst/>
              </a:rPr>
              <a:t> 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dirty="0">
                <a:effectLst/>
              </a:rPr>
              <a:t>Son los costos indirectos necesarios para operar la empresa de mantención.</a:t>
            </a:r>
          </a:p>
          <a:p>
            <a:pPr>
              <a:buNone/>
            </a:pP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Marketing:</a:t>
            </a:r>
            <a:r>
              <a:rPr lang="es-CL" dirty="0">
                <a:effectLst/>
              </a:rPr>
              <a:t> Publicidad digital y ferias industriales: $500.000 mensuales → $1.500.000 trimestral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CL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b="1" dirty="0">
                <a:effectLst/>
              </a:rPr>
              <a:t>Gastos de Administración: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Sueldo del administrador: $1.500.000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Arriendo oficina/taller: $1.000.000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Servicios (agua, internet, luz): $200.000 mensuales</a:t>
            </a:r>
            <a:endParaRPr lang="es-C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>
                <a:effectLst/>
              </a:rPr>
              <a:t>Depreciación de equipos de diagnóstico y herramientas: $100.000 mensuales → Total mensual: $2.800.000 → Trimestral: $8.400.000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54067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D40CB6-1521-99CD-D39B-55DC5EAF42BD}"/>
              </a:ext>
            </a:extLst>
          </p:cNvPr>
          <p:cNvSpPr txBox="1"/>
          <p:nvPr/>
        </p:nvSpPr>
        <p:spPr>
          <a:xfrm>
            <a:off x="762000" y="637461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b="1" dirty="0"/>
              <a:t>Preguntas para desarrollar:</a:t>
            </a:r>
          </a:p>
          <a:p>
            <a:pPr>
              <a:buNone/>
            </a:pPr>
            <a:endParaRPr lang="es-CL" b="1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¿A qué precio por servicio se debe cobrar para obtener una </a:t>
            </a:r>
            <a:r>
              <a:rPr lang="es-CL" b="1" dirty="0">
                <a:effectLst/>
              </a:rPr>
              <a:t>utilidad operativa de $9.500.000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ocurre si el </a:t>
            </a:r>
            <a:r>
              <a:rPr lang="es-CL" b="1" dirty="0">
                <a:effectLst/>
              </a:rPr>
              <a:t>precio por servicio se ajusta a la baja en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pasa si el </a:t>
            </a:r>
            <a:r>
              <a:rPr lang="es-CL" b="1" dirty="0">
                <a:effectLst/>
              </a:rPr>
              <a:t>costo de insumos sube un 10%</a:t>
            </a:r>
            <a:r>
              <a:rPr lang="es-CL" dirty="0">
                <a:effectLst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endParaRPr lang="es-CL" dirty="0"/>
          </a:p>
          <a:p>
            <a:pPr marL="342900" lvl="0" indent="-342900">
              <a:buFont typeface="+mj-lt"/>
              <a:buAutoNum type="arabicPeriod"/>
            </a:pPr>
            <a:r>
              <a:rPr lang="es-CL" dirty="0">
                <a:effectLst/>
              </a:rPr>
              <a:t>¿Qué sucede si se compra una </a:t>
            </a:r>
            <a:r>
              <a:rPr lang="es-CL" b="1" dirty="0">
                <a:effectLst/>
              </a:rPr>
              <a:t>nueva herramienta de diagnóstico industrial</a:t>
            </a:r>
            <a:r>
              <a:rPr lang="es-CL" dirty="0">
                <a:effectLst/>
              </a:rPr>
              <a:t> que reduce el costo de mano de obra directa a $45.000 por servicio, pero la depreciación aumenta a $180.000 mensuales, manteniendo el precio inicial?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¿En cuánto queda la utilidad operacional?</a:t>
            </a:r>
            <a:endParaRPr lang="es-CL" dirty="0"/>
          </a:p>
          <a:p>
            <a:pPr marL="800100" lvl="1" indent="-342900">
              <a:buFont typeface="+mj-lt"/>
              <a:buAutoNum type="alphaLcParenR"/>
            </a:pPr>
            <a:r>
              <a:rPr lang="es-CL" dirty="0">
                <a:effectLst/>
              </a:rPr>
              <a:t>¿Cómo se mueve el </a:t>
            </a:r>
            <a:r>
              <a:rPr lang="es-CL" b="1" dirty="0">
                <a:effectLst/>
              </a:rPr>
              <a:t>punto de equilibrio</a:t>
            </a:r>
            <a:r>
              <a:rPr lang="es-CL" dirty="0">
                <a:effectLst/>
              </a:rPr>
              <a:t>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41978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2BC47FC-135F-B729-CFD7-2435428AF0E0}"/>
              </a:ext>
            </a:extLst>
          </p:cNvPr>
          <p:cNvSpPr txBox="1"/>
          <p:nvPr/>
        </p:nvSpPr>
        <p:spPr>
          <a:xfrm>
            <a:off x="405246" y="404198"/>
            <a:ext cx="609738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VI. Ejercicio Práctico: El Presupuesto Operativo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/>
              <a:t>Caso de Estudio: </a:t>
            </a:r>
            <a:r>
              <a:rPr lang="es-E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Muebles Innovadores S.A. (con stock)</a:t>
            </a:r>
          </a:p>
          <a:p>
            <a:pPr>
              <a:buNone/>
            </a:pPr>
            <a:endParaRPr lang="es-E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33B833F-FDDC-57FD-8AF1-7C639BFB91F9}"/>
              </a:ext>
            </a:extLst>
          </p:cNvPr>
          <p:cNvSpPr txBox="1"/>
          <p:nvPr/>
        </p:nvSpPr>
        <p:spPr>
          <a:xfrm>
            <a:off x="405246" y="1904405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Muebles Innovadores S.A.</a:t>
            </a:r>
            <a:r>
              <a:rPr lang="es-ES" dirty="0"/>
              <a:t> es una empresa que se dedica a la fabricación y venta de un único producto: una silla ergonómica de diseño moderno. La gerencia financiera desea preparar el presupuesto operativo para el </a:t>
            </a:r>
            <a:r>
              <a:rPr lang="es-ES" b="1" dirty="0"/>
              <a:t>primer trimestre del año (Enero - Marzo)</a:t>
            </a:r>
            <a:r>
              <a:rPr lang="es-ES" dirty="0"/>
              <a:t> y ha proporcionado la siguiente información:</a:t>
            </a:r>
            <a:endParaRPr lang="es-CL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DD013E6C-A086-395A-6063-314171275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79275"/>
              </p:ext>
            </p:extLst>
          </p:nvPr>
        </p:nvGraphicFramePr>
        <p:xfrm>
          <a:off x="405246" y="4151730"/>
          <a:ext cx="7685088" cy="1280160"/>
        </p:xfrm>
        <a:graphic>
          <a:graphicData uri="http://schemas.openxmlformats.org/drawingml/2006/table">
            <a:tbl>
              <a:tblPr/>
              <a:tblGrid>
                <a:gridCol w="1921272">
                  <a:extLst>
                    <a:ext uri="{9D8B030D-6E8A-4147-A177-3AD203B41FA5}">
                      <a16:colId xmlns:a16="http://schemas.microsoft.com/office/drawing/2014/main" val="630172678"/>
                    </a:ext>
                  </a:extLst>
                </a:gridCol>
                <a:gridCol w="1921272">
                  <a:extLst>
                    <a:ext uri="{9D8B030D-6E8A-4147-A177-3AD203B41FA5}">
                      <a16:colId xmlns:a16="http://schemas.microsoft.com/office/drawing/2014/main" val="3692120086"/>
                    </a:ext>
                  </a:extLst>
                </a:gridCol>
                <a:gridCol w="1921272">
                  <a:extLst>
                    <a:ext uri="{9D8B030D-6E8A-4147-A177-3AD203B41FA5}">
                      <a16:colId xmlns:a16="http://schemas.microsoft.com/office/drawing/2014/main" val="753728684"/>
                    </a:ext>
                  </a:extLst>
                </a:gridCol>
                <a:gridCol w="1921272">
                  <a:extLst>
                    <a:ext uri="{9D8B030D-6E8A-4147-A177-3AD203B41FA5}">
                      <a16:colId xmlns:a16="http://schemas.microsoft.com/office/drawing/2014/main" val="2047393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Concepto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Enero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Febrero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Marzo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Ventas Proyectadas (unidades)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1,200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1,500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893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176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2460FDE-B4CF-5A87-A328-13EFA225DBC9}"/>
              </a:ext>
            </a:extLst>
          </p:cNvPr>
          <p:cNvSpPr txBox="1"/>
          <p:nvPr/>
        </p:nvSpPr>
        <p:spPr>
          <a:xfrm>
            <a:off x="513311" y="197346"/>
            <a:ext cx="609738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b="1" dirty="0"/>
              <a:t>Datos Adicionales: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dirty="0"/>
              <a:t>Precio de Venta:</a:t>
            </a:r>
            <a:r>
              <a:rPr lang="es-ES" sz="1600" dirty="0"/>
              <a:t> $200 por unidad.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dirty="0"/>
              <a:t>Política de Inventario de Productos Terminados:</a:t>
            </a:r>
            <a:r>
              <a:rPr lang="es-ES" sz="1600" dirty="0"/>
              <a:t> La empresa desea que el inventario final de cada mes sea el </a:t>
            </a:r>
            <a:r>
              <a:rPr lang="es-ES" sz="1600" b="1" dirty="0"/>
              <a:t>20% de las ventas proyectadas del mes siguiente</a:t>
            </a:r>
            <a:r>
              <a:rPr lang="es-ES" sz="1600" dirty="0"/>
              <a:t>. El inventario inicial en Enero es de </a:t>
            </a:r>
            <a:r>
              <a:rPr lang="es-ES" sz="1600" b="1" dirty="0"/>
              <a:t>150 unidades</a:t>
            </a:r>
            <a:r>
              <a:rPr lang="es-E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dirty="0"/>
              <a:t>Requisitos de Materia Prima:</a:t>
            </a:r>
            <a:r>
              <a:rPr lang="es-ES" sz="1600" dirty="0"/>
              <a:t> Cada silla requiere </a:t>
            </a:r>
            <a:r>
              <a:rPr lang="es-ES" sz="1600" b="1" dirty="0"/>
              <a:t>5 metros de madera de pino</a:t>
            </a:r>
            <a:r>
              <a:rPr lang="es-ES" sz="1600" dirty="0"/>
              <a:t> y </a:t>
            </a:r>
            <a:r>
              <a:rPr lang="es-ES" sz="1600" b="1" dirty="0"/>
              <a:t>2 metros de tela</a:t>
            </a:r>
            <a:r>
              <a:rPr lang="es-E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b="1" dirty="0"/>
              <a:t>Madera de Pino:</a:t>
            </a:r>
            <a:r>
              <a:rPr lang="es-ES" sz="1600" dirty="0"/>
              <a:t> Costo de $8 por metro.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b="1" dirty="0"/>
              <a:t>Tela:</a:t>
            </a:r>
            <a:r>
              <a:rPr lang="es-ES" sz="1600" dirty="0"/>
              <a:t> Costo de $5 por metro.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dirty="0"/>
              <a:t>Política de Inventario de Materia Prima:</a:t>
            </a:r>
            <a:r>
              <a:rPr lang="es-ES" sz="1600" dirty="0"/>
              <a:t> El inventario final de cada materia prima debe ser el </a:t>
            </a:r>
            <a:r>
              <a:rPr lang="es-ES" sz="1600" b="1" dirty="0"/>
              <a:t>10% de los requisitos de producción del mes siguiente</a:t>
            </a:r>
            <a:r>
              <a:rPr lang="es-E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600" b="1" dirty="0"/>
              <a:t>Inventario Inicial de Enero:</a:t>
            </a:r>
            <a:r>
              <a:rPr lang="es-ES" sz="1600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sz="1600" dirty="0"/>
              <a:t>Madera de Pino: 550 metros.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s-ES" sz="1600" dirty="0"/>
              <a:t>Tela: 220 metros.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dirty="0"/>
              <a:t>Mano de Obra Directa (MOD):</a:t>
            </a:r>
            <a:r>
              <a:rPr lang="es-ES" sz="1600" dirty="0"/>
              <a:t> Cada silla requiere </a:t>
            </a:r>
            <a:r>
              <a:rPr lang="es-ES" sz="1600" b="1" dirty="0"/>
              <a:t>3 horas de mano de obra directa</a:t>
            </a:r>
            <a:r>
              <a:rPr lang="es-ES" sz="1600" dirty="0"/>
              <a:t> a un costo de </a:t>
            </a:r>
            <a:r>
              <a:rPr lang="es-ES" sz="1600" b="1" dirty="0"/>
              <a:t>$20 por hora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0464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BFB4A76-A1F9-1A9E-A969-7F2C50A17A74}"/>
              </a:ext>
            </a:extLst>
          </p:cNvPr>
          <p:cNvSpPr txBox="1"/>
          <p:nvPr/>
        </p:nvSpPr>
        <p:spPr>
          <a:xfrm>
            <a:off x="712817" y="465204"/>
            <a:ext cx="65441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Gastos Indirectos de Fabricación (GIF):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GIF Variables:</a:t>
            </a:r>
            <a:r>
              <a:rPr lang="es-ES" dirty="0"/>
              <a:t> $5 por hora de mano de obra directa.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GIF Fijos:</a:t>
            </a:r>
            <a:r>
              <a:rPr lang="es-ES" dirty="0"/>
              <a:t> $8,000 por mes (incluye depreciación de $2,000).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/>
              <a:t>Gastos de Venta y Administración:	</a:t>
            </a:r>
            <a:endParaRPr lang="es-E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Gastos de Venta:</a:t>
            </a:r>
            <a:r>
              <a:rPr lang="es-ES" dirty="0"/>
              <a:t> 10% de las ventas totales del mes.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b="1" dirty="0"/>
              <a:t>Gastos de Administración:</a:t>
            </a:r>
            <a:r>
              <a:rPr lang="es-ES" dirty="0"/>
              <a:t> $15,000 por mes (fijos).</a:t>
            </a:r>
          </a:p>
        </p:txBody>
      </p:sp>
    </p:spTree>
    <p:extLst>
      <p:ext uri="{BB962C8B-B14F-4D97-AF65-F5344CB8AC3E}">
        <p14:creationId xmlns:p14="http://schemas.microsoft.com/office/powerpoint/2010/main" val="3656108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F256685-618E-BC80-EC9E-B0D64ABFE134}"/>
              </a:ext>
            </a:extLst>
          </p:cNvPr>
          <p:cNvSpPr txBox="1"/>
          <p:nvPr/>
        </p:nvSpPr>
        <p:spPr>
          <a:xfrm>
            <a:off x="252211" y="197346"/>
            <a:ext cx="960190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600" b="1" dirty="0"/>
              <a:t>Instrucciones para los Estudiantes</a:t>
            </a:r>
          </a:p>
          <a:p>
            <a:pPr>
              <a:buNone/>
            </a:pPr>
            <a:r>
              <a:rPr lang="es-ES" sz="1600" dirty="0"/>
              <a:t>Realiza los siguientes presupuestos, mes a mes y para el total del trimestre, y presenta el resumen final en el estado de resultados proyectado.</a:t>
            </a:r>
          </a:p>
          <a:p>
            <a:pPr>
              <a:buNone/>
            </a:pPr>
            <a:r>
              <a:rPr lang="es-ES" sz="1600" b="1" dirty="0"/>
              <a:t>	</a:t>
            </a:r>
          </a:p>
          <a:p>
            <a:pPr>
              <a:buNone/>
            </a:pPr>
            <a:r>
              <a:rPr lang="es-ES" sz="1600" b="1" dirty="0"/>
              <a:t>Paso 1: Presupuesto de Ventas</a:t>
            </a:r>
            <a:r>
              <a:rPr lang="es-ES" sz="1600" dirty="0"/>
              <a:t> Calcula el valor de las ventas proyectadas para cada 	mes.</a:t>
            </a:r>
            <a:r>
              <a:rPr lang="es-ES" sz="1600" b="1" dirty="0"/>
              <a:t>	</a:t>
            </a:r>
          </a:p>
          <a:p>
            <a:pPr>
              <a:buNone/>
            </a:pPr>
            <a:endParaRPr lang="es-ES" sz="1600" b="1" dirty="0"/>
          </a:p>
          <a:p>
            <a:pPr>
              <a:buNone/>
            </a:pPr>
            <a:r>
              <a:rPr lang="es-ES" sz="1600" b="1" dirty="0"/>
              <a:t>Paso 2: Presupuesto de Producción</a:t>
            </a:r>
            <a:r>
              <a:rPr lang="es-ES" sz="1600" dirty="0"/>
              <a:t> Determina el número de unidades que se 	deben 	producir cada mes para cumplir con las ventas y la política de inventario.</a:t>
            </a:r>
          </a:p>
          <a:p>
            <a:pPr>
              <a:buNone/>
            </a:pPr>
            <a:r>
              <a:rPr lang="es-ES" sz="1600" b="1" dirty="0"/>
              <a:t>	</a:t>
            </a:r>
          </a:p>
          <a:p>
            <a:pPr>
              <a:buNone/>
            </a:pPr>
            <a:r>
              <a:rPr lang="es-ES" sz="1600" b="1" dirty="0"/>
              <a:t>Paso 3: Presupuesto de Materia Prima Directa</a:t>
            </a:r>
            <a:endParaRPr lang="es-E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s-ES" sz="1600" dirty="0"/>
              <a:t>Calcula los requisitos de materia prima para la producción.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ES" sz="1600" dirty="0"/>
              <a:t>Elabora el presupuesto de compra de materia prima, tanto en cantidad como en costo.</a:t>
            </a:r>
          </a:p>
          <a:p>
            <a:pPr>
              <a:buNone/>
            </a:pPr>
            <a:r>
              <a:rPr lang="es-ES" sz="1600" b="1" dirty="0"/>
              <a:t>	</a:t>
            </a:r>
          </a:p>
          <a:p>
            <a:pPr>
              <a:buNone/>
            </a:pPr>
            <a:r>
              <a:rPr lang="es-ES" sz="1600" b="1" dirty="0"/>
              <a:t>Paso 4: Presupuesto de Mano de Obra Directa</a:t>
            </a:r>
            <a:r>
              <a:rPr lang="es-ES" sz="1600" dirty="0"/>
              <a:t> Calcula el costo total de la mano 	de obra 	directa para cada mes.</a:t>
            </a:r>
          </a:p>
          <a:p>
            <a:pPr>
              <a:buNone/>
            </a:pPr>
            <a:r>
              <a:rPr lang="es-ES" sz="1600" b="1" dirty="0"/>
              <a:t>	</a:t>
            </a:r>
          </a:p>
          <a:p>
            <a:pPr>
              <a:buNone/>
            </a:pPr>
            <a:r>
              <a:rPr lang="es-ES" sz="1600" b="1" dirty="0"/>
              <a:t>Paso 5: Presupuesto de Gastos Indirectos de Fabricación (GIF)</a:t>
            </a:r>
            <a:r>
              <a:rPr lang="es-ES" sz="1600" dirty="0"/>
              <a:t> Calcula los GIF 	variables, fijos y totales para cada mes.</a:t>
            </a:r>
          </a:p>
          <a:p>
            <a:pPr>
              <a:buNone/>
            </a:pPr>
            <a:r>
              <a:rPr lang="es-ES" sz="1600" b="1" dirty="0"/>
              <a:t>	</a:t>
            </a:r>
          </a:p>
          <a:p>
            <a:pPr>
              <a:buNone/>
            </a:pPr>
            <a:r>
              <a:rPr lang="es-ES" sz="1600" b="1" dirty="0"/>
              <a:t>Paso 6: Presupuesto de Gastos de Venta y Administración</a:t>
            </a:r>
            <a:r>
              <a:rPr lang="es-ES" sz="1600" dirty="0"/>
              <a:t> Calcula el total de 	los 	gastos operativos para cada mes.</a:t>
            </a:r>
          </a:p>
          <a:p>
            <a:pPr>
              <a:buNone/>
            </a:pPr>
            <a:r>
              <a:rPr lang="es-ES" sz="1600" b="1" dirty="0"/>
              <a:t>	</a:t>
            </a:r>
          </a:p>
          <a:p>
            <a:pPr>
              <a:buNone/>
            </a:pPr>
            <a:r>
              <a:rPr lang="es-ES" sz="1600" b="1" dirty="0"/>
              <a:t>Paso 7: Estado de Resultados Proyectado</a:t>
            </a:r>
            <a:r>
              <a:rPr lang="es-ES" sz="1600" dirty="0"/>
              <a:t> Usando la información de los pasos 	anteriores, prepara el estado de resultados proyectado trimestral. </a:t>
            </a:r>
          </a:p>
          <a:p>
            <a:pPr>
              <a:buNone/>
            </a:pPr>
            <a:r>
              <a:rPr lang="es-ES" sz="1600" dirty="0"/>
              <a:t>Para el </a:t>
            </a:r>
            <a:r>
              <a:rPr lang="es-ES" sz="1600" b="1" dirty="0"/>
              <a:t>Costo de Ventas</a:t>
            </a:r>
            <a:r>
              <a:rPr lang="es-ES" sz="1600" dirty="0"/>
              <a:t>, asume que el inventario inicial de producto terminado es de </a:t>
            </a:r>
            <a:r>
              <a:rPr lang="es-ES" sz="1600" b="1" dirty="0"/>
              <a:t>$22,500</a:t>
            </a:r>
            <a:r>
              <a:rPr lang="es-ES" sz="1600" dirty="0"/>
              <a:t> y que el costo unitario de producción es de </a:t>
            </a:r>
            <a:r>
              <a:rPr lang="es-ES" sz="1600" b="1" dirty="0"/>
              <a:t>$105 por unidad</a:t>
            </a:r>
            <a:r>
              <a:rPr lang="es-ES" sz="1600" dirty="0"/>
              <a:t> para los cálculos finales.</a:t>
            </a:r>
          </a:p>
        </p:txBody>
      </p:sp>
    </p:spTree>
    <p:extLst>
      <p:ext uri="{BB962C8B-B14F-4D97-AF65-F5344CB8AC3E}">
        <p14:creationId xmlns:p14="http://schemas.microsoft.com/office/powerpoint/2010/main" val="898833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D79A4B2-7F58-C640-2303-B126C05F38C0}"/>
              </a:ext>
            </a:extLst>
          </p:cNvPr>
          <p:cNvSpPr txBox="1"/>
          <p:nvPr/>
        </p:nvSpPr>
        <p:spPr>
          <a:xfrm>
            <a:off x="1078577" y="1155299"/>
            <a:ext cx="60973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Pregunta para Análisis y Reflexión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Con base en el Estado de Resultados Proyectado: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¿Cuál es la principal área de costo para la empresa y qué medidas podría tomar la gerencia para mejorar la utilidad operativa? 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¿Por qué es importante considerar tanto los gastos fijos como los variables al tomar decisiones de producción y venta?</a:t>
            </a:r>
          </a:p>
        </p:txBody>
      </p:sp>
    </p:spTree>
    <p:extLst>
      <p:ext uri="{BB962C8B-B14F-4D97-AF65-F5344CB8AC3E}">
        <p14:creationId xmlns:p14="http://schemas.microsoft.com/office/powerpoint/2010/main" val="22080076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467C36C-37A2-36D4-B2E3-3C06A5E41421}"/>
              </a:ext>
            </a:extLst>
          </p:cNvPr>
          <p:cNvSpPr txBox="1"/>
          <p:nvPr/>
        </p:nvSpPr>
        <p:spPr>
          <a:xfrm>
            <a:off x="399011" y="253409"/>
            <a:ext cx="1151312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Análisis y Reflexión</a:t>
            </a:r>
          </a:p>
          <a:p>
            <a:pPr>
              <a:buNone/>
            </a:pPr>
            <a:r>
              <a:rPr lang="es-ES" dirty="0"/>
              <a:t>Con una </a:t>
            </a:r>
            <a:r>
              <a:rPr lang="es-ES" b="1" dirty="0"/>
              <a:t>Utilidad Operativa de $113.750</a:t>
            </a:r>
            <a:r>
              <a:rPr lang="es-ES" dirty="0"/>
              <a:t> y unos ingresos de $740.000, la empresa muestra una rentabilidad operacional de 15,37%.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Área de costo principal:</a:t>
            </a:r>
            <a:r>
              <a:rPr lang="es-ES" dirty="0"/>
              <a:t> El </a:t>
            </a:r>
            <a:r>
              <a:rPr lang="es-ES" b="1" dirty="0"/>
              <a:t>Costo de la Mercancía Vendida</a:t>
            </a:r>
            <a:r>
              <a:rPr lang="es-ES" dirty="0"/>
              <a:t> (o Costo de Producción) es, por mucho, el costo más significativo de la empresa, representando alrededor del 68,55% de los ingresos por ventas. Dentro de este, la </a:t>
            </a:r>
            <a:r>
              <a:rPr lang="es-ES" b="1" dirty="0"/>
              <a:t>Mano de Obra Directa</a:t>
            </a:r>
            <a:r>
              <a:rPr lang="es-ES" dirty="0"/>
              <a:t> es la partida más grande, seguida por los </a:t>
            </a:r>
            <a:r>
              <a:rPr lang="es-ES" b="1" dirty="0"/>
              <a:t>materiales directos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Medidas para mejorar la utilidad operativa:</a:t>
            </a:r>
            <a:r>
              <a:rPr lang="es-ES" dirty="0"/>
              <a:t> La gerencia podría centrarse 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Reducir costos de producción:</a:t>
            </a:r>
            <a:r>
              <a:rPr lang="es-ES" dirty="0"/>
              <a:t> Negociar mejores precios con los proveedores de madera y tela, o buscar eficiencias en la mano de obra para reducir las horas de producción por unidad.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Aumentar la eficiencia en la producción:</a:t>
            </a:r>
            <a:r>
              <a:rPr lang="es-ES" dirty="0"/>
              <a:t> Invertir en nueva maquinaria o capacitar a los empleados para disminuir el tiempo de producción, lo que reduciría tanto el costo de mano de obra como los gastos indirectos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Gestionar mejor los inventarios:</a:t>
            </a:r>
            <a:r>
              <a:rPr lang="es-ES" dirty="0"/>
              <a:t> Optimizar las políticas de inventario para reducir los costos de almacenamiento sin comprometer las ventas.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Importancia de los costos fijos vs. variables: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Costos Variables:</a:t>
            </a:r>
            <a:r>
              <a:rPr lang="es-ES" dirty="0"/>
              <a:t> Cambian en proporción directa con la producción y las ventas (ej. materia prima, mano de obra directa). Controlarlos es crucial para mantener la rentabilidad por cada unidad vendida.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Costos Fijos:</a:t>
            </a:r>
            <a:r>
              <a:rPr lang="es-ES" dirty="0"/>
              <a:t> Permanecen constantes, sin importar el nivel de producción (ej. arriendo, sueldos de gerencia). Un buen manejo de estos costos es vital porque a mayor producción, el costo fijo por unidad disminuye (el costo fijo se "diluye"), mejorando la rentabilidad. Esta distinción es fundamental para el </a:t>
            </a:r>
            <a:r>
              <a:rPr lang="es-ES" b="1" dirty="0"/>
              <a:t>análisis del punto de equilibrio</a:t>
            </a:r>
            <a:r>
              <a:rPr lang="es-ES" dirty="0"/>
              <a:t>, ya que la empresa debe vender suficientes unidades para cubrir primero todos sus costos fijos.</a:t>
            </a:r>
          </a:p>
        </p:txBody>
      </p:sp>
    </p:spTree>
    <p:extLst>
      <p:ext uri="{BB962C8B-B14F-4D97-AF65-F5344CB8AC3E}">
        <p14:creationId xmlns:p14="http://schemas.microsoft.com/office/powerpoint/2010/main" val="3211884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4362A-A97E-1F75-A37D-C2E98CE7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distintos de presupuestos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71D5E8-C4AE-F559-A56C-347785466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Existen presupuestos por distintas áreas o temas específicos:</a:t>
            </a:r>
          </a:p>
          <a:p>
            <a:pPr lvl="1"/>
            <a:r>
              <a:rPr lang="es-ES" dirty="0"/>
              <a:t>Ventas.</a:t>
            </a:r>
          </a:p>
          <a:p>
            <a:pPr lvl="1"/>
            <a:r>
              <a:rPr lang="es-ES" dirty="0"/>
              <a:t>Producción.</a:t>
            </a:r>
          </a:p>
          <a:p>
            <a:pPr lvl="1"/>
            <a:r>
              <a:rPr lang="es-ES" dirty="0"/>
              <a:t>Costo de artículos para la venta.</a:t>
            </a:r>
          </a:p>
          <a:p>
            <a:pPr lvl="1"/>
            <a:r>
              <a:rPr lang="es-ES" dirty="0"/>
              <a:t>Compras de Materias primas.</a:t>
            </a:r>
          </a:p>
          <a:p>
            <a:pPr lvl="1"/>
            <a:r>
              <a:rPr lang="es-ES" dirty="0"/>
              <a:t>Recursos humanos.</a:t>
            </a:r>
          </a:p>
          <a:p>
            <a:pPr lvl="1"/>
            <a:r>
              <a:rPr lang="es-ES" dirty="0"/>
              <a:t>Gastos generales de fabricación.</a:t>
            </a:r>
          </a:p>
          <a:p>
            <a:pPr lvl="1"/>
            <a:r>
              <a:rPr lang="es-ES" dirty="0"/>
              <a:t>Gastos de ventas.</a:t>
            </a:r>
          </a:p>
          <a:p>
            <a:pPr lvl="1"/>
            <a:r>
              <a:rPr lang="es-ES" dirty="0"/>
              <a:t>Gastos de administración.</a:t>
            </a:r>
          </a:p>
          <a:p>
            <a:pPr lvl="1"/>
            <a:r>
              <a:rPr lang="es-ES" dirty="0"/>
              <a:t>Ingresos</a:t>
            </a:r>
          </a:p>
          <a:p>
            <a:pPr lvl="1"/>
            <a:r>
              <a:rPr lang="es-ES" dirty="0"/>
              <a:t>Caja</a:t>
            </a:r>
          </a:p>
        </p:txBody>
      </p:sp>
    </p:spTree>
    <p:extLst>
      <p:ext uri="{BB962C8B-B14F-4D97-AF65-F5344CB8AC3E}">
        <p14:creationId xmlns:p14="http://schemas.microsoft.com/office/powerpoint/2010/main" val="479853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3EA95-9D3A-7AB7-2AE1-80FBFAD2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9261"/>
            <a:ext cx="7685037" cy="703551"/>
          </a:xfrm>
        </p:spPr>
        <p:txBody>
          <a:bodyPr/>
          <a:lstStyle/>
          <a:p>
            <a:r>
              <a:rPr lang="es-ES" dirty="0"/>
              <a:t>El presupuesto de ventas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702582-56A0-6F86-A434-28A0C3E6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3040"/>
            <a:ext cx="7685037" cy="4713923"/>
          </a:xfrm>
        </p:spPr>
        <p:txBody>
          <a:bodyPr/>
          <a:lstStyle/>
          <a:p>
            <a:r>
              <a:rPr lang="es-ES" dirty="0"/>
              <a:t>Este presupuesto, pretende anticipar las ventas de la empresa. Lógicamente, este presupuesto liderará a todos los presupuestos de la empresa.</a:t>
            </a:r>
          </a:p>
          <a:p>
            <a:r>
              <a:rPr lang="es-ES" dirty="0"/>
              <a:t>Ya que todo lo que se haga deberá estar en función de las ventas esperadas.</a:t>
            </a:r>
          </a:p>
          <a:p>
            <a:r>
              <a:rPr lang="es-ES" dirty="0"/>
              <a:t>Es decir, la producción deberá satisfacer a las ventas esperadas. </a:t>
            </a:r>
          </a:p>
          <a:p>
            <a:r>
              <a:rPr lang="es-ES" dirty="0"/>
              <a:t>Así como, las áreas de RRHH; administración, finanzas, etc.</a:t>
            </a:r>
          </a:p>
          <a:p>
            <a:r>
              <a:rPr lang="es-ES" dirty="0"/>
              <a:t>Las ventas siempre mandan.</a:t>
            </a:r>
          </a:p>
          <a:p>
            <a:r>
              <a:rPr lang="es-ES" dirty="0"/>
              <a:t>También, hay que tener en cuenta que el presupuesto de ventas implica una meta de ventas. Es decir, se deben hacer todos los esfuerzos para que se cumpla este presupuesto. </a:t>
            </a:r>
          </a:p>
          <a:p>
            <a:r>
              <a:rPr lang="es-ES" dirty="0"/>
              <a:t>Implica entonces, metas y seguimiento de metas.</a:t>
            </a:r>
          </a:p>
        </p:txBody>
      </p:sp>
    </p:spTree>
    <p:extLst>
      <p:ext uri="{BB962C8B-B14F-4D97-AF65-F5344CB8AC3E}">
        <p14:creationId xmlns:p14="http://schemas.microsoft.com/office/powerpoint/2010/main" val="2071330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14E12-1C1E-B00C-F27E-DA6303B6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794991"/>
          </a:xfrm>
        </p:spPr>
        <p:txBody>
          <a:bodyPr/>
          <a:lstStyle/>
          <a:p>
            <a:r>
              <a:rPr lang="es-ES" dirty="0"/>
              <a:t>Análisis de la demanda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1E97A9-6137-2073-E8C4-B80BDB4B4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Para saber con algún grado de certeza cuando se puede vender de un producto se debe efectuar un estudio de la demanda.</a:t>
            </a:r>
          </a:p>
          <a:p>
            <a:r>
              <a:rPr lang="es-ES" dirty="0"/>
              <a:t>Para esto:</a:t>
            </a:r>
          </a:p>
          <a:p>
            <a:pPr lvl="1"/>
            <a:r>
              <a:rPr lang="es-ES" dirty="0"/>
              <a:t>Se debe ver en fuentes secundarias (estadísticas de ventas como: INE; BCCH; Cámara de Comercio, etc.) las ventas históricas del producto. Con este dato se puede proyectar la tendencia.</a:t>
            </a:r>
          </a:p>
          <a:p>
            <a:pPr lvl="1"/>
            <a:r>
              <a:rPr lang="es-ES" dirty="0"/>
              <a:t>Conocer cuantos oferentes hay en el mercado.</a:t>
            </a:r>
          </a:p>
          <a:p>
            <a:pPr lvl="1"/>
            <a:r>
              <a:rPr lang="es-ES" dirty="0"/>
              <a:t>Conocer si entrarán nuevos oferentes al mercado.</a:t>
            </a:r>
          </a:p>
          <a:p>
            <a:pPr lvl="1"/>
            <a:r>
              <a:rPr lang="es-ES" dirty="0"/>
              <a:t>Si hay o no barreras de entrada o salida al mercado.</a:t>
            </a:r>
          </a:p>
          <a:p>
            <a:pPr lvl="1"/>
            <a:r>
              <a:rPr lang="es-ES" dirty="0"/>
              <a:t>Preguntar en fuentes primarias como a expertos o directamente al mercado.</a:t>
            </a:r>
          </a:p>
          <a:p>
            <a:pPr lvl="1"/>
            <a:r>
              <a:rPr lang="es-ES" dirty="0"/>
              <a:t>Además, se debe determinar cuál será nuestra participación de mercado.</a:t>
            </a:r>
          </a:p>
        </p:txBody>
      </p:sp>
    </p:spTree>
    <p:extLst>
      <p:ext uri="{BB962C8B-B14F-4D97-AF65-F5344CB8AC3E}">
        <p14:creationId xmlns:p14="http://schemas.microsoft.com/office/powerpoint/2010/main" val="888061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230FC-F489-D60F-CCE9-D9FB58B46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proyectar las ventas?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F6D240-0CA6-DDC9-8B82-3C76D7D3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proyección de ventas se puede hacer de distintas maneras: </a:t>
            </a:r>
          </a:p>
          <a:p>
            <a:pPr lvl="1"/>
            <a:endParaRPr lang="es-ES" dirty="0"/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Base cero. En este caso no hay base de datos para proyectar.</a:t>
            </a:r>
          </a:p>
          <a:p>
            <a:pPr lvl="1"/>
            <a:endParaRPr lang="es-ES" dirty="0"/>
          </a:p>
          <a:p>
            <a:pPr marL="914400" lvl="1" indent="-457200">
              <a:buFont typeface="+mj-lt"/>
              <a:buAutoNum type="arabicPeriod" startAt="2"/>
            </a:pPr>
            <a:r>
              <a:rPr lang="es-ES" dirty="0"/>
              <a:t>Convencional. En este caso si hay una base de datos para proyectar.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457200" lvl="1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5642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3D19E-E58F-F1A9-AC5F-51813C2F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Método Base cero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D6ADCD-9A7E-C6CD-F085-EA971525DA07}"/>
              </a:ext>
            </a:extLst>
          </p:cNvPr>
          <p:cNvSpPr txBox="1"/>
          <p:nvPr/>
        </p:nvSpPr>
        <p:spPr>
          <a:xfrm>
            <a:off x="721360" y="255345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este caso como no hay base de datos para proyectar se puede: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	Investigar en el mercado, las ventas de los productos de empresas similares: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Estimar las ventas en base a una investigación de mercado.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622949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E463A-30FF-468D-9798-A64BEADFE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Métodos Convencional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12D656-763F-7A5F-764C-256F4B471B0B}"/>
              </a:ext>
            </a:extLst>
          </p:cNvPr>
          <p:cNvSpPr txBox="1"/>
          <p:nvPr/>
        </p:nvSpPr>
        <p:spPr>
          <a:xfrm>
            <a:off x="457200" y="283793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Para proyectar con métodos objetivos se debe partir de una base existente. Estas pueden ser: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Datos de fuentes primarias, como: Datos propios de la empresa; Datos del mercado; datos de la competencia.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Datos de fuentes secundarias: Bases de datos de INE (Instituto Nacional de Estadísticas); BCCH (Banco Central de Chile); Cámara de comercio, etc.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4792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EA114-CD8A-B2D8-DD67-36910C43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Factores para proyectar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202A80-8E13-31C6-2DFD-7E088B7159D8}"/>
              </a:ext>
            </a:extLst>
          </p:cNvPr>
          <p:cNvSpPr txBox="1"/>
          <p:nvPr/>
        </p:nvSpPr>
        <p:spPr>
          <a:xfrm>
            <a:off x="558800" y="269033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Para proyectar se parte de la base obtenida y a esta se le aplica una metodología de proyección: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Pueden ser datos obtenidos de alguna investigación subjetiva: Delphi; opinión de expertos, datos económicos como el PIB,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Datos obtenidos por el uso de algún modelo matemático como: Regresión lineal o promedios móviles.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72436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13788-BEF2-97F7-4272-70F33163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Ejercicio en clases: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3D8C48-2235-50B7-5D95-4A135466EF39}"/>
              </a:ext>
            </a:extLst>
          </p:cNvPr>
          <p:cNvSpPr txBox="1"/>
          <p:nvPr/>
        </p:nvSpPr>
        <p:spPr>
          <a:xfrm>
            <a:off x="457200" y="23892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Con los estados de resultados indicados efectúe proyección para 3 años. Realice 2 proyecciones distintas.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DCC1B6-6F9B-BCFF-5DB0-4ECCD72A72FA}"/>
              </a:ext>
            </a:extLst>
          </p:cNvPr>
          <p:cNvSpPr txBox="1"/>
          <p:nvPr/>
        </p:nvSpPr>
        <p:spPr>
          <a:xfrm>
            <a:off x="457200" y="336072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Use 2 métodos distintos para proyectar: </a:t>
            </a:r>
          </a:p>
          <a:p>
            <a:r>
              <a:rPr lang="es-ES" dirty="0"/>
              <a:t>	1. Variable subjetiva: Crecimiento del PIB proyectado 	para 	los 3 próximos años. </a:t>
            </a:r>
          </a:p>
          <a:p>
            <a:r>
              <a:rPr lang="es-ES" dirty="0"/>
              <a:t>       2. Regresión lineal simple.</a:t>
            </a:r>
          </a:p>
        </p:txBody>
      </p:sp>
    </p:spTree>
    <p:extLst>
      <p:ext uri="{BB962C8B-B14F-4D97-AF65-F5344CB8AC3E}">
        <p14:creationId xmlns:p14="http://schemas.microsoft.com/office/powerpoint/2010/main" val="37994019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17492-6EC3-9BEC-72F0-FEB6EBC4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22609"/>
            <a:ext cx="7685037" cy="998192"/>
          </a:xfrm>
        </p:spPr>
        <p:txBody>
          <a:bodyPr>
            <a:normAutofit/>
          </a:bodyPr>
          <a:lstStyle/>
          <a:p>
            <a:r>
              <a:rPr lang="es-CL" sz="3200" dirty="0"/>
              <a:t>Los estado de resultados son los siguientes: </a:t>
            </a:r>
            <a:br>
              <a:rPr lang="es-CL" sz="3200" dirty="0"/>
            </a:br>
            <a:r>
              <a:rPr lang="es-CL" sz="3200" dirty="0"/>
              <a:t>Use como base las ventas: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DEC7327-FFD1-7D49-F32A-3F98D1F6D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093589"/>
              </p:ext>
            </p:extLst>
          </p:nvPr>
        </p:nvGraphicFramePr>
        <p:xfrm>
          <a:off x="1090863" y="2069432"/>
          <a:ext cx="6849979" cy="3994486"/>
        </p:xfrm>
        <a:graphic>
          <a:graphicData uri="http://schemas.openxmlformats.org/drawingml/2006/table">
            <a:tbl>
              <a:tblPr/>
              <a:tblGrid>
                <a:gridCol w="524042">
                  <a:extLst>
                    <a:ext uri="{9D8B030D-6E8A-4147-A177-3AD203B41FA5}">
                      <a16:colId xmlns:a16="http://schemas.microsoft.com/office/drawing/2014/main" val="2681633278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969895395"/>
                    </a:ext>
                  </a:extLst>
                </a:gridCol>
                <a:gridCol w="1160379">
                  <a:extLst>
                    <a:ext uri="{9D8B030D-6E8A-4147-A177-3AD203B41FA5}">
                      <a16:colId xmlns:a16="http://schemas.microsoft.com/office/drawing/2014/main" val="1993126396"/>
                    </a:ext>
                  </a:extLst>
                </a:gridCol>
                <a:gridCol w="1160379">
                  <a:extLst>
                    <a:ext uri="{9D8B030D-6E8A-4147-A177-3AD203B41FA5}">
                      <a16:colId xmlns:a16="http://schemas.microsoft.com/office/drawing/2014/main" val="1294278261"/>
                    </a:ext>
                  </a:extLst>
                </a:gridCol>
                <a:gridCol w="1160379">
                  <a:extLst>
                    <a:ext uri="{9D8B030D-6E8A-4147-A177-3AD203B41FA5}">
                      <a16:colId xmlns:a16="http://schemas.microsoft.com/office/drawing/2014/main" val="3369309626"/>
                    </a:ext>
                  </a:extLst>
                </a:gridCol>
              </a:tblGrid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049344"/>
                  </a:ext>
                </a:extLst>
              </a:tr>
              <a:tr h="3865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Ventas netas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1.200,00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1.450,00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1.610,00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174767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Costos variables o de producción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-720,00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-835,00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-950,00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208525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Margen bruto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480,00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615,00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660,00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739606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G.A.V.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-240,00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-270,00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-300,00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852825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Margen operacional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240,00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345,00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360,00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479289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Intereses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-30,00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-32,00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-35,00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40370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Utilidad antes de impuestos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210,00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313,00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325,00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42391"/>
                  </a:ext>
                </a:extLst>
              </a:tr>
              <a:tr h="38656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Impuestos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-42,00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-62,60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-65,00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718074"/>
                  </a:ext>
                </a:extLst>
              </a:tr>
              <a:tr h="4026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6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Utilidad neta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168,00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250,40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260,00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762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9083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BE4CC03-EEDC-B694-9AF4-3B2B889080F4}"/>
              </a:ext>
            </a:extLst>
          </p:cNvPr>
          <p:cNvSpPr txBox="1"/>
          <p:nvPr/>
        </p:nvSpPr>
        <p:spPr>
          <a:xfrm>
            <a:off x="741680" y="3562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Para proyectar siempre use como dato las ventas. </a:t>
            </a:r>
          </a:p>
          <a:p>
            <a:r>
              <a:rPr lang="es-CL" dirty="0"/>
              <a:t>Para las otras variables puede mantener la misma relación porcentual.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14FF66-61D6-ECB7-E581-D3AFE9F102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33" t="30519" r="18667" b="36148"/>
          <a:stretch>
            <a:fillRect/>
          </a:stretch>
        </p:blipFill>
        <p:spPr>
          <a:xfrm>
            <a:off x="741680" y="1544320"/>
            <a:ext cx="573024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721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C1B28A1-BFC4-F2BC-8A3E-3C31F7DD5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737611"/>
              </p:ext>
            </p:extLst>
          </p:nvPr>
        </p:nvGraphicFramePr>
        <p:xfrm>
          <a:off x="5830094" y="2870835"/>
          <a:ext cx="4254500" cy="3741420"/>
        </p:xfrm>
        <a:graphic>
          <a:graphicData uri="http://schemas.openxmlformats.org/drawingml/2006/table">
            <a:tbl>
              <a:tblPr/>
              <a:tblGrid>
                <a:gridCol w="2124398">
                  <a:extLst>
                    <a:ext uri="{9D8B030D-6E8A-4147-A177-3AD203B41FA5}">
                      <a16:colId xmlns:a16="http://schemas.microsoft.com/office/drawing/2014/main" val="2393551112"/>
                    </a:ext>
                  </a:extLst>
                </a:gridCol>
                <a:gridCol w="710034">
                  <a:extLst>
                    <a:ext uri="{9D8B030D-6E8A-4147-A177-3AD203B41FA5}">
                      <a16:colId xmlns:a16="http://schemas.microsoft.com/office/drawing/2014/main" val="2736860522"/>
                    </a:ext>
                  </a:extLst>
                </a:gridCol>
                <a:gridCol w="710034">
                  <a:extLst>
                    <a:ext uri="{9D8B030D-6E8A-4147-A177-3AD203B41FA5}">
                      <a16:colId xmlns:a16="http://schemas.microsoft.com/office/drawing/2014/main" val="2452351604"/>
                    </a:ext>
                  </a:extLst>
                </a:gridCol>
                <a:gridCol w="710034">
                  <a:extLst>
                    <a:ext uri="{9D8B030D-6E8A-4147-A177-3AD203B41FA5}">
                      <a16:colId xmlns:a16="http://schemas.microsoft.com/office/drawing/2014/main" val="136426464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2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Proyección Regresión Lineal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3419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2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2353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Ventas netas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1.830,00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2.035,00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2.240,00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9628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Costos variables o de producción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-1.079,81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-1.200,78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-1.321,74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7630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Margen bruto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750,19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834,22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918,26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203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G.A.V.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-340,99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-379,19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-417,39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7021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Margen operacional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409,19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455,03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500,87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9435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Intereses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-39,78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-44,24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-48,70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521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Utilidad antes de impuestos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369,41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410,79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452,17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199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Impuestos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-73,88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-82,16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-90,43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4938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Utilidad neta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295,53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328,63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361,74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982563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6D73EF5-2803-B50F-E076-1758C6AF7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20822"/>
              </p:ext>
            </p:extLst>
          </p:nvPr>
        </p:nvGraphicFramePr>
        <p:xfrm>
          <a:off x="607854" y="385445"/>
          <a:ext cx="4254500" cy="3703320"/>
        </p:xfrm>
        <a:graphic>
          <a:graphicData uri="http://schemas.openxmlformats.org/drawingml/2006/table">
            <a:tbl>
              <a:tblPr/>
              <a:tblGrid>
                <a:gridCol w="2124398">
                  <a:extLst>
                    <a:ext uri="{9D8B030D-6E8A-4147-A177-3AD203B41FA5}">
                      <a16:colId xmlns:a16="http://schemas.microsoft.com/office/drawing/2014/main" val="2277035321"/>
                    </a:ext>
                  </a:extLst>
                </a:gridCol>
                <a:gridCol w="710034">
                  <a:extLst>
                    <a:ext uri="{9D8B030D-6E8A-4147-A177-3AD203B41FA5}">
                      <a16:colId xmlns:a16="http://schemas.microsoft.com/office/drawing/2014/main" val="3736481970"/>
                    </a:ext>
                  </a:extLst>
                </a:gridCol>
                <a:gridCol w="710034">
                  <a:extLst>
                    <a:ext uri="{9D8B030D-6E8A-4147-A177-3AD203B41FA5}">
                      <a16:colId xmlns:a16="http://schemas.microsoft.com/office/drawing/2014/main" val="2567991242"/>
                    </a:ext>
                  </a:extLst>
                </a:gridCol>
                <a:gridCol w="710034">
                  <a:extLst>
                    <a:ext uri="{9D8B030D-6E8A-4147-A177-3AD203B41FA5}">
                      <a16:colId xmlns:a16="http://schemas.microsoft.com/office/drawing/2014/main" val="3406355741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4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Proyección por PIB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2901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2,50%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2,30%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2,20%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3062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0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2027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7918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Ventas netas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1.650,25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1.688,21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1.725,35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100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Costos variables o de producción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-973,75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-996,15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-1.018,06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327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Margen bruto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676,50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692,06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707,28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8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G.A.V.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-307,50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-314,57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-321,49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5991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Margen operacional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369,00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377,49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385,79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1231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Intereses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-35,88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-36,70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-37,51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0944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Utilidad antes de impuestos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333,13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340,79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348,28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226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Impuestos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-66,63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-68,16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-69,66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489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Utilidad neta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266,50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272,63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278,63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278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869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914C6-8308-23D8-C8AB-82C4B58E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N°1 de proyección método subjetivos de las ventas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E375AF-8716-6912-FD41-911CA3B2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efectúo una encuesta a los gerentes comerciales de empresas que venden protectores de pantalla para celulares. En esta se les preguntó cuanto es lo que vendieron en unidades los 3 últimos años. Además, se les consultó cómo creen que se moverán las ventas en los 3 años siguientes. Los resultados son los siguientes: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95108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10CE8-8AE1-4113-DDDE-D4F81180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627"/>
            <a:ext cx="7685037" cy="720484"/>
          </a:xfrm>
        </p:spPr>
        <p:txBody>
          <a:bodyPr/>
          <a:lstStyle/>
          <a:p>
            <a:r>
              <a:rPr lang="es-CL" dirty="0"/>
              <a:t>Datos para proyectar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A03E4EC-2E0F-2DFD-DD87-B75E82BA4D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2656781"/>
              </p:ext>
            </p:extLst>
          </p:nvPr>
        </p:nvGraphicFramePr>
        <p:xfrm>
          <a:off x="457200" y="1995488"/>
          <a:ext cx="7685088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473">
                  <a:extLst>
                    <a:ext uri="{9D8B030D-6E8A-4147-A177-3AD203B41FA5}">
                      <a16:colId xmlns:a16="http://schemas.microsoft.com/office/drawing/2014/main" val="2711538954"/>
                    </a:ext>
                  </a:extLst>
                </a:gridCol>
                <a:gridCol w="1579071">
                  <a:extLst>
                    <a:ext uri="{9D8B030D-6E8A-4147-A177-3AD203B41FA5}">
                      <a16:colId xmlns:a16="http://schemas.microsoft.com/office/drawing/2014/main" val="487456997"/>
                    </a:ext>
                  </a:extLst>
                </a:gridCol>
                <a:gridCol w="1921272">
                  <a:extLst>
                    <a:ext uri="{9D8B030D-6E8A-4147-A177-3AD203B41FA5}">
                      <a16:colId xmlns:a16="http://schemas.microsoft.com/office/drawing/2014/main" val="4024801601"/>
                    </a:ext>
                  </a:extLst>
                </a:gridCol>
                <a:gridCol w="1921272">
                  <a:extLst>
                    <a:ext uri="{9D8B030D-6E8A-4147-A177-3AD203B41FA5}">
                      <a16:colId xmlns:a16="http://schemas.microsoft.com/office/drawing/2014/main" val="2223508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Gerente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Gerente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Gerente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2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Ventas unidades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120.000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74.000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90.000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05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Ventas unidades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85.000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50.000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80.000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15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Ventas unidades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100.000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70.000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85.000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489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937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Crecimiento esperado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3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13%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01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81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  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73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17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914C6-8308-23D8-C8AB-82C4B58E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N°2 de proyección método subjetivos de las ventas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E375AF-8716-6912-FD41-911CA3B2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Estamos efectuando un nuevo negocio del que no tenemos mucha información de demanda. Por lo que se hace un focus group para tener información de compra de nuestro producto. </a:t>
            </a:r>
          </a:p>
          <a:p>
            <a:r>
              <a:rPr lang="es-ES" dirty="0"/>
              <a:t>Lo que se quiere vender son galletas sin gluten. Por lo que se invita al focus group a personas celiacas.</a:t>
            </a:r>
          </a:p>
          <a:p>
            <a:r>
              <a:rPr lang="es-ES" dirty="0"/>
              <a:t>Se sabe que en Chile aproximadamente el 1% de la población es celiaca.</a:t>
            </a:r>
          </a:p>
          <a:p>
            <a:r>
              <a:rPr lang="es-ES" dirty="0"/>
              <a:t>Según el focus group comprarían galletas especiales aproximadamente el 12% del total de celiacos. Esto de manera mensual.</a:t>
            </a:r>
          </a:p>
          <a:p>
            <a:r>
              <a:rPr lang="es-ES" dirty="0"/>
              <a:t>Se cree que se tendrá un 20% del mercado total.</a:t>
            </a:r>
          </a:p>
          <a:p>
            <a:r>
              <a:rPr lang="es-ES" dirty="0"/>
              <a:t>El mercado podría crecer a un nivel del 5% anual.</a:t>
            </a:r>
          </a:p>
          <a:p>
            <a:r>
              <a:rPr lang="es-ES" dirty="0"/>
              <a:t>Se pide que proyecte la demanda para 3 años.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56079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C51A9-4E99-E4F9-0449-879DD91A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Presupuesto de materias primas, Mano de obra directa y CIF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5C2D2A-0854-A879-9E3F-95948C546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presupuesto de producción se hace en función de las ventas proyectadas.</a:t>
            </a:r>
          </a:p>
          <a:p>
            <a:r>
              <a:rPr lang="es-ES" dirty="0"/>
              <a:t>Es decir, se proyecta el consumo de materias primas, mano de obra directa y costos indirectos de fabricación requeridos para cubrir las ventas necesarias.</a:t>
            </a:r>
          </a:p>
          <a:p>
            <a:r>
              <a:rPr lang="es-ES" dirty="0"/>
              <a:t>También, se deben revisar la capacidad del equipamientos e infraestructura que tiene la empresa, de tal forma de medir si logra cubrir el requerimiento. Si no es así, se debe invertir en lo necesario.</a:t>
            </a:r>
          </a:p>
          <a:p>
            <a:r>
              <a:rPr lang="es-ES" dirty="0"/>
              <a:t>Puede inclusive considerar la incorporación nuevas plantas, nuevos equipos e inclusive nuevo personal.</a:t>
            </a:r>
          </a:p>
        </p:txBody>
      </p:sp>
    </p:spTree>
    <p:extLst>
      <p:ext uri="{BB962C8B-B14F-4D97-AF65-F5344CB8AC3E}">
        <p14:creationId xmlns:p14="http://schemas.microsoft.com/office/powerpoint/2010/main" val="9138681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7BF87-633A-C276-33B2-09D9503B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863571"/>
          </a:xfrm>
        </p:spPr>
        <p:txBody>
          <a:bodyPr>
            <a:normAutofit fontScale="90000"/>
          </a:bodyPr>
          <a:lstStyle/>
          <a:p>
            <a:r>
              <a:rPr lang="es-ES" dirty="0"/>
              <a:t>Ejercicio 3: Presupuesto de producción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5597-721D-8558-7639-0EF0A573C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6713"/>
            <a:ext cx="8280400" cy="4080250"/>
          </a:xfrm>
        </p:spPr>
        <p:txBody>
          <a:bodyPr>
            <a:normAutofit/>
          </a:bodyPr>
          <a:lstStyle/>
          <a:p>
            <a:r>
              <a:rPr lang="es-ES" dirty="0"/>
              <a:t>Considerando el ejercicio de las galletas para celiacos efectúe el presupuesto de producción.</a:t>
            </a:r>
          </a:p>
          <a:p>
            <a:r>
              <a:rPr lang="es-ES" dirty="0"/>
              <a:t>Se tiene los siguientes datos:</a:t>
            </a:r>
          </a:p>
          <a:p>
            <a:pPr lvl="1"/>
            <a:r>
              <a:rPr lang="es-ES" dirty="0"/>
              <a:t>Existe una máquina que puede producir 900 unidades de galletas mensuales. Tiene un valor de $150.000. y su vida útil es de 24 meses.</a:t>
            </a:r>
          </a:p>
          <a:p>
            <a:pPr lvl="1"/>
            <a:r>
              <a:rPr lang="es-ES" dirty="0"/>
              <a:t>La materia prima que se requiera por cada 800 galletas es de 45 kilos de harina, 2 kilos de levadura, preservantes por 8 kilos, aditivos 4 kilos, saborizantes 5 kilos. Los precios de estos productos son: Harina $1.000 el kilo; Levadura $5.000 kilo; preservantes $ 8.000; aditivos $2.000 kilo; saborizantes $7.000</a:t>
            </a:r>
          </a:p>
          <a:p>
            <a:pPr lvl="1"/>
            <a:r>
              <a:rPr lang="es-ES" dirty="0"/>
              <a:t>La mano de obra tiene un costo de $5.000 por cada 100 galletas.</a:t>
            </a:r>
          </a:p>
          <a:p>
            <a:pPr lvl="1"/>
            <a:r>
              <a:rPr lang="es-ES" dirty="0"/>
              <a:t>Los costos indirectos de fabricación son de $3.000 por cada 100 galletas.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5730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82895-A2FE-20BA-A29A-4743824F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Presupuesto de un producto o servicio.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2AD1E3-2F4B-6443-91CE-9A53E6B84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 presupuesto corresponde al detalle de costo y gastos necesarios para fabricar un producto o entregar un servicio.</a:t>
            </a:r>
          </a:p>
          <a:p>
            <a:r>
              <a:rPr lang="es-ES" dirty="0"/>
              <a:t>También, considera la infraestructura necesaria.</a:t>
            </a:r>
          </a:p>
        </p:txBody>
      </p:sp>
    </p:spTree>
    <p:extLst>
      <p:ext uri="{BB962C8B-B14F-4D97-AF65-F5344CB8AC3E}">
        <p14:creationId xmlns:p14="http://schemas.microsoft.com/office/powerpoint/2010/main" val="21657401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4070C6F-F418-07EF-20F4-FFFEE52C9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216751"/>
              </p:ext>
            </p:extLst>
          </p:nvPr>
        </p:nvGraphicFramePr>
        <p:xfrm>
          <a:off x="166256" y="118753"/>
          <a:ext cx="7053942" cy="4631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53942">
                  <a:extLst>
                    <a:ext uri="{9D8B030D-6E8A-4147-A177-3AD203B41FA5}">
                      <a16:colId xmlns:a16="http://schemas.microsoft.com/office/drawing/2014/main" val="4076522113"/>
                    </a:ext>
                  </a:extLst>
                </a:gridCol>
              </a:tblGrid>
              <a:tr h="405654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Su negocio está con la intención de abrir mercado en la V región.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1980624712"/>
                  </a:ext>
                </a:extLst>
              </a:tr>
              <a:tr h="520621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El producto que quiere ofrecer en este mercado son betoneras reacondicionadas.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3210767044"/>
                  </a:ext>
                </a:extLst>
              </a:tr>
              <a:tr h="635589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La verdad no se conoce mucho de este mercado, no hay información primaria para hacer un análisis.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2667525301"/>
                  </a:ext>
                </a:extLst>
              </a:tr>
              <a:tr h="463137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Por lo que decide juntarse con personas con gran conocimiento del mercado. 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2439800398"/>
                  </a:ext>
                </a:extLst>
              </a:tr>
              <a:tr h="405654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En la V región hay 3.000 empresas dedicadas a la construcción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3975664961"/>
                  </a:ext>
                </a:extLst>
              </a:tr>
              <a:tr h="405654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De estas el 10% son considerados pequeños y medianos contratistas.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3856784321"/>
                  </a:ext>
                </a:extLst>
              </a:tr>
              <a:tr h="290686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El resto son consideradas grandes empresas.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4271985059"/>
                  </a:ext>
                </a:extLst>
              </a:tr>
              <a:tr h="578106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De las pequeñas y medianas empresas se estima que comprarían las betoneras reacondicionadas el 6%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1196637289"/>
                  </a:ext>
                </a:extLst>
              </a:tr>
              <a:tr h="635589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Adicionalmente, hay un 2% de grandes empresas que siempre están comprando betoneras reacondicionadas.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792115426"/>
                  </a:ext>
                </a:extLst>
              </a:tr>
              <a:tr h="290686">
                <a:tc>
                  <a:txBody>
                    <a:bodyPr/>
                    <a:lstStyle/>
                    <a:p>
                      <a:pPr algn="l" fontAlgn="b"/>
                      <a:r>
                        <a:rPr lang="es-ES" sz="1400" u="none" strike="noStrike" dirty="0">
                          <a:effectLst/>
                          <a:latin typeface="Abadi" panose="020B0604020104020204" pitchFamily="34" charset="0"/>
                        </a:rPr>
                        <a:t>·         El mercado crecerá a un nivel del 2,5% anual.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2877" marR="2877" marT="2877" marB="0"/>
                </a:tc>
                <a:extLst>
                  <a:ext uri="{0D108BD9-81ED-4DB2-BD59-A6C34878D82A}">
                    <a16:rowId xmlns:a16="http://schemas.microsoft.com/office/drawing/2014/main" val="2367324761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E84AB69-0BDA-3481-91F6-50762A3EC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09424"/>
              </p:ext>
            </p:extLst>
          </p:nvPr>
        </p:nvGraphicFramePr>
        <p:xfrm>
          <a:off x="6340212" y="4324003"/>
          <a:ext cx="5334000" cy="24152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42367486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301235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78981030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6897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1077497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405181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32958721"/>
                    </a:ext>
                  </a:extLst>
                </a:gridCol>
              </a:tblGrid>
              <a:tr h="217198">
                <a:tc>
                  <a:txBody>
                    <a:bodyPr/>
                    <a:lstStyle/>
                    <a:p>
                      <a:pPr algn="l" fontAlgn="b"/>
                      <a:r>
                        <a:rPr lang="es-CL" sz="1100" u="none" strike="noStrike">
                          <a:effectLst/>
                        </a:rPr>
                        <a:t>Preguntas:</a:t>
                      </a:r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6490171"/>
                  </a:ext>
                </a:extLst>
              </a:tr>
              <a:tr h="217198"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C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4330087"/>
                  </a:ext>
                </a:extLst>
              </a:tr>
              <a:tr h="393129"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1.       ¿Cuántas empresas pequeñas y medianas dedicadas a la construcción hay en la V región?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727073"/>
                  </a:ext>
                </a:extLst>
              </a:tr>
              <a:tr h="217198"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2.       ¿Cuántas empresas grandes dedicadas a la construcción hay en la V región?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195467"/>
                  </a:ext>
                </a:extLst>
              </a:tr>
              <a:tr h="393129"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3.       ¿Cuántas empresas dedicadas a la construcción que son pequeñas y medianas podrían comprar mensualmente nuestras betoneras?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05493"/>
                  </a:ext>
                </a:extLst>
              </a:tr>
              <a:tr h="393129"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4.       ¿Cuántas empresas dedicadas a la construcción que son grandes podrían comprar mensualmente nuestras betoneras? 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312288"/>
                  </a:ext>
                </a:extLst>
              </a:tr>
              <a:tr h="584263">
                <a:tc gridSpan="7">
                  <a:txBody>
                    <a:bodyPr/>
                    <a:lstStyle/>
                    <a:p>
                      <a:pPr algn="l" fontAlgn="b"/>
                      <a:r>
                        <a:rPr lang="es-ES" sz="1200" u="none" strike="noStrike" dirty="0">
                          <a:effectLst/>
                        </a:rPr>
                        <a:t>5.       Considerando las empresas dedicadas a la construcción grandes, medianas y pequeñas ¿cuántas betoneras nos podrían comprar anualmente el: 1er., 2do, y 3er. Año? Considere el porcentaje de crecimiento indicado. (20 puntos)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90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7571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2C523-E1DD-BC51-66F3-DE6E1726D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TAREA con nota:</a:t>
            </a:r>
            <a:br>
              <a:rPr lang="es-CL" dirty="0"/>
            </a:br>
            <a:r>
              <a:rPr lang="es-CL" dirty="0"/>
              <a:t>Ejercicio 4 de productos o servicios.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538ECC-A8C4-60BF-A876-F9DEB87F9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6713"/>
            <a:ext cx="7685037" cy="4080250"/>
          </a:xfrm>
        </p:spPr>
        <p:txBody>
          <a:bodyPr>
            <a:normAutofit/>
          </a:bodyPr>
          <a:lstStyle/>
          <a:p>
            <a:r>
              <a:rPr lang="es-CL" dirty="0"/>
              <a:t>Usted con su familia a decidido empezar un nuevo negocio de venta e instalación de aire acondicionado.</a:t>
            </a:r>
          </a:p>
          <a:p>
            <a:r>
              <a:rPr lang="es-CL" dirty="0"/>
              <a:t>Para esto debe efectuar un presupuesto de instalación.</a:t>
            </a:r>
          </a:p>
          <a:p>
            <a:r>
              <a:rPr lang="es-CL" dirty="0"/>
              <a:t>Tarea: determine lo que debe considerar en cada instalación:</a:t>
            </a:r>
          </a:p>
          <a:p>
            <a:pPr lvl="1"/>
            <a:r>
              <a:rPr lang="es-CL" dirty="0"/>
              <a:t>Considere: Equipos de aire </a:t>
            </a:r>
            <a:r>
              <a:rPr lang="es-CL"/>
              <a:t>acondicionado Split de </a:t>
            </a:r>
            <a:r>
              <a:rPr lang="es-CL" dirty="0"/>
              <a:t>18.000 BTU</a:t>
            </a:r>
          </a:p>
          <a:p>
            <a:pPr lvl="1"/>
            <a:r>
              <a:rPr lang="es-CL" dirty="0"/>
              <a:t>Las herramientas que necesitará. ( Son inversión)</a:t>
            </a:r>
          </a:p>
          <a:p>
            <a:pPr lvl="1"/>
            <a:r>
              <a:rPr lang="es-CL" dirty="0"/>
              <a:t>Los materiales que requerirá para cada instalación.</a:t>
            </a:r>
          </a:p>
          <a:p>
            <a:pPr lvl="1"/>
            <a:r>
              <a:rPr lang="es-CL" dirty="0"/>
              <a:t>Debe presentar su tarea en un informe, con introducción, desarrollo y conclusión.</a:t>
            </a:r>
          </a:p>
          <a:p>
            <a:pPr lvl="1"/>
            <a:r>
              <a:rPr lang="es-CL" dirty="0"/>
              <a:t>El informe debe contestar las 3 preguntas que se indican.</a:t>
            </a:r>
          </a:p>
        </p:txBody>
      </p:sp>
    </p:spTree>
    <p:extLst>
      <p:ext uri="{BB962C8B-B14F-4D97-AF65-F5344CB8AC3E}">
        <p14:creationId xmlns:p14="http://schemas.microsoft.com/office/powerpoint/2010/main" val="42730402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F00FF-CE47-DFB6-A25A-140E345E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Desarrollo de tarea de presupuesto de instalación de equipos: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C9B27B-9BA6-793E-4605-8A91DC616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45091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FCE21-2F64-B16C-9E06-6401CBC0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Presupuesto de caja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C9C67F-03D0-8F53-8C78-BDF4A14D1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4498982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5302</TotalTime>
  <Words>5981</Words>
  <Application>Microsoft Office PowerPoint</Application>
  <PresentationFormat>Panorámica</PresentationFormat>
  <Paragraphs>729</Paragraphs>
  <Slides>66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7" baseType="lpstr">
      <vt:lpstr>Abadi</vt:lpstr>
      <vt:lpstr>Aptos</vt:lpstr>
      <vt:lpstr>Aptos Narrow</vt:lpstr>
      <vt:lpstr>Arial</vt:lpstr>
      <vt:lpstr>Calibri</vt:lpstr>
      <vt:lpstr>Courier New</vt:lpstr>
      <vt:lpstr>Gill Sans Nova</vt:lpstr>
      <vt:lpstr>Open Sans</vt:lpstr>
      <vt:lpstr>Symbol</vt:lpstr>
      <vt:lpstr>Times New Roman</vt:lpstr>
      <vt:lpstr>TropicVTI</vt:lpstr>
      <vt:lpstr>Sistema presupuestario</vt:lpstr>
      <vt:lpstr>¿Qué es una proyección de presupuesto?</vt:lpstr>
      <vt:lpstr>Naturaleza de la proyección del presupuesto</vt:lpstr>
      <vt:lpstr>¿Qué elementos necesitamos para proyectar un presupuesto?</vt:lpstr>
      <vt:lpstr>Responsabilidad del presupuesto</vt:lpstr>
      <vt:lpstr>Los presupuestos pueden ser   Operativos vs. Financieros</vt:lpstr>
      <vt:lpstr>Tipos de proyección de presupuestos</vt:lpstr>
      <vt:lpstr>1) El presupuesto operativo</vt:lpstr>
      <vt:lpstr>Componentes clave</vt:lpstr>
      <vt:lpstr>Función </vt:lpstr>
      <vt:lpstr>2) Presupuesto Financiero en una Pequeña Industria</vt:lpstr>
      <vt:lpstr>Componentes clave </vt:lpstr>
      <vt:lpstr>Presentación de PowerPoint</vt:lpstr>
      <vt:lpstr>Función </vt:lpstr>
      <vt:lpstr>Presentación de PowerPoint</vt:lpstr>
      <vt:lpstr>Presentación de PowerPoint</vt:lpstr>
      <vt:lpstr>Presentación de PowerPoint</vt:lpstr>
      <vt:lpstr>Lo necesario para hacer un presupuesto es: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Los distintos de presupuestos</vt:lpstr>
      <vt:lpstr>El presupuesto de ventas</vt:lpstr>
      <vt:lpstr>Análisis de la demanda</vt:lpstr>
      <vt:lpstr>¿Cómo proyectar las ventas?</vt:lpstr>
      <vt:lpstr>Método Base cero</vt:lpstr>
      <vt:lpstr>Métodos Convencional</vt:lpstr>
      <vt:lpstr>Factores para proyectar</vt:lpstr>
      <vt:lpstr>Ejercicio en clases:</vt:lpstr>
      <vt:lpstr>Los estado de resultados son los siguientes:  Use como base las ventas:</vt:lpstr>
      <vt:lpstr>Presentación de PowerPoint</vt:lpstr>
      <vt:lpstr>Presentación de PowerPoint</vt:lpstr>
      <vt:lpstr>Ejercicio N°1 de proyección método subjetivos de las ventas</vt:lpstr>
      <vt:lpstr>Datos para proyectar</vt:lpstr>
      <vt:lpstr>Ejercicio N°2 de proyección método subjetivos de las ventas</vt:lpstr>
      <vt:lpstr>Presupuesto de materias primas, Mano de obra directa y CIF</vt:lpstr>
      <vt:lpstr>Ejercicio 3: Presupuesto de producción</vt:lpstr>
      <vt:lpstr>Presupuesto de un producto o servicio.</vt:lpstr>
      <vt:lpstr>Presentación de PowerPoint</vt:lpstr>
      <vt:lpstr>TAREA con nota: Ejercicio 4 de productos o servicios.</vt:lpstr>
      <vt:lpstr>Desarrollo de tarea de presupuesto de instalación de equipos:</vt:lpstr>
      <vt:lpstr>Presupuesto de caja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presupuestario</dc:title>
  <dc:creator>FERNANDO JOSE LAGOS ORTIZ</dc:creator>
  <cp:lastModifiedBy>Fernando Lagos</cp:lastModifiedBy>
  <cp:revision>24</cp:revision>
  <dcterms:created xsi:type="dcterms:W3CDTF">2022-09-22T21:34:48Z</dcterms:created>
  <dcterms:modified xsi:type="dcterms:W3CDTF">2026-09-23T14:08:24Z</dcterms:modified>
</cp:coreProperties>
</file>