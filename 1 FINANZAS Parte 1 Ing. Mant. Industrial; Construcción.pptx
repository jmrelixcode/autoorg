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95"/>
  </p:notesMasterIdLst>
  <p:sldIdLst>
    <p:sldId id="256" r:id="rId3"/>
    <p:sldId id="582" r:id="rId4"/>
    <p:sldId id="583" r:id="rId5"/>
    <p:sldId id="585" r:id="rId6"/>
    <p:sldId id="584" r:id="rId7"/>
    <p:sldId id="586" r:id="rId8"/>
    <p:sldId id="587" r:id="rId9"/>
    <p:sldId id="588" r:id="rId10"/>
    <p:sldId id="630" r:id="rId11"/>
    <p:sldId id="625" r:id="rId12"/>
    <p:sldId id="626" r:id="rId13"/>
    <p:sldId id="264" r:id="rId14"/>
    <p:sldId id="265" r:id="rId15"/>
    <p:sldId id="266" r:id="rId16"/>
    <p:sldId id="618" r:id="rId17"/>
    <p:sldId id="627" r:id="rId18"/>
    <p:sldId id="628" r:id="rId19"/>
    <p:sldId id="629" r:id="rId20"/>
    <p:sldId id="467" r:id="rId21"/>
    <p:sldId id="468" r:id="rId22"/>
    <p:sldId id="466" r:id="rId23"/>
    <p:sldId id="589" r:id="rId24"/>
    <p:sldId id="258" r:id="rId25"/>
    <p:sldId id="259" r:id="rId26"/>
    <p:sldId id="300" r:id="rId27"/>
    <p:sldId id="297" r:id="rId28"/>
    <p:sldId id="301" r:id="rId29"/>
    <p:sldId id="298" r:id="rId30"/>
    <p:sldId id="299" r:id="rId31"/>
    <p:sldId id="611" r:id="rId32"/>
    <p:sldId id="614" r:id="rId33"/>
    <p:sldId id="616" r:id="rId34"/>
    <p:sldId id="479" r:id="rId35"/>
    <p:sldId id="480" r:id="rId36"/>
    <p:sldId id="481" r:id="rId37"/>
    <p:sldId id="482" r:id="rId38"/>
    <p:sldId id="485" r:id="rId39"/>
    <p:sldId id="484" r:id="rId40"/>
    <p:sldId id="594" r:id="rId41"/>
    <p:sldId id="595" r:id="rId42"/>
    <p:sldId id="613" r:id="rId43"/>
    <p:sldId id="469" r:id="rId44"/>
    <p:sldId id="617" r:id="rId45"/>
    <p:sldId id="619" r:id="rId46"/>
    <p:sldId id="470" r:id="rId47"/>
    <p:sldId id="472" r:id="rId48"/>
    <p:sldId id="474" r:id="rId49"/>
    <p:sldId id="486" r:id="rId50"/>
    <p:sldId id="620" r:id="rId51"/>
    <p:sldId id="621" r:id="rId52"/>
    <p:sldId id="622" r:id="rId53"/>
    <p:sldId id="623" r:id="rId54"/>
    <p:sldId id="477" r:id="rId55"/>
    <p:sldId id="478" r:id="rId56"/>
    <p:sldId id="475" r:id="rId57"/>
    <p:sldId id="476" r:id="rId58"/>
    <p:sldId id="516" r:id="rId59"/>
    <p:sldId id="528" r:id="rId60"/>
    <p:sldId id="581" r:id="rId61"/>
    <p:sldId id="518" r:id="rId62"/>
    <p:sldId id="519" r:id="rId63"/>
    <p:sldId id="520" r:id="rId64"/>
    <p:sldId id="523" r:id="rId65"/>
    <p:sldId id="624" r:id="rId66"/>
    <p:sldId id="612" r:id="rId67"/>
    <p:sldId id="600" r:id="rId68"/>
    <p:sldId id="601" r:id="rId69"/>
    <p:sldId id="602" r:id="rId70"/>
    <p:sldId id="603" r:id="rId71"/>
    <p:sldId id="604" r:id="rId72"/>
    <p:sldId id="605" r:id="rId73"/>
    <p:sldId id="606" r:id="rId74"/>
    <p:sldId id="607" r:id="rId75"/>
    <p:sldId id="608" r:id="rId76"/>
    <p:sldId id="609" r:id="rId77"/>
    <p:sldId id="610" r:id="rId78"/>
    <p:sldId id="590" r:id="rId79"/>
    <p:sldId id="591" r:id="rId80"/>
    <p:sldId id="592" r:id="rId81"/>
    <p:sldId id="593" r:id="rId82"/>
    <p:sldId id="597" r:id="rId83"/>
    <p:sldId id="598" r:id="rId84"/>
    <p:sldId id="599" r:id="rId85"/>
    <p:sldId id="436" r:id="rId86"/>
    <p:sldId id="268" r:id="rId87"/>
    <p:sldId id="269" r:id="rId88"/>
    <p:sldId id="270" r:id="rId89"/>
    <p:sldId id="303" r:id="rId90"/>
    <p:sldId id="309" r:id="rId91"/>
    <p:sldId id="326" r:id="rId92"/>
    <p:sldId id="351" r:id="rId93"/>
    <p:sldId id="328"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envenido" id="{E75E278A-FF0E-49A4-B170-79828D63BBAD}">
          <p14:sldIdLst>
            <p14:sldId id="256"/>
            <p14:sldId id="582"/>
            <p14:sldId id="583"/>
            <p14:sldId id="585"/>
            <p14:sldId id="584"/>
            <p14:sldId id="586"/>
            <p14:sldId id="587"/>
            <p14:sldId id="588"/>
            <p14:sldId id="630"/>
            <p14:sldId id="625"/>
            <p14:sldId id="626"/>
            <p14:sldId id="264"/>
            <p14:sldId id="265"/>
            <p14:sldId id="266"/>
            <p14:sldId id="618"/>
            <p14:sldId id="627"/>
            <p14:sldId id="628"/>
            <p14:sldId id="629"/>
            <p14:sldId id="467"/>
            <p14:sldId id="468"/>
            <p14:sldId id="466"/>
            <p14:sldId id="589"/>
            <p14:sldId id="258"/>
            <p14:sldId id="259"/>
            <p14:sldId id="300"/>
            <p14:sldId id="297"/>
            <p14:sldId id="301"/>
            <p14:sldId id="298"/>
            <p14:sldId id="299"/>
            <p14:sldId id="611"/>
            <p14:sldId id="614"/>
            <p14:sldId id="616"/>
            <p14:sldId id="479"/>
            <p14:sldId id="480"/>
            <p14:sldId id="481"/>
            <p14:sldId id="482"/>
            <p14:sldId id="485"/>
            <p14:sldId id="484"/>
            <p14:sldId id="594"/>
            <p14:sldId id="595"/>
            <p14:sldId id="613"/>
            <p14:sldId id="469"/>
            <p14:sldId id="617"/>
            <p14:sldId id="619"/>
            <p14:sldId id="470"/>
            <p14:sldId id="472"/>
            <p14:sldId id="474"/>
            <p14:sldId id="486"/>
            <p14:sldId id="620"/>
            <p14:sldId id="621"/>
            <p14:sldId id="622"/>
            <p14:sldId id="623"/>
            <p14:sldId id="477"/>
            <p14:sldId id="478"/>
            <p14:sldId id="475"/>
            <p14:sldId id="476"/>
            <p14:sldId id="516"/>
            <p14:sldId id="528"/>
            <p14:sldId id="581"/>
            <p14:sldId id="518"/>
            <p14:sldId id="519"/>
            <p14:sldId id="520"/>
            <p14:sldId id="523"/>
            <p14:sldId id="624"/>
            <p14:sldId id="612"/>
            <p14:sldId id="600"/>
            <p14:sldId id="601"/>
            <p14:sldId id="602"/>
            <p14:sldId id="603"/>
            <p14:sldId id="604"/>
            <p14:sldId id="605"/>
            <p14:sldId id="606"/>
            <p14:sldId id="607"/>
            <p14:sldId id="608"/>
            <p14:sldId id="609"/>
            <p14:sldId id="610"/>
            <p14:sldId id="590"/>
            <p14:sldId id="591"/>
            <p14:sldId id="592"/>
            <p14:sldId id="593"/>
            <p14:sldId id="597"/>
            <p14:sldId id="598"/>
            <p14:sldId id="599"/>
            <p14:sldId id="436"/>
            <p14:sldId id="268"/>
            <p14:sldId id="269"/>
            <p14:sldId id="270"/>
            <p14:sldId id="303"/>
            <p14:sldId id="309"/>
            <p14:sldId id="326"/>
            <p14:sldId id="351"/>
            <p14:sldId id="328"/>
          </p14:sldIdLst>
        </p14:section>
      </p14:sectionLst>
    </p:ex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8"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EFD5A2"/>
    <a:srgbClr val="3B3026"/>
    <a:srgbClr val="D2B4A6"/>
    <a:srgbClr val="734F29"/>
    <a:srgbClr val="DD462F"/>
    <a:srgbClr val="AEB785"/>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E3A26A-73A3-46C7-93D0-421383543E5B}" v="207" dt="2023-08-16T15:58:37.86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42" autoAdjust="0"/>
    <p:restoredTop sz="94280" autoAdjust="0"/>
  </p:normalViewPr>
  <p:slideViewPr>
    <p:cSldViewPr snapToGrid="0">
      <p:cViewPr>
        <p:scale>
          <a:sx n="80" d="100"/>
          <a:sy n="80" d="100"/>
        </p:scale>
        <p:origin x="1018" y="-62"/>
      </p:cViewPr>
      <p:guideLst>
        <p:guide orient="horz" pos="2137"/>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heme" Target="theme/theme1.xml"/><Relationship Id="rId10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viewProps" Target="viewProps.xml"/><Relationship Id="rId3" Type="http://schemas.openxmlformats.org/officeDocument/2006/relationships/slide" Target="slides/slide1.xml"/></Relationships>
</file>

<file path=ppt/diagrams/_rels/data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4"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22292D-D1B0-4744-8A6D-F1843E74FFC9}" type="doc">
      <dgm:prSet loTypeId="urn:microsoft.com/office/officeart/2005/8/layout/vList2" loCatId="list" qsTypeId="urn:microsoft.com/office/officeart/2005/8/quickstyle/simple1#1" qsCatId="simple" csTypeId="urn:microsoft.com/office/officeart/2005/8/colors/accent2_2#1" csCatId="accent2" phldr="1"/>
      <dgm:spPr/>
      <dgm:t>
        <a:bodyPr/>
        <a:lstStyle/>
        <a:p>
          <a:endParaRPr lang="en-US"/>
        </a:p>
      </dgm:t>
    </dgm:pt>
    <dgm:pt modelId="{DC2F8DE6-C8C8-4AFE-9121-C4AC96562A07}">
      <dgm:prSet/>
      <dgm:spPr/>
      <dgm:t>
        <a:bodyPr/>
        <a:lstStyle/>
        <a:p>
          <a:r>
            <a:rPr lang="es-CL" b="0" i="0" noProof="0" dirty="0"/>
            <a:t>La inflación es cuando hay un aumento general en el nivel de precios.</a:t>
          </a:r>
          <a:endParaRPr lang="es-CL" noProof="0" dirty="0"/>
        </a:p>
      </dgm:t>
    </dgm:pt>
    <dgm:pt modelId="{E4DD93EF-3400-4EE9-B846-C18F960ACAF5}" type="parTrans" cxnId="{187E35A0-59FE-40FA-BE42-64466F932C32}">
      <dgm:prSet/>
      <dgm:spPr/>
      <dgm:t>
        <a:bodyPr/>
        <a:lstStyle/>
        <a:p>
          <a:endParaRPr lang="en-US"/>
        </a:p>
      </dgm:t>
    </dgm:pt>
    <dgm:pt modelId="{D877C5DF-283A-4D2D-AEAA-AFABBD97DF02}" type="sibTrans" cxnId="{187E35A0-59FE-40FA-BE42-64466F932C32}">
      <dgm:prSet/>
      <dgm:spPr/>
      <dgm:t>
        <a:bodyPr/>
        <a:lstStyle/>
        <a:p>
          <a:endParaRPr lang="en-US"/>
        </a:p>
      </dgm:t>
    </dgm:pt>
    <dgm:pt modelId="{F226AAF7-E024-4DE3-8675-5F22468E4772}">
      <dgm:prSet/>
      <dgm:spPr/>
      <dgm:t>
        <a:bodyPr/>
        <a:lstStyle/>
        <a:p>
          <a:r>
            <a:rPr lang="es-CL" b="0" i="0" noProof="0" dirty="0"/>
            <a:t>El resultado es que por cada peso se pueden comprar menos bienes y servicios que antes. </a:t>
          </a:r>
          <a:endParaRPr lang="es-CL" noProof="0" dirty="0"/>
        </a:p>
      </dgm:t>
    </dgm:pt>
    <dgm:pt modelId="{D98DC950-CD26-414F-9EF6-CDBC31606715}" type="parTrans" cxnId="{D750B0ED-FA2C-4732-9572-A4AE64BD9F27}">
      <dgm:prSet/>
      <dgm:spPr/>
      <dgm:t>
        <a:bodyPr/>
        <a:lstStyle/>
        <a:p>
          <a:endParaRPr lang="en-US"/>
        </a:p>
      </dgm:t>
    </dgm:pt>
    <dgm:pt modelId="{4145AFF4-3AB8-404B-9290-D4F4C0B7CA32}" type="sibTrans" cxnId="{D750B0ED-FA2C-4732-9572-A4AE64BD9F27}">
      <dgm:prSet/>
      <dgm:spPr/>
      <dgm:t>
        <a:bodyPr/>
        <a:lstStyle/>
        <a:p>
          <a:endParaRPr lang="en-US"/>
        </a:p>
      </dgm:t>
    </dgm:pt>
    <dgm:pt modelId="{03572DB5-56B0-413A-AC07-AFE0DED848A0}">
      <dgm:prSet/>
      <dgm:spPr/>
      <dgm:t>
        <a:bodyPr/>
        <a:lstStyle/>
        <a:p>
          <a:r>
            <a:rPr lang="es-CL" b="0" i="0" noProof="0" dirty="0"/>
            <a:t>Es decir, la inflación reduce el valor del dinero en el tiempo.</a:t>
          </a:r>
          <a:endParaRPr lang="es-CL" noProof="0" dirty="0"/>
        </a:p>
      </dgm:t>
    </dgm:pt>
    <dgm:pt modelId="{680002AD-7DB2-4AB1-AE7C-35342CA44058}" type="parTrans" cxnId="{F0B4D418-C92C-48CA-8770-E56FCAA6A86E}">
      <dgm:prSet/>
      <dgm:spPr/>
      <dgm:t>
        <a:bodyPr/>
        <a:lstStyle/>
        <a:p>
          <a:endParaRPr lang="en-US"/>
        </a:p>
      </dgm:t>
    </dgm:pt>
    <dgm:pt modelId="{22077689-E6FC-4053-874E-D649DCD954A5}" type="sibTrans" cxnId="{F0B4D418-C92C-48CA-8770-E56FCAA6A86E}">
      <dgm:prSet/>
      <dgm:spPr/>
      <dgm:t>
        <a:bodyPr/>
        <a:lstStyle/>
        <a:p>
          <a:endParaRPr lang="en-US"/>
        </a:p>
      </dgm:t>
    </dgm:pt>
    <dgm:pt modelId="{13F79986-62A8-4F27-8FDF-7C14012EB357}" type="pres">
      <dgm:prSet presAssocID="{D122292D-D1B0-4744-8A6D-F1843E74FFC9}" presName="linear" presStyleCnt="0">
        <dgm:presLayoutVars>
          <dgm:animLvl val="lvl"/>
          <dgm:resizeHandles val="exact"/>
        </dgm:presLayoutVars>
      </dgm:prSet>
      <dgm:spPr/>
    </dgm:pt>
    <dgm:pt modelId="{D0BDE289-649F-47B8-8F43-ADF746DD5DC9}" type="pres">
      <dgm:prSet presAssocID="{DC2F8DE6-C8C8-4AFE-9121-C4AC96562A07}" presName="parentText" presStyleLbl="node1" presStyleIdx="0" presStyleCnt="3">
        <dgm:presLayoutVars>
          <dgm:chMax val="0"/>
          <dgm:bulletEnabled val="1"/>
        </dgm:presLayoutVars>
      </dgm:prSet>
      <dgm:spPr/>
    </dgm:pt>
    <dgm:pt modelId="{7CBBC043-7008-46EE-9ECA-08DC47E05B14}" type="pres">
      <dgm:prSet presAssocID="{D877C5DF-283A-4D2D-AEAA-AFABBD97DF02}" presName="spacer" presStyleCnt="0"/>
      <dgm:spPr/>
    </dgm:pt>
    <dgm:pt modelId="{3379B4C6-46FF-44DD-9031-885C4F57A1B8}" type="pres">
      <dgm:prSet presAssocID="{F226AAF7-E024-4DE3-8675-5F22468E4772}" presName="parentText" presStyleLbl="node1" presStyleIdx="1" presStyleCnt="3">
        <dgm:presLayoutVars>
          <dgm:chMax val="0"/>
          <dgm:bulletEnabled val="1"/>
        </dgm:presLayoutVars>
      </dgm:prSet>
      <dgm:spPr/>
    </dgm:pt>
    <dgm:pt modelId="{FD5254A5-C692-4B49-A549-5E4C00542060}" type="pres">
      <dgm:prSet presAssocID="{4145AFF4-3AB8-404B-9290-D4F4C0B7CA32}" presName="spacer" presStyleCnt="0"/>
      <dgm:spPr/>
    </dgm:pt>
    <dgm:pt modelId="{FDFCD011-9A1B-4410-A473-226129169091}" type="pres">
      <dgm:prSet presAssocID="{03572DB5-56B0-413A-AC07-AFE0DED848A0}" presName="parentText" presStyleLbl="node1" presStyleIdx="2" presStyleCnt="3">
        <dgm:presLayoutVars>
          <dgm:chMax val="0"/>
          <dgm:bulletEnabled val="1"/>
        </dgm:presLayoutVars>
      </dgm:prSet>
      <dgm:spPr/>
    </dgm:pt>
  </dgm:ptLst>
  <dgm:cxnLst>
    <dgm:cxn modelId="{F0B4D418-C92C-48CA-8770-E56FCAA6A86E}" srcId="{D122292D-D1B0-4744-8A6D-F1843E74FFC9}" destId="{03572DB5-56B0-413A-AC07-AFE0DED848A0}" srcOrd="2" destOrd="0" parTransId="{680002AD-7DB2-4AB1-AE7C-35342CA44058}" sibTransId="{22077689-E6FC-4053-874E-D649DCD954A5}"/>
    <dgm:cxn modelId="{6A20825E-D256-4B26-89F0-089E85601F4C}" type="presOf" srcId="{DC2F8DE6-C8C8-4AFE-9121-C4AC96562A07}" destId="{D0BDE289-649F-47B8-8F43-ADF746DD5DC9}" srcOrd="0" destOrd="0" presId="urn:microsoft.com/office/officeart/2005/8/layout/vList2"/>
    <dgm:cxn modelId="{187E35A0-59FE-40FA-BE42-64466F932C32}" srcId="{D122292D-D1B0-4744-8A6D-F1843E74FFC9}" destId="{DC2F8DE6-C8C8-4AFE-9121-C4AC96562A07}" srcOrd="0" destOrd="0" parTransId="{E4DD93EF-3400-4EE9-B846-C18F960ACAF5}" sibTransId="{D877C5DF-283A-4D2D-AEAA-AFABBD97DF02}"/>
    <dgm:cxn modelId="{FE2849AB-A947-4395-A859-802A71961F31}" type="presOf" srcId="{F226AAF7-E024-4DE3-8675-5F22468E4772}" destId="{3379B4C6-46FF-44DD-9031-885C4F57A1B8}" srcOrd="0" destOrd="0" presId="urn:microsoft.com/office/officeart/2005/8/layout/vList2"/>
    <dgm:cxn modelId="{241ED2C4-5233-4D93-9B8E-07C214408DF4}" type="presOf" srcId="{03572DB5-56B0-413A-AC07-AFE0DED848A0}" destId="{FDFCD011-9A1B-4410-A473-226129169091}" srcOrd="0" destOrd="0" presId="urn:microsoft.com/office/officeart/2005/8/layout/vList2"/>
    <dgm:cxn modelId="{E58BEFCC-B201-4D97-B48C-EF716DC22F47}" type="presOf" srcId="{D122292D-D1B0-4744-8A6D-F1843E74FFC9}" destId="{13F79986-62A8-4F27-8FDF-7C14012EB357}" srcOrd="0" destOrd="0" presId="urn:microsoft.com/office/officeart/2005/8/layout/vList2"/>
    <dgm:cxn modelId="{D750B0ED-FA2C-4732-9572-A4AE64BD9F27}" srcId="{D122292D-D1B0-4744-8A6D-F1843E74FFC9}" destId="{F226AAF7-E024-4DE3-8675-5F22468E4772}" srcOrd="1" destOrd="0" parTransId="{D98DC950-CD26-414F-9EF6-CDBC31606715}" sibTransId="{4145AFF4-3AB8-404B-9290-D4F4C0B7CA32}"/>
    <dgm:cxn modelId="{99A227B0-0048-4BAD-A6E3-E1ADA63F2122}" type="presParOf" srcId="{13F79986-62A8-4F27-8FDF-7C14012EB357}" destId="{D0BDE289-649F-47B8-8F43-ADF746DD5DC9}" srcOrd="0" destOrd="0" presId="urn:microsoft.com/office/officeart/2005/8/layout/vList2"/>
    <dgm:cxn modelId="{119B07E5-2266-4C2A-856E-D57A0056C488}" type="presParOf" srcId="{13F79986-62A8-4F27-8FDF-7C14012EB357}" destId="{7CBBC043-7008-46EE-9ECA-08DC47E05B14}" srcOrd="1" destOrd="0" presId="urn:microsoft.com/office/officeart/2005/8/layout/vList2"/>
    <dgm:cxn modelId="{BC8E02E1-1B01-4F5D-99FF-00BEE075CB19}" type="presParOf" srcId="{13F79986-62A8-4F27-8FDF-7C14012EB357}" destId="{3379B4C6-46FF-44DD-9031-885C4F57A1B8}" srcOrd="2" destOrd="0" presId="urn:microsoft.com/office/officeart/2005/8/layout/vList2"/>
    <dgm:cxn modelId="{40C5502F-F804-4B16-935D-6DC2992453CC}" type="presParOf" srcId="{13F79986-62A8-4F27-8FDF-7C14012EB357}" destId="{FD5254A5-C692-4B49-A549-5E4C00542060}" srcOrd="3" destOrd="0" presId="urn:microsoft.com/office/officeart/2005/8/layout/vList2"/>
    <dgm:cxn modelId="{AED364B8-45F1-4D08-BE23-6DFD3D33215D}" type="presParOf" srcId="{13F79986-62A8-4F27-8FDF-7C14012EB357}" destId="{FDFCD011-9A1B-4410-A473-22612916909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715096-9A6C-463A-9EB0-45254CB208A9}" type="doc">
      <dgm:prSet loTypeId="urn:microsoft.com/office/officeart/2018/2/layout/IconVerticalSolidList" loCatId="icon" qsTypeId="urn:microsoft.com/office/officeart/2005/8/quickstyle/simple1#2" qsCatId="simple" csTypeId="urn:microsoft.com/office/officeart/2005/8/colors/accent2_2#2" csCatId="accent2" phldr="1"/>
      <dgm:spPr/>
      <dgm:t>
        <a:bodyPr/>
        <a:lstStyle/>
        <a:p>
          <a:endParaRPr lang="en-US"/>
        </a:p>
      </dgm:t>
    </dgm:pt>
    <dgm:pt modelId="{34DF9D4E-4D90-4497-8505-9E44763D6FB9}">
      <dgm:prSet/>
      <dgm:spPr/>
      <dgm:t>
        <a:bodyPr/>
        <a:lstStyle/>
        <a:p>
          <a:r>
            <a:rPr lang="es-CL"/>
            <a:t>Depende si es para un crédito o para una inversión.</a:t>
          </a:r>
          <a:endParaRPr lang="en-US"/>
        </a:p>
      </dgm:t>
    </dgm:pt>
    <dgm:pt modelId="{0C4702AD-6FB1-40FC-9E3B-DC80A0F256BF}" type="parTrans" cxnId="{5A9C785B-4AC5-41C0-B50C-2BD0061890E2}">
      <dgm:prSet/>
      <dgm:spPr/>
      <dgm:t>
        <a:bodyPr/>
        <a:lstStyle/>
        <a:p>
          <a:endParaRPr lang="en-US"/>
        </a:p>
      </dgm:t>
    </dgm:pt>
    <dgm:pt modelId="{0B603B04-FD84-44E8-A0AC-BE2A95388792}" type="sibTrans" cxnId="{5A9C785B-4AC5-41C0-B50C-2BD0061890E2}">
      <dgm:prSet/>
      <dgm:spPr/>
      <dgm:t>
        <a:bodyPr/>
        <a:lstStyle/>
        <a:p>
          <a:endParaRPr lang="en-US"/>
        </a:p>
      </dgm:t>
    </dgm:pt>
    <dgm:pt modelId="{D7EC9138-D6F4-473C-8088-804A34519B1F}">
      <dgm:prSet/>
      <dgm:spPr/>
      <dgm:t>
        <a:bodyPr/>
        <a:lstStyle/>
        <a:p>
          <a:r>
            <a:rPr lang="es-CL"/>
            <a:t>Si es para un crédito siempre se debe elegir la tasa (y CAE) más baja.</a:t>
          </a:r>
          <a:endParaRPr lang="en-US"/>
        </a:p>
      </dgm:t>
    </dgm:pt>
    <dgm:pt modelId="{CA6BC8E7-274D-4CD0-85D6-8D24CEC25FCE}" type="parTrans" cxnId="{3309E95D-80E8-4FC9-A91F-39E05B854AB0}">
      <dgm:prSet/>
      <dgm:spPr/>
      <dgm:t>
        <a:bodyPr/>
        <a:lstStyle/>
        <a:p>
          <a:endParaRPr lang="en-US"/>
        </a:p>
      </dgm:t>
    </dgm:pt>
    <dgm:pt modelId="{B4F7E168-1C3F-440D-9177-AFABE5C77AE7}" type="sibTrans" cxnId="{3309E95D-80E8-4FC9-A91F-39E05B854AB0}">
      <dgm:prSet/>
      <dgm:spPr/>
      <dgm:t>
        <a:bodyPr/>
        <a:lstStyle/>
        <a:p>
          <a:endParaRPr lang="en-US"/>
        </a:p>
      </dgm:t>
    </dgm:pt>
    <dgm:pt modelId="{BC4760CA-6949-4336-B515-E385AE133140}">
      <dgm:prSet/>
      <dgm:spPr/>
      <dgm:t>
        <a:bodyPr/>
        <a:lstStyle/>
        <a:p>
          <a:r>
            <a:rPr lang="es-CL"/>
            <a:t>Si es para una inversión siempre se debe elegir la tasa más alta (y analizar las comisiones).</a:t>
          </a:r>
          <a:endParaRPr lang="en-US"/>
        </a:p>
      </dgm:t>
    </dgm:pt>
    <dgm:pt modelId="{FD5F88C2-5BBB-4CFA-9675-531CC1E9137C}" type="parTrans" cxnId="{050871FB-712E-4A75-8DA7-25175E4293B8}">
      <dgm:prSet/>
      <dgm:spPr/>
      <dgm:t>
        <a:bodyPr/>
        <a:lstStyle/>
        <a:p>
          <a:endParaRPr lang="en-US"/>
        </a:p>
      </dgm:t>
    </dgm:pt>
    <dgm:pt modelId="{0B65AF10-F459-4CD9-B0F5-0A58117B3A94}" type="sibTrans" cxnId="{050871FB-712E-4A75-8DA7-25175E4293B8}">
      <dgm:prSet/>
      <dgm:spPr/>
      <dgm:t>
        <a:bodyPr/>
        <a:lstStyle/>
        <a:p>
          <a:endParaRPr lang="en-US"/>
        </a:p>
      </dgm:t>
    </dgm:pt>
    <dgm:pt modelId="{6AD06EF3-7EED-4513-94B1-B873026BBF62}">
      <dgm:prSet/>
      <dgm:spPr/>
      <dgm:t>
        <a:bodyPr/>
        <a:lstStyle/>
        <a:p>
          <a:r>
            <a:rPr lang="es-CL"/>
            <a:t>Pero, además, se debe considerar la inflación.</a:t>
          </a:r>
          <a:endParaRPr lang="en-US"/>
        </a:p>
      </dgm:t>
    </dgm:pt>
    <dgm:pt modelId="{D7BBA4FE-6994-4F4C-9125-2F718561C674}" type="parTrans" cxnId="{EB3373A6-8B0A-4F94-AE57-17F6DB55A84B}">
      <dgm:prSet/>
      <dgm:spPr/>
      <dgm:t>
        <a:bodyPr/>
        <a:lstStyle/>
        <a:p>
          <a:endParaRPr lang="en-US"/>
        </a:p>
      </dgm:t>
    </dgm:pt>
    <dgm:pt modelId="{C356D8F0-F4D9-437F-8B5B-B3DEA7959FDD}" type="sibTrans" cxnId="{EB3373A6-8B0A-4F94-AE57-17F6DB55A84B}">
      <dgm:prSet/>
      <dgm:spPr/>
      <dgm:t>
        <a:bodyPr/>
        <a:lstStyle/>
        <a:p>
          <a:endParaRPr lang="en-US"/>
        </a:p>
      </dgm:t>
    </dgm:pt>
    <dgm:pt modelId="{8137A3B6-26EF-4D1B-9ABE-B7569539AB15}" type="pres">
      <dgm:prSet presAssocID="{5D715096-9A6C-463A-9EB0-45254CB208A9}" presName="root" presStyleCnt="0">
        <dgm:presLayoutVars>
          <dgm:dir/>
          <dgm:resizeHandles val="exact"/>
        </dgm:presLayoutVars>
      </dgm:prSet>
      <dgm:spPr/>
    </dgm:pt>
    <dgm:pt modelId="{0840A626-475E-4B7B-9DE9-FD1EC575120F}" type="pres">
      <dgm:prSet presAssocID="{34DF9D4E-4D90-4497-8505-9E44763D6FB9}" presName="compNode" presStyleCnt="0"/>
      <dgm:spPr/>
    </dgm:pt>
    <dgm:pt modelId="{8BEDD019-17E8-436A-9C3A-6BD1E32DE0C4}" type="pres">
      <dgm:prSet presAssocID="{34DF9D4E-4D90-4497-8505-9E44763D6FB9}" presName="bgRect" presStyleLbl="bgShp" presStyleIdx="0" presStyleCnt="4"/>
      <dgm:spPr/>
    </dgm:pt>
    <dgm:pt modelId="{F873FAA0-5073-4578-A16A-86427EA7EE32}" type="pres">
      <dgm:prSet presAssocID="{34DF9D4E-4D90-4497-8505-9E44763D6FB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rca de verificación"/>
        </a:ext>
      </dgm:extLst>
    </dgm:pt>
    <dgm:pt modelId="{3DD7A449-89E2-4879-995A-DE549FEDF1C2}" type="pres">
      <dgm:prSet presAssocID="{34DF9D4E-4D90-4497-8505-9E44763D6FB9}" presName="spaceRect" presStyleCnt="0"/>
      <dgm:spPr/>
    </dgm:pt>
    <dgm:pt modelId="{E9EB4104-F3A3-492B-9A85-D0A77810E95B}" type="pres">
      <dgm:prSet presAssocID="{34DF9D4E-4D90-4497-8505-9E44763D6FB9}" presName="parTx" presStyleLbl="revTx" presStyleIdx="0" presStyleCnt="4">
        <dgm:presLayoutVars>
          <dgm:chMax val="0"/>
          <dgm:chPref val="0"/>
        </dgm:presLayoutVars>
      </dgm:prSet>
      <dgm:spPr/>
    </dgm:pt>
    <dgm:pt modelId="{2A77704C-E784-4E41-9010-0FF61E58A539}" type="pres">
      <dgm:prSet presAssocID="{0B603B04-FD84-44E8-A0AC-BE2A95388792}" presName="sibTrans" presStyleCnt="0"/>
      <dgm:spPr/>
    </dgm:pt>
    <dgm:pt modelId="{7978C1E5-F028-404A-B1A7-0E90C3F47273}" type="pres">
      <dgm:prSet presAssocID="{D7EC9138-D6F4-473C-8088-804A34519B1F}" presName="compNode" presStyleCnt="0"/>
      <dgm:spPr/>
    </dgm:pt>
    <dgm:pt modelId="{F24D9785-2E54-4200-8B5A-9593F15675C4}" type="pres">
      <dgm:prSet presAssocID="{D7EC9138-D6F4-473C-8088-804A34519B1F}" presName="bgRect" presStyleLbl="bgShp" presStyleIdx="1" presStyleCnt="4"/>
      <dgm:spPr/>
    </dgm:pt>
    <dgm:pt modelId="{CF3FF12A-B316-427D-834B-89F8F7CFE925}" type="pres">
      <dgm:prSet presAssocID="{D7EC9138-D6F4-473C-8088-804A34519B1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lectric Car"/>
        </a:ext>
      </dgm:extLst>
    </dgm:pt>
    <dgm:pt modelId="{5C4C862A-D4EE-4AFA-A8EB-4A79D4BBFFC8}" type="pres">
      <dgm:prSet presAssocID="{D7EC9138-D6F4-473C-8088-804A34519B1F}" presName="spaceRect" presStyleCnt="0"/>
      <dgm:spPr/>
    </dgm:pt>
    <dgm:pt modelId="{6A0E62E8-68BF-4815-BA29-F6636075C276}" type="pres">
      <dgm:prSet presAssocID="{D7EC9138-D6F4-473C-8088-804A34519B1F}" presName="parTx" presStyleLbl="revTx" presStyleIdx="1" presStyleCnt="4">
        <dgm:presLayoutVars>
          <dgm:chMax val="0"/>
          <dgm:chPref val="0"/>
        </dgm:presLayoutVars>
      </dgm:prSet>
      <dgm:spPr/>
    </dgm:pt>
    <dgm:pt modelId="{A7EC7E1F-DC5A-4878-B391-31A3A7ACDE35}" type="pres">
      <dgm:prSet presAssocID="{B4F7E168-1C3F-440D-9177-AFABE5C77AE7}" presName="sibTrans" presStyleCnt="0"/>
      <dgm:spPr/>
    </dgm:pt>
    <dgm:pt modelId="{7882A76E-DF8D-47D5-B242-823E46AB56C7}" type="pres">
      <dgm:prSet presAssocID="{BC4760CA-6949-4336-B515-E385AE133140}" presName="compNode" presStyleCnt="0"/>
      <dgm:spPr/>
    </dgm:pt>
    <dgm:pt modelId="{383897CA-062E-47AC-9388-C41DE272CC73}" type="pres">
      <dgm:prSet presAssocID="{BC4760CA-6949-4336-B515-E385AE133140}" presName="bgRect" presStyleLbl="bgShp" presStyleIdx="2" presStyleCnt="4"/>
      <dgm:spPr/>
    </dgm:pt>
    <dgm:pt modelId="{B5EC07EB-349F-4753-8A5B-1E6258AAF919}" type="pres">
      <dgm:prSet presAssocID="{BC4760CA-6949-4336-B515-E385AE13314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ólar"/>
        </a:ext>
      </dgm:extLst>
    </dgm:pt>
    <dgm:pt modelId="{F25213D4-3ACF-4A6D-A522-1FDCEB0F5B1E}" type="pres">
      <dgm:prSet presAssocID="{BC4760CA-6949-4336-B515-E385AE133140}" presName="spaceRect" presStyleCnt="0"/>
      <dgm:spPr/>
    </dgm:pt>
    <dgm:pt modelId="{854E525F-E3F8-408D-BF48-6BFAB15EA01C}" type="pres">
      <dgm:prSet presAssocID="{BC4760CA-6949-4336-B515-E385AE133140}" presName="parTx" presStyleLbl="revTx" presStyleIdx="2" presStyleCnt="4">
        <dgm:presLayoutVars>
          <dgm:chMax val="0"/>
          <dgm:chPref val="0"/>
        </dgm:presLayoutVars>
      </dgm:prSet>
      <dgm:spPr/>
    </dgm:pt>
    <dgm:pt modelId="{3B60062D-473A-49B9-8177-27D167ADC3B8}" type="pres">
      <dgm:prSet presAssocID="{0B65AF10-F459-4CD9-B0F5-0A58117B3A94}" presName="sibTrans" presStyleCnt="0"/>
      <dgm:spPr/>
    </dgm:pt>
    <dgm:pt modelId="{FC6D1C2A-A122-43D2-A979-EE61F828225F}" type="pres">
      <dgm:prSet presAssocID="{6AD06EF3-7EED-4513-94B1-B873026BBF62}" presName="compNode" presStyleCnt="0"/>
      <dgm:spPr/>
    </dgm:pt>
    <dgm:pt modelId="{20424EE7-6077-43B1-A17D-064AF107D7DA}" type="pres">
      <dgm:prSet presAssocID="{6AD06EF3-7EED-4513-94B1-B873026BBF62}" presName="bgRect" presStyleLbl="bgShp" presStyleIdx="3" presStyleCnt="4"/>
      <dgm:spPr/>
    </dgm:pt>
    <dgm:pt modelId="{1258C030-C582-4966-9321-1438E69E70D8}" type="pres">
      <dgm:prSet presAssocID="{6AD06EF3-7EED-4513-94B1-B873026BBF62}"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C84AA5F8-4A05-4AC0-90CC-F0E99702C121}" type="pres">
      <dgm:prSet presAssocID="{6AD06EF3-7EED-4513-94B1-B873026BBF62}" presName="spaceRect" presStyleCnt="0"/>
      <dgm:spPr/>
    </dgm:pt>
    <dgm:pt modelId="{A8007AE8-7BB7-4233-A5CD-EB3DB472C5A5}" type="pres">
      <dgm:prSet presAssocID="{6AD06EF3-7EED-4513-94B1-B873026BBF62}" presName="parTx" presStyleLbl="revTx" presStyleIdx="3" presStyleCnt="4">
        <dgm:presLayoutVars>
          <dgm:chMax val="0"/>
          <dgm:chPref val="0"/>
        </dgm:presLayoutVars>
      </dgm:prSet>
      <dgm:spPr/>
    </dgm:pt>
  </dgm:ptLst>
  <dgm:cxnLst>
    <dgm:cxn modelId="{62CA240E-1749-40F9-A2CB-97D0445D8E91}" type="presOf" srcId="{5D715096-9A6C-463A-9EB0-45254CB208A9}" destId="{8137A3B6-26EF-4D1B-9ABE-B7569539AB15}" srcOrd="0" destOrd="0" presId="urn:microsoft.com/office/officeart/2018/2/layout/IconVerticalSolidList"/>
    <dgm:cxn modelId="{90845F1A-529E-4BC1-9F02-DDE951567E67}" type="presOf" srcId="{D7EC9138-D6F4-473C-8088-804A34519B1F}" destId="{6A0E62E8-68BF-4815-BA29-F6636075C276}" srcOrd="0" destOrd="0" presId="urn:microsoft.com/office/officeart/2018/2/layout/IconVerticalSolidList"/>
    <dgm:cxn modelId="{5A9C785B-4AC5-41C0-B50C-2BD0061890E2}" srcId="{5D715096-9A6C-463A-9EB0-45254CB208A9}" destId="{34DF9D4E-4D90-4497-8505-9E44763D6FB9}" srcOrd="0" destOrd="0" parTransId="{0C4702AD-6FB1-40FC-9E3B-DC80A0F256BF}" sibTransId="{0B603B04-FD84-44E8-A0AC-BE2A95388792}"/>
    <dgm:cxn modelId="{3309E95D-80E8-4FC9-A91F-39E05B854AB0}" srcId="{5D715096-9A6C-463A-9EB0-45254CB208A9}" destId="{D7EC9138-D6F4-473C-8088-804A34519B1F}" srcOrd="1" destOrd="0" parTransId="{CA6BC8E7-274D-4CD0-85D6-8D24CEC25FCE}" sibTransId="{B4F7E168-1C3F-440D-9177-AFABE5C77AE7}"/>
    <dgm:cxn modelId="{59E24D5A-FEDB-455B-98BA-8B146D7C798C}" type="presOf" srcId="{34DF9D4E-4D90-4497-8505-9E44763D6FB9}" destId="{E9EB4104-F3A3-492B-9A85-D0A77810E95B}" srcOrd="0" destOrd="0" presId="urn:microsoft.com/office/officeart/2018/2/layout/IconVerticalSolidList"/>
    <dgm:cxn modelId="{EB3373A6-8B0A-4F94-AE57-17F6DB55A84B}" srcId="{5D715096-9A6C-463A-9EB0-45254CB208A9}" destId="{6AD06EF3-7EED-4513-94B1-B873026BBF62}" srcOrd="3" destOrd="0" parTransId="{D7BBA4FE-6994-4F4C-9125-2F718561C674}" sibTransId="{C356D8F0-F4D9-437F-8B5B-B3DEA7959FDD}"/>
    <dgm:cxn modelId="{E14226C6-DB12-443D-A052-4758D256DBA5}" type="presOf" srcId="{6AD06EF3-7EED-4513-94B1-B873026BBF62}" destId="{A8007AE8-7BB7-4233-A5CD-EB3DB472C5A5}" srcOrd="0" destOrd="0" presId="urn:microsoft.com/office/officeart/2018/2/layout/IconVerticalSolidList"/>
    <dgm:cxn modelId="{C0B837FB-83DD-4CDA-A784-49D4CEB4B81F}" type="presOf" srcId="{BC4760CA-6949-4336-B515-E385AE133140}" destId="{854E525F-E3F8-408D-BF48-6BFAB15EA01C}" srcOrd="0" destOrd="0" presId="urn:microsoft.com/office/officeart/2018/2/layout/IconVerticalSolidList"/>
    <dgm:cxn modelId="{050871FB-712E-4A75-8DA7-25175E4293B8}" srcId="{5D715096-9A6C-463A-9EB0-45254CB208A9}" destId="{BC4760CA-6949-4336-B515-E385AE133140}" srcOrd="2" destOrd="0" parTransId="{FD5F88C2-5BBB-4CFA-9675-531CC1E9137C}" sibTransId="{0B65AF10-F459-4CD9-B0F5-0A58117B3A94}"/>
    <dgm:cxn modelId="{F0586A94-5CC5-4E81-9078-DC4ADC479544}" type="presParOf" srcId="{8137A3B6-26EF-4D1B-9ABE-B7569539AB15}" destId="{0840A626-475E-4B7B-9DE9-FD1EC575120F}" srcOrd="0" destOrd="0" presId="urn:microsoft.com/office/officeart/2018/2/layout/IconVerticalSolidList"/>
    <dgm:cxn modelId="{06655BD1-36EC-4607-AB71-64E067B76F88}" type="presParOf" srcId="{0840A626-475E-4B7B-9DE9-FD1EC575120F}" destId="{8BEDD019-17E8-436A-9C3A-6BD1E32DE0C4}" srcOrd="0" destOrd="0" presId="urn:microsoft.com/office/officeart/2018/2/layout/IconVerticalSolidList"/>
    <dgm:cxn modelId="{A85F6010-8697-429A-A923-F30C4E34A3E4}" type="presParOf" srcId="{0840A626-475E-4B7B-9DE9-FD1EC575120F}" destId="{F873FAA0-5073-4578-A16A-86427EA7EE32}" srcOrd="1" destOrd="0" presId="urn:microsoft.com/office/officeart/2018/2/layout/IconVerticalSolidList"/>
    <dgm:cxn modelId="{3F757029-23CC-48EB-8344-8A97DAF95E3E}" type="presParOf" srcId="{0840A626-475E-4B7B-9DE9-FD1EC575120F}" destId="{3DD7A449-89E2-4879-995A-DE549FEDF1C2}" srcOrd="2" destOrd="0" presId="urn:microsoft.com/office/officeart/2018/2/layout/IconVerticalSolidList"/>
    <dgm:cxn modelId="{15AC0ADD-0155-44B5-A219-C7F445A099B8}" type="presParOf" srcId="{0840A626-475E-4B7B-9DE9-FD1EC575120F}" destId="{E9EB4104-F3A3-492B-9A85-D0A77810E95B}" srcOrd="3" destOrd="0" presId="urn:microsoft.com/office/officeart/2018/2/layout/IconVerticalSolidList"/>
    <dgm:cxn modelId="{6A783E95-0842-432E-AFAB-2685B3A3373A}" type="presParOf" srcId="{8137A3B6-26EF-4D1B-9ABE-B7569539AB15}" destId="{2A77704C-E784-4E41-9010-0FF61E58A539}" srcOrd="1" destOrd="0" presId="urn:microsoft.com/office/officeart/2018/2/layout/IconVerticalSolidList"/>
    <dgm:cxn modelId="{D03074D6-7662-46A9-B963-9CF97B7D7030}" type="presParOf" srcId="{8137A3B6-26EF-4D1B-9ABE-B7569539AB15}" destId="{7978C1E5-F028-404A-B1A7-0E90C3F47273}" srcOrd="2" destOrd="0" presId="urn:microsoft.com/office/officeart/2018/2/layout/IconVerticalSolidList"/>
    <dgm:cxn modelId="{99231BFE-1226-47F4-96C2-DCF9C7E66111}" type="presParOf" srcId="{7978C1E5-F028-404A-B1A7-0E90C3F47273}" destId="{F24D9785-2E54-4200-8B5A-9593F15675C4}" srcOrd="0" destOrd="0" presId="urn:microsoft.com/office/officeart/2018/2/layout/IconVerticalSolidList"/>
    <dgm:cxn modelId="{1DB0BE87-02E2-4E0B-811E-1D5F4C9CE15F}" type="presParOf" srcId="{7978C1E5-F028-404A-B1A7-0E90C3F47273}" destId="{CF3FF12A-B316-427D-834B-89F8F7CFE925}" srcOrd="1" destOrd="0" presId="urn:microsoft.com/office/officeart/2018/2/layout/IconVerticalSolidList"/>
    <dgm:cxn modelId="{5524CA1D-40A8-41AD-94D1-C1D2730ACB2F}" type="presParOf" srcId="{7978C1E5-F028-404A-B1A7-0E90C3F47273}" destId="{5C4C862A-D4EE-4AFA-A8EB-4A79D4BBFFC8}" srcOrd="2" destOrd="0" presId="urn:microsoft.com/office/officeart/2018/2/layout/IconVerticalSolidList"/>
    <dgm:cxn modelId="{B9DDDC09-AB5B-4978-A7FF-494864C2D1D7}" type="presParOf" srcId="{7978C1E5-F028-404A-B1A7-0E90C3F47273}" destId="{6A0E62E8-68BF-4815-BA29-F6636075C276}" srcOrd="3" destOrd="0" presId="urn:microsoft.com/office/officeart/2018/2/layout/IconVerticalSolidList"/>
    <dgm:cxn modelId="{5CD200AD-157C-43B5-A762-374665E3F630}" type="presParOf" srcId="{8137A3B6-26EF-4D1B-9ABE-B7569539AB15}" destId="{A7EC7E1F-DC5A-4878-B391-31A3A7ACDE35}" srcOrd="3" destOrd="0" presId="urn:microsoft.com/office/officeart/2018/2/layout/IconVerticalSolidList"/>
    <dgm:cxn modelId="{AE2F0154-E6C1-4874-B74D-5AB7B5783A82}" type="presParOf" srcId="{8137A3B6-26EF-4D1B-9ABE-B7569539AB15}" destId="{7882A76E-DF8D-47D5-B242-823E46AB56C7}" srcOrd="4" destOrd="0" presId="urn:microsoft.com/office/officeart/2018/2/layout/IconVerticalSolidList"/>
    <dgm:cxn modelId="{C452B5ED-1401-4771-A5C5-4170D326556E}" type="presParOf" srcId="{7882A76E-DF8D-47D5-B242-823E46AB56C7}" destId="{383897CA-062E-47AC-9388-C41DE272CC73}" srcOrd="0" destOrd="0" presId="urn:microsoft.com/office/officeart/2018/2/layout/IconVerticalSolidList"/>
    <dgm:cxn modelId="{95B70F78-AAB4-4115-8E8D-FF28807DC14E}" type="presParOf" srcId="{7882A76E-DF8D-47D5-B242-823E46AB56C7}" destId="{B5EC07EB-349F-4753-8A5B-1E6258AAF919}" srcOrd="1" destOrd="0" presId="urn:microsoft.com/office/officeart/2018/2/layout/IconVerticalSolidList"/>
    <dgm:cxn modelId="{DABE9FFE-3A4B-4897-9AAF-B15C290E8347}" type="presParOf" srcId="{7882A76E-DF8D-47D5-B242-823E46AB56C7}" destId="{F25213D4-3ACF-4A6D-A522-1FDCEB0F5B1E}" srcOrd="2" destOrd="0" presId="urn:microsoft.com/office/officeart/2018/2/layout/IconVerticalSolidList"/>
    <dgm:cxn modelId="{6C31843D-D63A-4163-A22E-0895BFB2509C}" type="presParOf" srcId="{7882A76E-DF8D-47D5-B242-823E46AB56C7}" destId="{854E525F-E3F8-408D-BF48-6BFAB15EA01C}" srcOrd="3" destOrd="0" presId="urn:microsoft.com/office/officeart/2018/2/layout/IconVerticalSolidList"/>
    <dgm:cxn modelId="{30CC0312-0596-40DA-8DB4-9B19B902F955}" type="presParOf" srcId="{8137A3B6-26EF-4D1B-9ABE-B7569539AB15}" destId="{3B60062D-473A-49B9-8177-27D167ADC3B8}" srcOrd="5" destOrd="0" presId="urn:microsoft.com/office/officeart/2018/2/layout/IconVerticalSolidList"/>
    <dgm:cxn modelId="{809DCF14-FB67-48AB-9870-B05658457DDC}" type="presParOf" srcId="{8137A3B6-26EF-4D1B-9ABE-B7569539AB15}" destId="{FC6D1C2A-A122-43D2-A979-EE61F828225F}" srcOrd="6" destOrd="0" presId="urn:microsoft.com/office/officeart/2018/2/layout/IconVerticalSolidList"/>
    <dgm:cxn modelId="{D30A0B87-C5B1-4AE4-9E2D-321BB5AC4DEF}" type="presParOf" srcId="{FC6D1C2A-A122-43D2-A979-EE61F828225F}" destId="{20424EE7-6077-43B1-A17D-064AF107D7DA}" srcOrd="0" destOrd="0" presId="urn:microsoft.com/office/officeart/2018/2/layout/IconVerticalSolidList"/>
    <dgm:cxn modelId="{00B0BA61-24BB-4E79-8C17-16BA37926F4B}" type="presParOf" srcId="{FC6D1C2A-A122-43D2-A979-EE61F828225F}" destId="{1258C030-C582-4966-9321-1438E69E70D8}" srcOrd="1" destOrd="0" presId="urn:microsoft.com/office/officeart/2018/2/layout/IconVerticalSolidList"/>
    <dgm:cxn modelId="{BA83D0B2-9457-42F6-A505-5A6700033961}" type="presParOf" srcId="{FC6D1C2A-A122-43D2-A979-EE61F828225F}" destId="{C84AA5F8-4A05-4AC0-90CC-F0E99702C121}" srcOrd="2" destOrd="0" presId="urn:microsoft.com/office/officeart/2018/2/layout/IconVerticalSolidList"/>
    <dgm:cxn modelId="{93504A79-10BE-4CE5-AB36-F94E2A44E7F3}" type="presParOf" srcId="{FC6D1C2A-A122-43D2-A979-EE61F828225F}" destId="{A8007AE8-7BB7-4233-A5CD-EB3DB472C5A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EAFDA6-D621-455C-B04C-F6B0E9F07509}" type="doc">
      <dgm:prSet loTypeId="urn:microsoft.com/office/officeart/2005/8/layout/cycle1" loCatId="cycle" qsTypeId="urn:microsoft.com/office/officeart/2005/8/quickstyle/simple1#3" qsCatId="simple" csTypeId="urn:microsoft.com/office/officeart/2005/8/colors/colorful5#1" csCatId="colorful" phldr="1"/>
      <dgm:spPr/>
      <dgm:t>
        <a:bodyPr/>
        <a:lstStyle/>
        <a:p>
          <a:endParaRPr lang="en-US"/>
        </a:p>
      </dgm:t>
    </dgm:pt>
    <dgm:pt modelId="{9D42CA83-AA19-48CE-8ED0-8AED7548E4DB}">
      <dgm:prSet/>
      <dgm:spPr/>
      <dgm:t>
        <a:bodyPr/>
        <a:lstStyle/>
        <a:p>
          <a:r>
            <a:rPr lang="es-CL" noProof="0" dirty="0"/>
            <a:t>Una empresa o </a:t>
          </a:r>
          <a:r>
            <a:rPr lang="es-CL" b="1" noProof="0" dirty="0"/>
            <a:t>corporación</a:t>
          </a:r>
          <a:r>
            <a:rPr lang="es-CL" noProof="0" dirty="0"/>
            <a:t> es una entidad jurídica creada de acuerdo con la legislación vigente. </a:t>
          </a:r>
        </a:p>
      </dgm:t>
    </dgm:pt>
    <dgm:pt modelId="{DFA682A9-AAE7-4052-9083-FFBF08D250EB}" type="parTrans" cxnId="{8F522205-58D7-49C3-980A-137B19D89530}">
      <dgm:prSet/>
      <dgm:spPr/>
      <dgm:t>
        <a:bodyPr/>
        <a:lstStyle/>
        <a:p>
          <a:endParaRPr lang="en-US"/>
        </a:p>
      </dgm:t>
    </dgm:pt>
    <dgm:pt modelId="{CBE0ED78-DCB4-4296-BD06-1C49C7ADFAE3}" type="sibTrans" cxnId="{8F522205-58D7-49C3-980A-137B19D89530}">
      <dgm:prSet/>
      <dgm:spPr/>
      <dgm:t>
        <a:bodyPr/>
        <a:lstStyle/>
        <a:p>
          <a:endParaRPr lang="en-US"/>
        </a:p>
      </dgm:t>
    </dgm:pt>
    <dgm:pt modelId="{420C6516-8374-462B-898A-ECB1A038A825}">
      <dgm:prSet/>
      <dgm:spPr/>
      <dgm:t>
        <a:bodyPr/>
        <a:lstStyle/>
        <a:p>
          <a:r>
            <a:rPr lang="es-CL" noProof="0" dirty="0"/>
            <a:t>Pasa a ser una PERSONA JURIDICA. </a:t>
          </a:r>
        </a:p>
      </dgm:t>
    </dgm:pt>
    <dgm:pt modelId="{F3C13F95-A4E8-4CBB-B954-105FC06A3F65}" type="parTrans" cxnId="{3702E693-CC90-4D98-A59A-6E3503222EB8}">
      <dgm:prSet/>
      <dgm:spPr/>
      <dgm:t>
        <a:bodyPr/>
        <a:lstStyle/>
        <a:p>
          <a:endParaRPr lang="en-US"/>
        </a:p>
      </dgm:t>
    </dgm:pt>
    <dgm:pt modelId="{89E9D11A-B2A0-40FF-907F-7CCCFC0A77A4}" type="sibTrans" cxnId="{3702E693-CC90-4D98-A59A-6E3503222EB8}">
      <dgm:prSet/>
      <dgm:spPr/>
      <dgm:t>
        <a:bodyPr/>
        <a:lstStyle/>
        <a:p>
          <a:endParaRPr lang="en-US"/>
        </a:p>
      </dgm:t>
    </dgm:pt>
    <dgm:pt modelId="{D5B824D0-C3E5-490C-BCB4-481BC88ACAF9}">
      <dgm:prSet/>
      <dgm:spPr/>
      <dgm:t>
        <a:bodyPr/>
        <a:lstStyle/>
        <a:p>
          <a:r>
            <a:rPr lang="es-CL" noProof="0" dirty="0"/>
            <a:t>Tiene sus propios privilegios y responsabilidades distintos a la de sus socios.</a:t>
          </a:r>
        </a:p>
      </dgm:t>
    </dgm:pt>
    <dgm:pt modelId="{0F5163B2-91B4-4C34-A166-08126258A3D6}" type="parTrans" cxnId="{DC221CFD-1AE6-4E12-B7CB-99F824D9E6DE}">
      <dgm:prSet/>
      <dgm:spPr/>
      <dgm:t>
        <a:bodyPr/>
        <a:lstStyle/>
        <a:p>
          <a:endParaRPr lang="en-US"/>
        </a:p>
      </dgm:t>
    </dgm:pt>
    <dgm:pt modelId="{1C6E44A9-540B-4AB5-B7F9-AE41728BF9ED}" type="sibTrans" cxnId="{DC221CFD-1AE6-4E12-B7CB-99F824D9E6DE}">
      <dgm:prSet/>
      <dgm:spPr/>
      <dgm:t>
        <a:bodyPr/>
        <a:lstStyle/>
        <a:p>
          <a:endParaRPr lang="en-US"/>
        </a:p>
      </dgm:t>
    </dgm:pt>
    <dgm:pt modelId="{22167612-8EE0-450D-830D-11D44C5292A0}">
      <dgm:prSet/>
      <dgm:spPr/>
      <dgm:t>
        <a:bodyPr/>
        <a:lstStyle/>
        <a:p>
          <a:r>
            <a:rPr lang="es-CL" noProof="0" dirty="0"/>
            <a:t>Los socios pueden ser personas naturales o jurídicas.</a:t>
          </a:r>
        </a:p>
      </dgm:t>
    </dgm:pt>
    <dgm:pt modelId="{C99631B0-4F90-4BF6-B8D3-6CD81E0FD985}" type="parTrans" cxnId="{BF9E9E1B-4888-43BB-B774-BF74C854FAF0}">
      <dgm:prSet/>
      <dgm:spPr/>
      <dgm:t>
        <a:bodyPr/>
        <a:lstStyle/>
        <a:p>
          <a:endParaRPr lang="en-US"/>
        </a:p>
      </dgm:t>
    </dgm:pt>
    <dgm:pt modelId="{01CE46CC-D6A9-47CB-94FA-08975801CA10}" type="sibTrans" cxnId="{BF9E9E1B-4888-43BB-B774-BF74C854FAF0}">
      <dgm:prSet/>
      <dgm:spPr/>
      <dgm:t>
        <a:bodyPr/>
        <a:lstStyle/>
        <a:p>
          <a:endParaRPr lang="en-US"/>
        </a:p>
      </dgm:t>
    </dgm:pt>
    <dgm:pt modelId="{C5CB9DC2-D042-4BD6-BDA9-3986302DAD7F}" type="pres">
      <dgm:prSet presAssocID="{FBEAFDA6-D621-455C-B04C-F6B0E9F07509}" presName="cycle" presStyleCnt="0">
        <dgm:presLayoutVars>
          <dgm:dir/>
          <dgm:resizeHandles val="exact"/>
        </dgm:presLayoutVars>
      </dgm:prSet>
      <dgm:spPr/>
    </dgm:pt>
    <dgm:pt modelId="{41729EB8-7F74-48B4-9C94-AA443418180E}" type="pres">
      <dgm:prSet presAssocID="{9D42CA83-AA19-48CE-8ED0-8AED7548E4DB}" presName="dummy" presStyleCnt="0"/>
      <dgm:spPr/>
    </dgm:pt>
    <dgm:pt modelId="{599E4DA0-7D76-4BED-A4B2-5206830C14EC}" type="pres">
      <dgm:prSet presAssocID="{9D42CA83-AA19-48CE-8ED0-8AED7548E4DB}" presName="node" presStyleLbl="revTx" presStyleIdx="0" presStyleCnt="4">
        <dgm:presLayoutVars>
          <dgm:bulletEnabled val="1"/>
        </dgm:presLayoutVars>
      </dgm:prSet>
      <dgm:spPr/>
    </dgm:pt>
    <dgm:pt modelId="{66254E8A-9AB5-4FFD-B9C6-CA9FF5058C84}" type="pres">
      <dgm:prSet presAssocID="{CBE0ED78-DCB4-4296-BD06-1C49C7ADFAE3}" presName="sibTrans" presStyleLbl="node1" presStyleIdx="0" presStyleCnt="4"/>
      <dgm:spPr/>
    </dgm:pt>
    <dgm:pt modelId="{B4F10440-3543-47F7-8A47-5E81F438E13D}" type="pres">
      <dgm:prSet presAssocID="{420C6516-8374-462B-898A-ECB1A038A825}" presName="dummy" presStyleCnt="0"/>
      <dgm:spPr/>
    </dgm:pt>
    <dgm:pt modelId="{12531CF6-0041-4CB6-9829-87FBD0F23E31}" type="pres">
      <dgm:prSet presAssocID="{420C6516-8374-462B-898A-ECB1A038A825}" presName="node" presStyleLbl="revTx" presStyleIdx="1" presStyleCnt="4">
        <dgm:presLayoutVars>
          <dgm:bulletEnabled val="1"/>
        </dgm:presLayoutVars>
      </dgm:prSet>
      <dgm:spPr/>
    </dgm:pt>
    <dgm:pt modelId="{438E0D6D-7128-47A2-B894-F7FEEC3CCBDE}" type="pres">
      <dgm:prSet presAssocID="{89E9D11A-B2A0-40FF-907F-7CCCFC0A77A4}" presName="sibTrans" presStyleLbl="node1" presStyleIdx="1" presStyleCnt="4"/>
      <dgm:spPr/>
    </dgm:pt>
    <dgm:pt modelId="{52ECB589-214A-4DED-BC92-6E750EF46857}" type="pres">
      <dgm:prSet presAssocID="{D5B824D0-C3E5-490C-BCB4-481BC88ACAF9}" presName="dummy" presStyleCnt="0"/>
      <dgm:spPr/>
    </dgm:pt>
    <dgm:pt modelId="{732BB13F-5610-4085-961D-5C97408BF643}" type="pres">
      <dgm:prSet presAssocID="{D5B824D0-C3E5-490C-BCB4-481BC88ACAF9}" presName="node" presStyleLbl="revTx" presStyleIdx="2" presStyleCnt="4">
        <dgm:presLayoutVars>
          <dgm:bulletEnabled val="1"/>
        </dgm:presLayoutVars>
      </dgm:prSet>
      <dgm:spPr/>
    </dgm:pt>
    <dgm:pt modelId="{35725EBD-AD6A-473C-9507-883BBA792DD5}" type="pres">
      <dgm:prSet presAssocID="{1C6E44A9-540B-4AB5-B7F9-AE41728BF9ED}" presName="sibTrans" presStyleLbl="node1" presStyleIdx="2" presStyleCnt="4"/>
      <dgm:spPr/>
    </dgm:pt>
    <dgm:pt modelId="{897E6252-5FF7-409D-98C3-906C78EC44A7}" type="pres">
      <dgm:prSet presAssocID="{22167612-8EE0-450D-830D-11D44C5292A0}" presName="dummy" presStyleCnt="0"/>
      <dgm:spPr/>
    </dgm:pt>
    <dgm:pt modelId="{3853BB66-BF42-4180-BDC5-13E517B73C11}" type="pres">
      <dgm:prSet presAssocID="{22167612-8EE0-450D-830D-11D44C5292A0}" presName="node" presStyleLbl="revTx" presStyleIdx="3" presStyleCnt="4">
        <dgm:presLayoutVars>
          <dgm:bulletEnabled val="1"/>
        </dgm:presLayoutVars>
      </dgm:prSet>
      <dgm:spPr/>
    </dgm:pt>
    <dgm:pt modelId="{8C7379D2-D010-485C-9BFB-B3164FF73528}" type="pres">
      <dgm:prSet presAssocID="{01CE46CC-D6A9-47CB-94FA-08975801CA10}" presName="sibTrans" presStyleLbl="node1" presStyleIdx="3" presStyleCnt="4"/>
      <dgm:spPr/>
    </dgm:pt>
  </dgm:ptLst>
  <dgm:cxnLst>
    <dgm:cxn modelId="{84209A00-6C6A-488A-8C7D-7E2BB4B66680}" type="presOf" srcId="{22167612-8EE0-450D-830D-11D44C5292A0}" destId="{3853BB66-BF42-4180-BDC5-13E517B73C11}" srcOrd="0" destOrd="0" presId="urn:microsoft.com/office/officeart/2005/8/layout/cycle1"/>
    <dgm:cxn modelId="{8F522205-58D7-49C3-980A-137B19D89530}" srcId="{FBEAFDA6-D621-455C-B04C-F6B0E9F07509}" destId="{9D42CA83-AA19-48CE-8ED0-8AED7548E4DB}" srcOrd="0" destOrd="0" parTransId="{DFA682A9-AAE7-4052-9083-FFBF08D250EB}" sibTransId="{CBE0ED78-DCB4-4296-BD06-1C49C7ADFAE3}"/>
    <dgm:cxn modelId="{BF9E9E1B-4888-43BB-B774-BF74C854FAF0}" srcId="{FBEAFDA6-D621-455C-B04C-F6B0E9F07509}" destId="{22167612-8EE0-450D-830D-11D44C5292A0}" srcOrd="3" destOrd="0" parTransId="{C99631B0-4F90-4BF6-B8D3-6CD81E0FD985}" sibTransId="{01CE46CC-D6A9-47CB-94FA-08975801CA10}"/>
    <dgm:cxn modelId="{87589964-6A4C-4AB6-8054-17B28A3B5667}" type="presOf" srcId="{1C6E44A9-540B-4AB5-B7F9-AE41728BF9ED}" destId="{35725EBD-AD6A-473C-9507-883BBA792DD5}" srcOrd="0" destOrd="0" presId="urn:microsoft.com/office/officeart/2005/8/layout/cycle1"/>
    <dgm:cxn modelId="{EC6F3B92-B017-4189-8C59-366C038ADEDD}" type="presOf" srcId="{9D42CA83-AA19-48CE-8ED0-8AED7548E4DB}" destId="{599E4DA0-7D76-4BED-A4B2-5206830C14EC}" srcOrd="0" destOrd="0" presId="urn:microsoft.com/office/officeart/2005/8/layout/cycle1"/>
    <dgm:cxn modelId="{3702E693-CC90-4D98-A59A-6E3503222EB8}" srcId="{FBEAFDA6-D621-455C-B04C-F6B0E9F07509}" destId="{420C6516-8374-462B-898A-ECB1A038A825}" srcOrd="1" destOrd="0" parTransId="{F3C13F95-A4E8-4CBB-B954-105FC06A3F65}" sibTransId="{89E9D11A-B2A0-40FF-907F-7CCCFC0A77A4}"/>
    <dgm:cxn modelId="{FB9246AB-62C9-4444-BE9D-7EF94477BF3A}" type="presOf" srcId="{D5B824D0-C3E5-490C-BCB4-481BC88ACAF9}" destId="{732BB13F-5610-4085-961D-5C97408BF643}" srcOrd="0" destOrd="0" presId="urn:microsoft.com/office/officeart/2005/8/layout/cycle1"/>
    <dgm:cxn modelId="{D77F7EE3-3C22-4C71-868F-E6C6B7530530}" type="presOf" srcId="{FBEAFDA6-D621-455C-B04C-F6B0E9F07509}" destId="{C5CB9DC2-D042-4BD6-BDA9-3986302DAD7F}" srcOrd="0" destOrd="0" presId="urn:microsoft.com/office/officeart/2005/8/layout/cycle1"/>
    <dgm:cxn modelId="{ADC11EEF-2FDA-41DF-9D19-9DC0924C13F1}" type="presOf" srcId="{420C6516-8374-462B-898A-ECB1A038A825}" destId="{12531CF6-0041-4CB6-9829-87FBD0F23E31}" srcOrd="0" destOrd="0" presId="urn:microsoft.com/office/officeart/2005/8/layout/cycle1"/>
    <dgm:cxn modelId="{ADC9F0F1-526A-46D0-9B7E-328304A036DB}" type="presOf" srcId="{89E9D11A-B2A0-40FF-907F-7CCCFC0A77A4}" destId="{438E0D6D-7128-47A2-B894-F7FEEC3CCBDE}" srcOrd="0" destOrd="0" presId="urn:microsoft.com/office/officeart/2005/8/layout/cycle1"/>
    <dgm:cxn modelId="{616E85F5-AC93-4500-A6DF-EC2DF909D120}" type="presOf" srcId="{CBE0ED78-DCB4-4296-BD06-1C49C7ADFAE3}" destId="{66254E8A-9AB5-4FFD-B9C6-CA9FF5058C84}" srcOrd="0" destOrd="0" presId="urn:microsoft.com/office/officeart/2005/8/layout/cycle1"/>
    <dgm:cxn modelId="{B6289AF5-F40C-4EA5-B3BE-0739DAC7814B}" type="presOf" srcId="{01CE46CC-D6A9-47CB-94FA-08975801CA10}" destId="{8C7379D2-D010-485C-9BFB-B3164FF73528}" srcOrd="0" destOrd="0" presId="urn:microsoft.com/office/officeart/2005/8/layout/cycle1"/>
    <dgm:cxn modelId="{DC221CFD-1AE6-4E12-B7CB-99F824D9E6DE}" srcId="{FBEAFDA6-D621-455C-B04C-F6B0E9F07509}" destId="{D5B824D0-C3E5-490C-BCB4-481BC88ACAF9}" srcOrd="2" destOrd="0" parTransId="{0F5163B2-91B4-4C34-A166-08126258A3D6}" sibTransId="{1C6E44A9-540B-4AB5-B7F9-AE41728BF9ED}"/>
    <dgm:cxn modelId="{EBAEFDA8-EE94-4BA5-B2FA-50EBC964B082}" type="presParOf" srcId="{C5CB9DC2-D042-4BD6-BDA9-3986302DAD7F}" destId="{41729EB8-7F74-48B4-9C94-AA443418180E}" srcOrd="0" destOrd="0" presId="urn:microsoft.com/office/officeart/2005/8/layout/cycle1"/>
    <dgm:cxn modelId="{C88B08B4-D38F-4898-92AB-CEFEF425FC0E}" type="presParOf" srcId="{C5CB9DC2-D042-4BD6-BDA9-3986302DAD7F}" destId="{599E4DA0-7D76-4BED-A4B2-5206830C14EC}" srcOrd="1" destOrd="0" presId="urn:microsoft.com/office/officeart/2005/8/layout/cycle1"/>
    <dgm:cxn modelId="{B82AFBFC-264B-48FC-939B-2CB37BFF8E02}" type="presParOf" srcId="{C5CB9DC2-D042-4BD6-BDA9-3986302DAD7F}" destId="{66254E8A-9AB5-4FFD-B9C6-CA9FF5058C84}" srcOrd="2" destOrd="0" presId="urn:microsoft.com/office/officeart/2005/8/layout/cycle1"/>
    <dgm:cxn modelId="{BCF17423-D50E-4FB7-AA4F-99C959A0A75C}" type="presParOf" srcId="{C5CB9DC2-D042-4BD6-BDA9-3986302DAD7F}" destId="{B4F10440-3543-47F7-8A47-5E81F438E13D}" srcOrd="3" destOrd="0" presId="urn:microsoft.com/office/officeart/2005/8/layout/cycle1"/>
    <dgm:cxn modelId="{03F346A6-9DD7-434E-AF03-D723AC3EBC1B}" type="presParOf" srcId="{C5CB9DC2-D042-4BD6-BDA9-3986302DAD7F}" destId="{12531CF6-0041-4CB6-9829-87FBD0F23E31}" srcOrd="4" destOrd="0" presId="urn:microsoft.com/office/officeart/2005/8/layout/cycle1"/>
    <dgm:cxn modelId="{AFA5EF6D-09DA-415F-A444-91CEECA33E40}" type="presParOf" srcId="{C5CB9DC2-D042-4BD6-BDA9-3986302DAD7F}" destId="{438E0D6D-7128-47A2-B894-F7FEEC3CCBDE}" srcOrd="5" destOrd="0" presId="urn:microsoft.com/office/officeart/2005/8/layout/cycle1"/>
    <dgm:cxn modelId="{D38BBA95-7F80-4D9F-8B06-41712DB07096}" type="presParOf" srcId="{C5CB9DC2-D042-4BD6-BDA9-3986302DAD7F}" destId="{52ECB589-214A-4DED-BC92-6E750EF46857}" srcOrd="6" destOrd="0" presId="urn:microsoft.com/office/officeart/2005/8/layout/cycle1"/>
    <dgm:cxn modelId="{042728B0-5222-4C3F-A1D7-7949BBBB9615}" type="presParOf" srcId="{C5CB9DC2-D042-4BD6-BDA9-3986302DAD7F}" destId="{732BB13F-5610-4085-961D-5C97408BF643}" srcOrd="7" destOrd="0" presId="urn:microsoft.com/office/officeart/2005/8/layout/cycle1"/>
    <dgm:cxn modelId="{983392E9-1DAE-48F2-8C92-A691D823AAB1}" type="presParOf" srcId="{C5CB9DC2-D042-4BD6-BDA9-3986302DAD7F}" destId="{35725EBD-AD6A-473C-9507-883BBA792DD5}" srcOrd="8" destOrd="0" presId="urn:microsoft.com/office/officeart/2005/8/layout/cycle1"/>
    <dgm:cxn modelId="{FDE19844-DE93-4909-854F-0C522971325E}" type="presParOf" srcId="{C5CB9DC2-D042-4BD6-BDA9-3986302DAD7F}" destId="{897E6252-5FF7-409D-98C3-906C78EC44A7}" srcOrd="9" destOrd="0" presId="urn:microsoft.com/office/officeart/2005/8/layout/cycle1"/>
    <dgm:cxn modelId="{7DDAD93F-6A40-400D-BE5D-FAD0E884FE5A}" type="presParOf" srcId="{C5CB9DC2-D042-4BD6-BDA9-3986302DAD7F}" destId="{3853BB66-BF42-4180-BDC5-13E517B73C11}" srcOrd="10" destOrd="0" presId="urn:microsoft.com/office/officeart/2005/8/layout/cycle1"/>
    <dgm:cxn modelId="{93391612-0975-492F-9916-73544308840A}" type="presParOf" srcId="{C5CB9DC2-D042-4BD6-BDA9-3986302DAD7F}" destId="{8C7379D2-D010-485C-9BFB-B3164FF73528}" srcOrd="11"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15D35D-250A-4BDB-AEDC-5EAC23E037FC}" type="doc">
      <dgm:prSet loTypeId="urn:microsoft.com/office/officeart/2005/8/layout/matrix2" loCatId="matrix" qsTypeId="urn:microsoft.com/office/officeart/2005/8/quickstyle/simple1#4" qsCatId="simple" csTypeId="urn:microsoft.com/office/officeart/2005/8/colors/colorful1#1" csCatId="colorful" phldr="1"/>
      <dgm:spPr/>
      <dgm:t>
        <a:bodyPr/>
        <a:lstStyle/>
        <a:p>
          <a:endParaRPr lang="en-US"/>
        </a:p>
      </dgm:t>
    </dgm:pt>
    <dgm:pt modelId="{56D42836-AA7A-4D27-AB03-EEB548F4207F}">
      <dgm:prSet/>
      <dgm:spPr/>
      <dgm:t>
        <a:bodyPr/>
        <a:lstStyle/>
        <a:p>
          <a:r>
            <a:rPr lang="es-CL" noProof="0" dirty="0"/>
            <a:t>Están constituidas legalmente.</a:t>
          </a:r>
        </a:p>
      </dgm:t>
    </dgm:pt>
    <dgm:pt modelId="{E50CD49B-E036-4F8F-B2CB-9968C12691BB}" type="parTrans" cxnId="{13F46203-807E-48BA-8DB7-CDD2749DA20B}">
      <dgm:prSet/>
      <dgm:spPr/>
      <dgm:t>
        <a:bodyPr/>
        <a:lstStyle/>
        <a:p>
          <a:endParaRPr lang="en-US"/>
        </a:p>
      </dgm:t>
    </dgm:pt>
    <dgm:pt modelId="{4BEF797B-F2A9-4C9A-AAEA-4EAEF8E955CC}" type="sibTrans" cxnId="{13F46203-807E-48BA-8DB7-CDD2749DA20B}">
      <dgm:prSet/>
      <dgm:spPr/>
      <dgm:t>
        <a:bodyPr/>
        <a:lstStyle/>
        <a:p>
          <a:endParaRPr lang="en-US"/>
        </a:p>
      </dgm:t>
    </dgm:pt>
    <dgm:pt modelId="{240BF9BD-082F-4C5F-ABAE-EFE57CDB8220}">
      <dgm:prSet/>
      <dgm:spPr/>
      <dgm:t>
        <a:bodyPr/>
        <a:lstStyle/>
        <a:p>
          <a:r>
            <a:rPr lang="es-CL" noProof="0" dirty="0"/>
            <a:t>Los socios responden de hasta su aporte.</a:t>
          </a:r>
        </a:p>
      </dgm:t>
    </dgm:pt>
    <dgm:pt modelId="{1543056F-69B3-49DB-A0F7-D2C8F51FE69E}" type="parTrans" cxnId="{8044A2BA-D208-45AE-8318-8DD7A4AEAD07}">
      <dgm:prSet/>
      <dgm:spPr/>
      <dgm:t>
        <a:bodyPr/>
        <a:lstStyle/>
        <a:p>
          <a:endParaRPr lang="en-US"/>
        </a:p>
      </dgm:t>
    </dgm:pt>
    <dgm:pt modelId="{94941DA3-D104-4201-90E8-A332C5BACB5F}" type="sibTrans" cxnId="{8044A2BA-D208-45AE-8318-8DD7A4AEAD07}">
      <dgm:prSet/>
      <dgm:spPr/>
      <dgm:t>
        <a:bodyPr/>
        <a:lstStyle/>
        <a:p>
          <a:endParaRPr lang="en-US"/>
        </a:p>
      </dgm:t>
    </dgm:pt>
    <dgm:pt modelId="{29836040-EA62-4E99-AAA4-213B77985D5E}">
      <dgm:prSet/>
      <dgm:spPr/>
      <dgm:t>
        <a:bodyPr/>
        <a:lstStyle/>
        <a:p>
          <a:r>
            <a:rPr lang="es-CL" noProof="0" dirty="0"/>
            <a:t>La administración, dependiendo del tipo de sociedad, está delegada en una gerencia o en un directorio.</a:t>
          </a:r>
        </a:p>
      </dgm:t>
    </dgm:pt>
    <dgm:pt modelId="{1E20F2E7-CAC9-4DC3-B954-6583FD447EF7}" type="parTrans" cxnId="{C1615E51-1C0C-45CE-9E05-E07321DA5EBC}">
      <dgm:prSet/>
      <dgm:spPr/>
      <dgm:t>
        <a:bodyPr/>
        <a:lstStyle/>
        <a:p>
          <a:endParaRPr lang="en-US"/>
        </a:p>
      </dgm:t>
    </dgm:pt>
    <dgm:pt modelId="{7F828E26-8EDC-4ACC-9FE5-A3E3748AAFB2}" type="sibTrans" cxnId="{C1615E51-1C0C-45CE-9E05-E07321DA5EBC}">
      <dgm:prSet/>
      <dgm:spPr/>
      <dgm:t>
        <a:bodyPr/>
        <a:lstStyle/>
        <a:p>
          <a:endParaRPr lang="en-US"/>
        </a:p>
      </dgm:t>
    </dgm:pt>
    <dgm:pt modelId="{869E2FD5-45F4-4C77-BCAB-F640747A68D1}">
      <dgm:prSet/>
      <dgm:spPr/>
      <dgm:t>
        <a:bodyPr/>
        <a:lstStyle/>
        <a:p>
          <a:r>
            <a:rPr lang="es-CL" noProof="0" dirty="0"/>
            <a:t>La propiedad puede ser transferida o vendida. </a:t>
          </a:r>
        </a:p>
      </dgm:t>
    </dgm:pt>
    <dgm:pt modelId="{DB4D2EDB-2CA6-4925-8BF1-CA63BB2C0915}" type="parTrans" cxnId="{6428CF1D-C912-4DCC-8694-28A5CC6AF956}">
      <dgm:prSet/>
      <dgm:spPr/>
      <dgm:t>
        <a:bodyPr/>
        <a:lstStyle/>
        <a:p>
          <a:endParaRPr lang="en-US"/>
        </a:p>
      </dgm:t>
    </dgm:pt>
    <dgm:pt modelId="{C0EFB051-44DB-4273-ADEA-B38A910A05E5}" type="sibTrans" cxnId="{6428CF1D-C912-4DCC-8694-28A5CC6AF956}">
      <dgm:prSet/>
      <dgm:spPr/>
      <dgm:t>
        <a:bodyPr/>
        <a:lstStyle/>
        <a:p>
          <a:endParaRPr lang="en-US"/>
        </a:p>
      </dgm:t>
    </dgm:pt>
    <dgm:pt modelId="{25EB08F9-E8D1-472F-ADB8-10BAEC4AB1AA}" type="pres">
      <dgm:prSet presAssocID="{1715D35D-250A-4BDB-AEDC-5EAC23E037FC}" presName="matrix" presStyleCnt="0">
        <dgm:presLayoutVars>
          <dgm:chMax val="1"/>
          <dgm:dir/>
          <dgm:resizeHandles val="exact"/>
        </dgm:presLayoutVars>
      </dgm:prSet>
      <dgm:spPr/>
    </dgm:pt>
    <dgm:pt modelId="{CF69339D-04A8-4DB0-9E8F-BAD64A8F4625}" type="pres">
      <dgm:prSet presAssocID="{1715D35D-250A-4BDB-AEDC-5EAC23E037FC}" presName="axisShape" presStyleLbl="bgShp" presStyleIdx="0" presStyleCnt="1"/>
      <dgm:spPr/>
    </dgm:pt>
    <dgm:pt modelId="{C0BE08AC-DA50-407A-AEBE-79E075988480}" type="pres">
      <dgm:prSet presAssocID="{1715D35D-250A-4BDB-AEDC-5EAC23E037FC}" presName="rect1" presStyleLbl="node1" presStyleIdx="0" presStyleCnt="4">
        <dgm:presLayoutVars>
          <dgm:chMax val="0"/>
          <dgm:chPref val="0"/>
          <dgm:bulletEnabled val="1"/>
        </dgm:presLayoutVars>
      </dgm:prSet>
      <dgm:spPr/>
    </dgm:pt>
    <dgm:pt modelId="{A6C64680-3A83-42DE-9930-F7B2A973CE68}" type="pres">
      <dgm:prSet presAssocID="{1715D35D-250A-4BDB-AEDC-5EAC23E037FC}" presName="rect2" presStyleLbl="node1" presStyleIdx="1" presStyleCnt="4">
        <dgm:presLayoutVars>
          <dgm:chMax val="0"/>
          <dgm:chPref val="0"/>
          <dgm:bulletEnabled val="1"/>
        </dgm:presLayoutVars>
      </dgm:prSet>
      <dgm:spPr/>
    </dgm:pt>
    <dgm:pt modelId="{48EEE240-34CD-4B77-AB49-123E073F91C2}" type="pres">
      <dgm:prSet presAssocID="{1715D35D-250A-4BDB-AEDC-5EAC23E037FC}" presName="rect3" presStyleLbl="node1" presStyleIdx="2" presStyleCnt="4">
        <dgm:presLayoutVars>
          <dgm:chMax val="0"/>
          <dgm:chPref val="0"/>
          <dgm:bulletEnabled val="1"/>
        </dgm:presLayoutVars>
      </dgm:prSet>
      <dgm:spPr/>
    </dgm:pt>
    <dgm:pt modelId="{EC8E0C52-3B69-42A4-9D0A-7AEE9678EE97}" type="pres">
      <dgm:prSet presAssocID="{1715D35D-250A-4BDB-AEDC-5EAC23E037FC}" presName="rect4" presStyleLbl="node1" presStyleIdx="3" presStyleCnt="4">
        <dgm:presLayoutVars>
          <dgm:chMax val="0"/>
          <dgm:chPref val="0"/>
          <dgm:bulletEnabled val="1"/>
        </dgm:presLayoutVars>
      </dgm:prSet>
      <dgm:spPr/>
    </dgm:pt>
  </dgm:ptLst>
  <dgm:cxnLst>
    <dgm:cxn modelId="{13F46203-807E-48BA-8DB7-CDD2749DA20B}" srcId="{1715D35D-250A-4BDB-AEDC-5EAC23E037FC}" destId="{56D42836-AA7A-4D27-AB03-EEB548F4207F}" srcOrd="0" destOrd="0" parTransId="{E50CD49B-E036-4F8F-B2CB-9968C12691BB}" sibTransId="{4BEF797B-F2A9-4C9A-AAEA-4EAEF8E955CC}"/>
    <dgm:cxn modelId="{E2178608-3051-44DF-869B-A3574DBA2D60}" type="presOf" srcId="{29836040-EA62-4E99-AAA4-213B77985D5E}" destId="{48EEE240-34CD-4B77-AB49-123E073F91C2}" srcOrd="0" destOrd="0" presId="urn:microsoft.com/office/officeart/2005/8/layout/matrix2"/>
    <dgm:cxn modelId="{62F9AB10-36A8-48FF-AAC3-DDBE535CE164}" type="presOf" srcId="{240BF9BD-082F-4C5F-ABAE-EFE57CDB8220}" destId="{A6C64680-3A83-42DE-9930-F7B2A973CE68}" srcOrd="0" destOrd="0" presId="urn:microsoft.com/office/officeart/2005/8/layout/matrix2"/>
    <dgm:cxn modelId="{2266F218-18C5-4EE1-A19D-53FC158EE277}" type="presOf" srcId="{1715D35D-250A-4BDB-AEDC-5EAC23E037FC}" destId="{25EB08F9-E8D1-472F-ADB8-10BAEC4AB1AA}" srcOrd="0" destOrd="0" presId="urn:microsoft.com/office/officeart/2005/8/layout/matrix2"/>
    <dgm:cxn modelId="{6428CF1D-C912-4DCC-8694-28A5CC6AF956}" srcId="{1715D35D-250A-4BDB-AEDC-5EAC23E037FC}" destId="{869E2FD5-45F4-4C77-BCAB-F640747A68D1}" srcOrd="3" destOrd="0" parTransId="{DB4D2EDB-2CA6-4925-8BF1-CA63BB2C0915}" sibTransId="{C0EFB051-44DB-4273-ADEA-B38A910A05E5}"/>
    <dgm:cxn modelId="{C1615E51-1C0C-45CE-9E05-E07321DA5EBC}" srcId="{1715D35D-250A-4BDB-AEDC-5EAC23E037FC}" destId="{29836040-EA62-4E99-AAA4-213B77985D5E}" srcOrd="2" destOrd="0" parTransId="{1E20F2E7-CAC9-4DC3-B954-6583FD447EF7}" sibTransId="{7F828E26-8EDC-4ACC-9FE5-A3E3748AAFB2}"/>
    <dgm:cxn modelId="{5E6C2879-0A54-4103-9D82-BA28DC305120}" type="presOf" srcId="{56D42836-AA7A-4D27-AB03-EEB548F4207F}" destId="{C0BE08AC-DA50-407A-AEBE-79E075988480}" srcOrd="0" destOrd="0" presId="urn:microsoft.com/office/officeart/2005/8/layout/matrix2"/>
    <dgm:cxn modelId="{2A98F69C-ED39-41FA-A697-3F5C93D455C8}" type="presOf" srcId="{869E2FD5-45F4-4C77-BCAB-F640747A68D1}" destId="{EC8E0C52-3B69-42A4-9D0A-7AEE9678EE97}" srcOrd="0" destOrd="0" presId="urn:microsoft.com/office/officeart/2005/8/layout/matrix2"/>
    <dgm:cxn modelId="{8044A2BA-D208-45AE-8318-8DD7A4AEAD07}" srcId="{1715D35D-250A-4BDB-AEDC-5EAC23E037FC}" destId="{240BF9BD-082F-4C5F-ABAE-EFE57CDB8220}" srcOrd="1" destOrd="0" parTransId="{1543056F-69B3-49DB-A0F7-D2C8F51FE69E}" sibTransId="{94941DA3-D104-4201-90E8-A332C5BACB5F}"/>
    <dgm:cxn modelId="{69C8F18D-64F9-4231-B9A6-E8E1BA99A3F9}" type="presParOf" srcId="{25EB08F9-E8D1-472F-ADB8-10BAEC4AB1AA}" destId="{CF69339D-04A8-4DB0-9E8F-BAD64A8F4625}" srcOrd="0" destOrd="0" presId="urn:microsoft.com/office/officeart/2005/8/layout/matrix2"/>
    <dgm:cxn modelId="{773FFC3F-77E7-4219-A9D4-F2E69EAE458C}" type="presParOf" srcId="{25EB08F9-E8D1-472F-ADB8-10BAEC4AB1AA}" destId="{C0BE08AC-DA50-407A-AEBE-79E075988480}" srcOrd="1" destOrd="0" presId="urn:microsoft.com/office/officeart/2005/8/layout/matrix2"/>
    <dgm:cxn modelId="{BF017CA3-9974-47EB-8DF4-7D8282E6C7D2}" type="presParOf" srcId="{25EB08F9-E8D1-472F-ADB8-10BAEC4AB1AA}" destId="{A6C64680-3A83-42DE-9930-F7B2A973CE68}" srcOrd="2" destOrd="0" presId="urn:microsoft.com/office/officeart/2005/8/layout/matrix2"/>
    <dgm:cxn modelId="{2BF6AB00-2A4A-4773-987D-18555D33BB1F}" type="presParOf" srcId="{25EB08F9-E8D1-472F-ADB8-10BAEC4AB1AA}" destId="{48EEE240-34CD-4B77-AB49-123E073F91C2}" srcOrd="3" destOrd="0" presId="urn:microsoft.com/office/officeart/2005/8/layout/matrix2"/>
    <dgm:cxn modelId="{CE325A08-AB7D-475B-9228-7C407096312E}" type="presParOf" srcId="{25EB08F9-E8D1-472F-ADB8-10BAEC4AB1AA}" destId="{EC8E0C52-3B69-42A4-9D0A-7AEE9678EE97}"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BCAA81D-6BF0-4C9F-9813-8E555582F831}" type="doc">
      <dgm:prSet loTypeId="urn:microsoft.com/office/officeart/2018/2/layout/IconVerticalSolidList" loCatId="icon" qsTypeId="urn:microsoft.com/office/officeart/2005/8/quickstyle/simple1#5" qsCatId="simple" csTypeId="urn:microsoft.com/office/officeart/2018/5/colors/Iconchunking_neutralbg_accent3_2" csCatId="accent3" phldr="1"/>
      <dgm:spPr/>
      <dgm:t>
        <a:bodyPr/>
        <a:lstStyle/>
        <a:p>
          <a:endParaRPr lang="en-US"/>
        </a:p>
      </dgm:t>
    </dgm:pt>
    <dgm:pt modelId="{E620C1BD-A5FC-453C-B3FC-53D3C95162C1}">
      <dgm:prSet/>
      <dgm:spPr/>
      <dgm:t>
        <a:bodyPr/>
        <a:lstStyle/>
        <a:p>
          <a:pPr>
            <a:lnSpc>
              <a:spcPct val="100000"/>
            </a:lnSpc>
          </a:pPr>
          <a:r>
            <a:rPr lang="es-CL" noProof="0" dirty="0"/>
            <a:t>Los objetivos especifican la determinación de la empresa de </a:t>
          </a:r>
          <a:r>
            <a:rPr lang="es-CL" b="1" noProof="0" dirty="0"/>
            <a:t>hacia dónde se quiere dirigir</a:t>
          </a:r>
          <a:r>
            <a:rPr lang="es-CL" noProof="0" dirty="0"/>
            <a:t>. Es la situación deseada que se quiere alcanzar.</a:t>
          </a:r>
        </a:p>
      </dgm:t>
    </dgm:pt>
    <dgm:pt modelId="{9E4D7450-BAE1-4F3E-9AA7-CD2D76B1F2C8}" type="parTrans" cxnId="{2BDB8AD5-B38C-45B4-8C6B-AD21C0206FFC}">
      <dgm:prSet/>
      <dgm:spPr/>
      <dgm:t>
        <a:bodyPr/>
        <a:lstStyle/>
        <a:p>
          <a:endParaRPr lang="en-US"/>
        </a:p>
      </dgm:t>
    </dgm:pt>
    <dgm:pt modelId="{48F19373-D5BD-4A47-A21C-A52AA993B37C}" type="sibTrans" cxnId="{2BDB8AD5-B38C-45B4-8C6B-AD21C0206FFC}">
      <dgm:prSet/>
      <dgm:spPr/>
      <dgm:t>
        <a:bodyPr/>
        <a:lstStyle/>
        <a:p>
          <a:pPr>
            <a:lnSpc>
              <a:spcPct val="100000"/>
            </a:lnSpc>
          </a:pPr>
          <a:endParaRPr lang="en-US"/>
        </a:p>
      </dgm:t>
    </dgm:pt>
    <dgm:pt modelId="{FEA57D64-C9C2-4898-A304-A5AC14F2DDC2}">
      <dgm:prSet/>
      <dgm:spPr/>
      <dgm:t>
        <a:bodyPr/>
        <a:lstStyle/>
        <a:p>
          <a:pPr>
            <a:lnSpc>
              <a:spcPct val="100000"/>
            </a:lnSpc>
          </a:pPr>
          <a:r>
            <a:rPr lang="es-CL" noProof="0" dirty="0"/>
            <a:t>Los objetivos son actividades o </a:t>
          </a:r>
          <a:r>
            <a:rPr lang="es-CL" b="1" noProof="0" dirty="0"/>
            <a:t>logros</a:t>
          </a:r>
          <a:r>
            <a:rPr lang="es-CL" noProof="0" dirty="0"/>
            <a:t> específicos que se quieren alcanzar. Por ejemplo: aumentar el patrimonio; crecimiento sostenido; líder en tecnología.</a:t>
          </a:r>
        </a:p>
      </dgm:t>
    </dgm:pt>
    <dgm:pt modelId="{771B2461-01C9-4BF0-81C0-0B07416E11D2}" type="parTrans" cxnId="{290A08ED-CB9E-41F0-81C2-BE50E61F0F8F}">
      <dgm:prSet/>
      <dgm:spPr/>
      <dgm:t>
        <a:bodyPr/>
        <a:lstStyle/>
        <a:p>
          <a:endParaRPr lang="en-US"/>
        </a:p>
      </dgm:t>
    </dgm:pt>
    <dgm:pt modelId="{75D5C10F-D55D-4B33-9BB3-7EBE389A443B}" type="sibTrans" cxnId="{290A08ED-CB9E-41F0-81C2-BE50E61F0F8F}">
      <dgm:prSet/>
      <dgm:spPr/>
      <dgm:t>
        <a:bodyPr/>
        <a:lstStyle/>
        <a:p>
          <a:pPr>
            <a:lnSpc>
              <a:spcPct val="100000"/>
            </a:lnSpc>
          </a:pPr>
          <a:endParaRPr lang="en-US"/>
        </a:p>
      </dgm:t>
    </dgm:pt>
    <dgm:pt modelId="{692BCC84-323F-4073-90A7-988499006D1B}">
      <dgm:prSet/>
      <dgm:spPr/>
      <dgm:t>
        <a:bodyPr/>
        <a:lstStyle/>
        <a:p>
          <a:pPr>
            <a:lnSpc>
              <a:spcPct val="100000"/>
            </a:lnSpc>
          </a:pPr>
          <a:r>
            <a:rPr lang="es-CL" noProof="0" dirty="0"/>
            <a:t>Se distinguen de las </a:t>
          </a:r>
          <a:r>
            <a:rPr lang="es-CL" b="1" noProof="0" dirty="0"/>
            <a:t>metas</a:t>
          </a:r>
          <a:r>
            <a:rPr lang="es-CL" noProof="0" dirty="0"/>
            <a:t> en que estas, </a:t>
          </a:r>
          <a:r>
            <a:rPr lang="es-CL" b="1" noProof="0" dirty="0"/>
            <a:t>son cuantitativas</a:t>
          </a:r>
          <a:r>
            <a:rPr lang="es-CL" noProof="0" dirty="0"/>
            <a:t>, se pueden medir en una unidad de medida, en pesos, número de productos, porcentaje de participación de mercado, etc. </a:t>
          </a:r>
        </a:p>
      </dgm:t>
    </dgm:pt>
    <dgm:pt modelId="{D5A38820-F6F3-4BD6-BCC0-ADC8755C18CF}" type="parTrans" cxnId="{DB0CDDE4-E9A1-4354-AD8C-C461F3CC9817}">
      <dgm:prSet/>
      <dgm:spPr/>
      <dgm:t>
        <a:bodyPr/>
        <a:lstStyle/>
        <a:p>
          <a:endParaRPr lang="en-US"/>
        </a:p>
      </dgm:t>
    </dgm:pt>
    <dgm:pt modelId="{C64C0961-8C2B-487C-AF0A-91FAE83DD211}" type="sibTrans" cxnId="{DB0CDDE4-E9A1-4354-AD8C-C461F3CC9817}">
      <dgm:prSet/>
      <dgm:spPr/>
      <dgm:t>
        <a:bodyPr/>
        <a:lstStyle/>
        <a:p>
          <a:pPr>
            <a:lnSpc>
              <a:spcPct val="100000"/>
            </a:lnSpc>
          </a:pPr>
          <a:endParaRPr lang="en-US"/>
        </a:p>
      </dgm:t>
    </dgm:pt>
    <dgm:pt modelId="{16CB6A93-2A43-420E-8274-792CC320C187}">
      <dgm:prSet/>
      <dgm:spPr/>
      <dgm:t>
        <a:bodyPr/>
        <a:lstStyle/>
        <a:p>
          <a:pPr>
            <a:lnSpc>
              <a:spcPct val="100000"/>
            </a:lnSpc>
          </a:pPr>
          <a:r>
            <a:rPr lang="es-CL" noProof="0" dirty="0"/>
            <a:t>Cabe destacar, que tanto, para las metas como para los objetivos, siempre </a:t>
          </a:r>
          <a:r>
            <a:rPr lang="es-CL" b="1" noProof="0" dirty="0"/>
            <a:t>se  debe establecer su logro en un plazo predeterminado</a:t>
          </a:r>
          <a:r>
            <a:rPr lang="es-CL" noProof="0" dirty="0"/>
            <a:t>, días, semanas, meses, años, etc.</a:t>
          </a:r>
        </a:p>
      </dgm:t>
    </dgm:pt>
    <dgm:pt modelId="{25EA6B56-3009-4DC8-A4AD-043222015675}" type="parTrans" cxnId="{CE445001-A242-4894-81C4-55573D74558C}">
      <dgm:prSet/>
      <dgm:spPr/>
      <dgm:t>
        <a:bodyPr/>
        <a:lstStyle/>
        <a:p>
          <a:endParaRPr lang="en-US"/>
        </a:p>
      </dgm:t>
    </dgm:pt>
    <dgm:pt modelId="{BCA84701-A8C9-48B1-8192-DF7AD3E7B3F3}" type="sibTrans" cxnId="{CE445001-A242-4894-81C4-55573D74558C}">
      <dgm:prSet/>
      <dgm:spPr/>
      <dgm:t>
        <a:bodyPr/>
        <a:lstStyle/>
        <a:p>
          <a:endParaRPr lang="en-US"/>
        </a:p>
      </dgm:t>
    </dgm:pt>
    <dgm:pt modelId="{91591E10-179E-4C45-904C-88320D5B786F}" type="pres">
      <dgm:prSet presAssocID="{9BCAA81D-6BF0-4C9F-9813-8E555582F831}" presName="root" presStyleCnt="0">
        <dgm:presLayoutVars>
          <dgm:dir/>
          <dgm:resizeHandles val="exact"/>
        </dgm:presLayoutVars>
      </dgm:prSet>
      <dgm:spPr/>
    </dgm:pt>
    <dgm:pt modelId="{51DDC1A2-BE6F-48F6-9F92-53FEE883E930}" type="pres">
      <dgm:prSet presAssocID="{E620C1BD-A5FC-453C-B3FC-53D3C95162C1}" presName="compNode" presStyleCnt="0"/>
      <dgm:spPr/>
    </dgm:pt>
    <dgm:pt modelId="{43AC8F1F-6E6E-4F2B-A579-3692D1A17A07}" type="pres">
      <dgm:prSet presAssocID="{E620C1BD-A5FC-453C-B3FC-53D3C95162C1}" presName="bgRect" presStyleLbl="bgShp" presStyleIdx="0" presStyleCnt="4"/>
      <dgm:spPr/>
    </dgm:pt>
    <dgm:pt modelId="{FAF3D297-B0A7-4A9F-BE7E-D05C8C53525D}" type="pres">
      <dgm:prSet presAssocID="{E620C1BD-A5FC-453C-B3FC-53D3C95162C1}"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iana"/>
        </a:ext>
      </dgm:extLst>
    </dgm:pt>
    <dgm:pt modelId="{F1692B85-9913-4703-ACBD-8E26000E408C}" type="pres">
      <dgm:prSet presAssocID="{E620C1BD-A5FC-453C-B3FC-53D3C95162C1}" presName="spaceRect" presStyleCnt="0"/>
      <dgm:spPr/>
    </dgm:pt>
    <dgm:pt modelId="{AC062863-9385-4F7E-ACD9-2BECF495438F}" type="pres">
      <dgm:prSet presAssocID="{E620C1BD-A5FC-453C-B3FC-53D3C95162C1}" presName="parTx" presStyleLbl="revTx" presStyleIdx="0" presStyleCnt="4">
        <dgm:presLayoutVars>
          <dgm:chMax val="0"/>
          <dgm:chPref val="0"/>
        </dgm:presLayoutVars>
      </dgm:prSet>
      <dgm:spPr/>
    </dgm:pt>
    <dgm:pt modelId="{AE0C18FC-0EA6-4E67-85AA-796BAA875FBF}" type="pres">
      <dgm:prSet presAssocID="{48F19373-D5BD-4A47-A21C-A52AA993B37C}" presName="sibTrans" presStyleCnt="0"/>
      <dgm:spPr/>
    </dgm:pt>
    <dgm:pt modelId="{2FBE163C-38DE-47F0-8D2E-E5ADC29E2E85}" type="pres">
      <dgm:prSet presAssocID="{FEA57D64-C9C2-4898-A304-A5AC14F2DDC2}" presName="compNode" presStyleCnt="0"/>
      <dgm:spPr/>
    </dgm:pt>
    <dgm:pt modelId="{FBCE21DC-FAEC-4AF9-B935-8DD2327ADA30}" type="pres">
      <dgm:prSet presAssocID="{FEA57D64-C9C2-4898-A304-A5AC14F2DDC2}" presName="bgRect" presStyleLbl="bgShp" presStyleIdx="1" presStyleCnt="4"/>
      <dgm:spPr/>
    </dgm:pt>
    <dgm:pt modelId="{6469A471-4529-49A1-B36A-2D74D8F29DA8}" type="pres">
      <dgm:prSet presAssocID="{FEA57D64-C9C2-4898-A304-A5AC14F2DDC2}"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9743A8B7-F0C9-4691-B7FC-0B41CB4EDD3F}" type="pres">
      <dgm:prSet presAssocID="{FEA57D64-C9C2-4898-A304-A5AC14F2DDC2}" presName="spaceRect" presStyleCnt="0"/>
      <dgm:spPr/>
    </dgm:pt>
    <dgm:pt modelId="{263BAA38-2189-4604-8EE6-343E7AE42D4B}" type="pres">
      <dgm:prSet presAssocID="{FEA57D64-C9C2-4898-A304-A5AC14F2DDC2}" presName="parTx" presStyleLbl="revTx" presStyleIdx="1" presStyleCnt="4">
        <dgm:presLayoutVars>
          <dgm:chMax val="0"/>
          <dgm:chPref val="0"/>
        </dgm:presLayoutVars>
      </dgm:prSet>
      <dgm:spPr/>
    </dgm:pt>
    <dgm:pt modelId="{23FDBA25-D63A-4B63-A6E2-543F14E12814}" type="pres">
      <dgm:prSet presAssocID="{75D5C10F-D55D-4B33-9BB3-7EBE389A443B}" presName="sibTrans" presStyleCnt="0"/>
      <dgm:spPr/>
    </dgm:pt>
    <dgm:pt modelId="{4CF805DC-36AA-4332-87DC-D3CD738348F6}" type="pres">
      <dgm:prSet presAssocID="{692BCC84-323F-4073-90A7-988499006D1B}" presName="compNode" presStyleCnt="0"/>
      <dgm:spPr/>
    </dgm:pt>
    <dgm:pt modelId="{20B4C655-183E-42E6-B671-70A6FC7526B9}" type="pres">
      <dgm:prSet presAssocID="{692BCC84-323F-4073-90A7-988499006D1B}" presName="bgRect" presStyleLbl="bgShp" presStyleIdx="2" presStyleCnt="4" custLinFactNeighborY="-4994"/>
      <dgm:spPr/>
    </dgm:pt>
    <dgm:pt modelId="{E0BA9A9F-EAB0-40C3-929F-8CCF64510BB9}" type="pres">
      <dgm:prSet presAssocID="{692BCC84-323F-4073-90A7-988499006D1B}"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siness Growth"/>
        </a:ext>
      </dgm:extLst>
    </dgm:pt>
    <dgm:pt modelId="{B9738374-6FFD-41C9-AE25-43E9CD90AAE5}" type="pres">
      <dgm:prSet presAssocID="{692BCC84-323F-4073-90A7-988499006D1B}" presName="spaceRect" presStyleCnt="0"/>
      <dgm:spPr/>
    </dgm:pt>
    <dgm:pt modelId="{35EA3E68-4E71-4395-B3CE-E291F5CCDFE2}" type="pres">
      <dgm:prSet presAssocID="{692BCC84-323F-4073-90A7-988499006D1B}" presName="parTx" presStyleLbl="revTx" presStyleIdx="2" presStyleCnt="4">
        <dgm:presLayoutVars>
          <dgm:chMax val="0"/>
          <dgm:chPref val="0"/>
        </dgm:presLayoutVars>
      </dgm:prSet>
      <dgm:spPr/>
    </dgm:pt>
    <dgm:pt modelId="{B384692A-4481-40D7-A88B-86842DE79FA0}" type="pres">
      <dgm:prSet presAssocID="{C64C0961-8C2B-487C-AF0A-91FAE83DD211}" presName="sibTrans" presStyleCnt="0"/>
      <dgm:spPr/>
    </dgm:pt>
    <dgm:pt modelId="{8EDD3BDD-9B6C-4366-88EC-86AD5A0AAC9E}" type="pres">
      <dgm:prSet presAssocID="{16CB6A93-2A43-420E-8274-792CC320C187}" presName="compNode" presStyleCnt="0"/>
      <dgm:spPr/>
    </dgm:pt>
    <dgm:pt modelId="{916A627B-9D47-4C5C-BEF7-580EDC1107D1}" type="pres">
      <dgm:prSet presAssocID="{16CB6A93-2A43-420E-8274-792CC320C187}" presName="bgRect" presStyleLbl="bgShp" presStyleIdx="3" presStyleCnt="4"/>
      <dgm:spPr/>
    </dgm:pt>
    <dgm:pt modelId="{5BF3CFA8-2545-446B-BE68-E4F97EE944F5}" type="pres">
      <dgm:prSet presAssocID="{16CB6A93-2A43-420E-8274-792CC320C187}"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bjetivo"/>
        </a:ext>
      </dgm:extLst>
    </dgm:pt>
    <dgm:pt modelId="{303BA8E8-B078-4262-BCEC-575EA8621BD8}" type="pres">
      <dgm:prSet presAssocID="{16CB6A93-2A43-420E-8274-792CC320C187}" presName="spaceRect" presStyleCnt="0"/>
      <dgm:spPr/>
    </dgm:pt>
    <dgm:pt modelId="{B4457C3A-B90A-4BEB-BBFA-436389E0E62E}" type="pres">
      <dgm:prSet presAssocID="{16CB6A93-2A43-420E-8274-792CC320C187}" presName="parTx" presStyleLbl="revTx" presStyleIdx="3" presStyleCnt="4">
        <dgm:presLayoutVars>
          <dgm:chMax val="0"/>
          <dgm:chPref val="0"/>
        </dgm:presLayoutVars>
      </dgm:prSet>
      <dgm:spPr/>
    </dgm:pt>
  </dgm:ptLst>
  <dgm:cxnLst>
    <dgm:cxn modelId="{CE445001-A242-4894-81C4-55573D74558C}" srcId="{9BCAA81D-6BF0-4C9F-9813-8E555582F831}" destId="{16CB6A93-2A43-420E-8274-792CC320C187}" srcOrd="3" destOrd="0" parTransId="{25EA6B56-3009-4DC8-A4AD-043222015675}" sibTransId="{BCA84701-A8C9-48B1-8192-DF7AD3E7B3F3}"/>
    <dgm:cxn modelId="{13707C2C-C2EC-480F-995A-39437166CF1E}" type="presOf" srcId="{FEA57D64-C9C2-4898-A304-A5AC14F2DDC2}" destId="{263BAA38-2189-4604-8EE6-343E7AE42D4B}" srcOrd="0" destOrd="0" presId="urn:microsoft.com/office/officeart/2018/2/layout/IconVerticalSolidList"/>
    <dgm:cxn modelId="{9B499836-4B8B-4A49-92A1-8FC25A2BF953}" type="presOf" srcId="{692BCC84-323F-4073-90A7-988499006D1B}" destId="{35EA3E68-4E71-4395-B3CE-E291F5CCDFE2}" srcOrd="0" destOrd="0" presId="urn:microsoft.com/office/officeart/2018/2/layout/IconVerticalSolidList"/>
    <dgm:cxn modelId="{C465AA5B-A7AB-4958-A0C9-A8240CEAFF45}" type="presOf" srcId="{E620C1BD-A5FC-453C-B3FC-53D3C95162C1}" destId="{AC062863-9385-4F7E-ACD9-2BECF495438F}" srcOrd="0" destOrd="0" presId="urn:microsoft.com/office/officeart/2018/2/layout/IconVerticalSolidList"/>
    <dgm:cxn modelId="{1E18CC8F-F898-4765-AC33-0101E3D83AD0}" type="presOf" srcId="{9BCAA81D-6BF0-4C9F-9813-8E555582F831}" destId="{91591E10-179E-4C45-904C-88320D5B786F}" srcOrd="0" destOrd="0" presId="urn:microsoft.com/office/officeart/2018/2/layout/IconVerticalSolidList"/>
    <dgm:cxn modelId="{45034790-8576-4B1F-8D50-A8222DA1457C}" type="presOf" srcId="{16CB6A93-2A43-420E-8274-792CC320C187}" destId="{B4457C3A-B90A-4BEB-BBFA-436389E0E62E}" srcOrd="0" destOrd="0" presId="urn:microsoft.com/office/officeart/2018/2/layout/IconVerticalSolidList"/>
    <dgm:cxn modelId="{2BDB8AD5-B38C-45B4-8C6B-AD21C0206FFC}" srcId="{9BCAA81D-6BF0-4C9F-9813-8E555582F831}" destId="{E620C1BD-A5FC-453C-B3FC-53D3C95162C1}" srcOrd="0" destOrd="0" parTransId="{9E4D7450-BAE1-4F3E-9AA7-CD2D76B1F2C8}" sibTransId="{48F19373-D5BD-4A47-A21C-A52AA993B37C}"/>
    <dgm:cxn modelId="{DB0CDDE4-E9A1-4354-AD8C-C461F3CC9817}" srcId="{9BCAA81D-6BF0-4C9F-9813-8E555582F831}" destId="{692BCC84-323F-4073-90A7-988499006D1B}" srcOrd="2" destOrd="0" parTransId="{D5A38820-F6F3-4BD6-BCC0-ADC8755C18CF}" sibTransId="{C64C0961-8C2B-487C-AF0A-91FAE83DD211}"/>
    <dgm:cxn modelId="{290A08ED-CB9E-41F0-81C2-BE50E61F0F8F}" srcId="{9BCAA81D-6BF0-4C9F-9813-8E555582F831}" destId="{FEA57D64-C9C2-4898-A304-A5AC14F2DDC2}" srcOrd="1" destOrd="0" parTransId="{771B2461-01C9-4BF0-81C0-0B07416E11D2}" sibTransId="{75D5C10F-D55D-4B33-9BB3-7EBE389A443B}"/>
    <dgm:cxn modelId="{D019E3B3-8455-49CD-B974-91084D282C1C}" type="presParOf" srcId="{91591E10-179E-4C45-904C-88320D5B786F}" destId="{51DDC1A2-BE6F-48F6-9F92-53FEE883E930}" srcOrd="0" destOrd="0" presId="urn:microsoft.com/office/officeart/2018/2/layout/IconVerticalSolidList"/>
    <dgm:cxn modelId="{AA220EAD-EA0B-49CF-9A4F-F4D19C8E9FAF}" type="presParOf" srcId="{51DDC1A2-BE6F-48F6-9F92-53FEE883E930}" destId="{43AC8F1F-6E6E-4F2B-A579-3692D1A17A07}" srcOrd="0" destOrd="0" presId="urn:microsoft.com/office/officeart/2018/2/layout/IconVerticalSolidList"/>
    <dgm:cxn modelId="{33DC3782-65BF-42DA-BE90-D10E60F0BE9C}" type="presParOf" srcId="{51DDC1A2-BE6F-48F6-9F92-53FEE883E930}" destId="{FAF3D297-B0A7-4A9F-BE7E-D05C8C53525D}" srcOrd="1" destOrd="0" presId="urn:microsoft.com/office/officeart/2018/2/layout/IconVerticalSolidList"/>
    <dgm:cxn modelId="{39AE2BFE-B329-4D32-BECC-628066C652E3}" type="presParOf" srcId="{51DDC1A2-BE6F-48F6-9F92-53FEE883E930}" destId="{F1692B85-9913-4703-ACBD-8E26000E408C}" srcOrd="2" destOrd="0" presId="urn:microsoft.com/office/officeart/2018/2/layout/IconVerticalSolidList"/>
    <dgm:cxn modelId="{8D1CFEEF-F8D9-44F7-9A4E-CAB46FE2E799}" type="presParOf" srcId="{51DDC1A2-BE6F-48F6-9F92-53FEE883E930}" destId="{AC062863-9385-4F7E-ACD9-2BECF495438F}" srcOrd="3" destOrd="0" presId="urn:microsoft.com/office/officeart/2018/2/layout/IconVerticalSolidList"/>
    <dgm:cxn modelId="{5FDF7A6E-C164-4114-A6A4-857C19CD8958}" type="presParOf" srcId="{91591E10-179E-4C45-904C-88320D5B786F}" destId="{AE0C18FC-0EA6-4E67-85AA-796BAA875FBF}" srcOrd="1" destOrd="0" presId="urn:microsoft.com/office/officeart/2018/2/layout/IconVerticalSolidList"/>
    <dgm:cxn modelId="{EDCED90F-FCE7-40F5-B7CF-9C7991A7C21D}" type="presParOf" srcId="{91591E10-179E-4C45-904C-88320D5B786F}" destId="{2FBE163C-38DE-47F0-8D2E-E5ADC29E2E85}" srcOrd="2" destOrd="0" presId="urn:microsoft.com/office/officeart/2018/2/layout/IconVerticalSolidList"/>
    <dgm:cxn modelId="{FBE3CFAF-2954-403D-AAA6-8B0727BD3476}" type="presParOf" srcId="{2FBE163C-38DE-47F0-8D2E-E5ADC29E2E85}" destId="{FBCE21DC-FAEC-4AF9-B935-8DD2327ADA30}" srcOrd="0" destOrd="0" presId="urn:microsoft.com/office/officeart/2018/2/layout/IconVerticalSolidList"/>
    <dgm:cxn modelId="{5ECBDF7A-F8CB-4AEE-A345-CAA3E345A53C}" type="presParOf" srcId="{2FBE163C-38DE-47F0-8D2E-E5ADC29E2E85}" destId="{6469A471-4529-49A1-B36A-2D74D8F29DA8}" srcOrd="1" destOrd="0" presId="urn:microsoft.com/office/officeart/2018/2/layout/IconVerticalSolidList"/>
    <dgm:cxn modelId="{9EA785B4-9B75-4644-A353-EFAEB658A66F}" type="presParOf" srcId="{2FBE163C-38DE-47F0-8D2E-E5ADC29E2E85}" destId="{9743A8B7-F0C9-4691-B7FC-0B41CB4EDD3F}" srcOrd="2" destOrd="0" presId="urn:microsoft.com/office/officeart/2018/2/layout/IconVerticalSolidList"/>
    <dgm:cxn modelId="{7E1A554F-984E-4F1F-B773-29D8A02007D5}" type="presParOf" srcId="{2FBE163C-38DE-47F0-8D2E-E5ADC29E2E85}" destId="{263BAA38-2189-4604-8EE6-343E7AE42D4B}" srcOrd="3" destOrd="0" presId="urn:microsoft.com/office/officeart/2018/2/layout/IconVerticalSolidList"/>
    <dgm:cxn modelId="{281DDD70-5882-4C42-80B8-2C99A98C93AC}" type="presParOf" srcId="{91591E10-179E-4C45-904C-88320D5B786F}" destId="{23FDBA25-D63A-4B63-A6E2-543F14E12814}" srcOrd="3" destOrd="0" presId="urn:microsoft.com/office/officeart/2018/2/layout/IconVerticalSolidList"/>
    <dgm:cxn modelId="{6B2BFD50-262C-4BE2-BA99-F1E53238175F}" type="presParOf" srcId="{91591E10-179E-4C45-904C-88320D5B786F}" destId="{4CF805DC-36AA-4332-87DC-D3CD738348F6}" srcOrd="4" destOrd="0" presId="urn:microsoft.com/office/officeart/2018/2/layout/IconVerticalSolidList"/>
    <dgm:cxn modelId="{92210F86-24F9-48F6-AB0C-838479E1A71C}" type="presParOf" srcId="{4CF805DC-36AA-4332-87DC-D3CD738348F6}" destId="{20B4C655-183E-42E6-B671-70A6FC7526B9}" srcOrd="0" destOrd="0" presId="urn:microsoft.com/office/officeart/2018/2/layout/IconVerticalSolidList"/>
    <dgm:cxn modelId="{E5B5C94F-B44C-4F2C-9A5A-72F7E95F4844}" type="presParOf" srcId="{4CF805DC-36AA-4332-87DC-D3CD738348F6}" destId="{E0BA9A9F-EAB0-40C3-929F-8CCF64510BB9}" srcOrd="1" destOrd="0" presId="urn:microsoft.com/office/officeart/2018/2/layout/IconVerticalSolidList"/>
    <dgm:cxn modelId="{1AB2BABC-6E2D-417A-9BB3-37AFD8BDCCCA}" type="presParOf" srcId="{4CF805DC-36AA-4332-87DC-D3CD738348F6}" destId="{B9738374-6FFD-41C9-AE25-43E9CD90AAE5}" srcOrd="2" destOrd="0" presId="urn:microsoft.com/office/officeart/2018/2/layout/IconVerticalSolidList"/>
    <dgm:cxn modelId="{48F14794-A99E-4BBE-A668-5DFBE3367648}" type="presParOf" srcId="{4CF805DC-36AA-4332-87DC-D3CD738348F6}" destId="{35EA3E68-4E71-4395-B3CE-E291F5CCDFE2}" srcOrd="3" destOrd="0" presId="urn:microsoft.com/office/officeart/2018/2/layout/IconVerticalSolidList"/>
    <dgm:cxn modelId="{F7509CA1-EAD6-4F1D-AE23-0548D2A24C4B}" type="presParOf" srcId="{91591E10-179E-4C45-904C-88320D5B786F}" destId="{B384692A-4481-40D7-A88B-86842DE79FA0}" srcOrd="5" destOrd="0" presId="urn:microsoft.com/office/officeart/2018/2/layout/IconVerticalSolidList"/>
    <dgm:cxn modelId="{AFE0BD3A-DBB9-422F-B727-59290426EC1D}" type="presParOf" srcId="{91591E10-179E-4C45-904C-88320D5B786F}" destId="{8EDD3BDD-9B6C-4366-88EC-86AD5A0AAC9E}" srcOrd="6" destOrd="0" presId="urn:microsoft.com/office/officeart/2018/2/layout/IconVerticalSolidList"/>
    <dgm:cxn modelId="{D43FC98C-1486-4CD3-B902-B16C1D79B95A}" type="presParOf" srcId="{8EDD3BDD-9B6C-4366-88EC-86AD5A0AAC9E}" destId="{916A627B-9D47-4C5C-BEF7-580EDC1107D1}" srcOrd="0" destOrd="0" presId="urn:microsoft.com/office/officeart/2018/2/layout/IconVerticalSolidList"/>
    <dgm:cxn modelId="{F47861AC-1818-412C-8B6A-CD6F41467F76}" type="presParOf" srcId="{8EDD3BDD-9B6C-4366-88EC-86AD5A0AAC9E}" destId="{5BF3CFA8-2545-446B-BE68-E4F97EE944F5}" srcOrd="1" destOrd="0" presId="urn:microsoft.com/office/officeart/2018/2/layout/IconVerticalSolidList"/>
    <dgm:cxn modelId="{222BF446-5662-449B-BD5E-C9188A20EA3D}" type="presParOf" srcId="{8EDD3BDD-9B6C-4366-88EC-86AD5A0AAC9E}" destId="{303BA8E8-B078-4262-BCEC-575EA8621BD8}" srcOrd="2" destOrd="0" presId="urn:microsoft.com/office/officeart/2018/2/layout/IconVerticalSolidList"/>
    <dgm:cxn modelId="{34417400-7E17-44F8-B97B-1ED67FA24311}" type="presParOf" srcId="{8EDD3BDD-9B6C-4366-88EC-86AD5A0AAC9E}" destId="{B4457C3A-B90A-4BEB-BBFA-436389E0E62E}"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B4319C0-57DC-4904-9A96-38BC49D5980E}" type="doc">
      <dgm:prSet loTypeId="urn:microsoft.com/office/officeart/2005/8/layout/hProcess7" loCatId="list" qsTypeId="urn:microsoft.com/office/officeart/2005/8/quickstyle/simple1#6" qsCatId="simple" csTypeId="urn:microsoft.com/office/officeart/2005/8/colors/accent1_2#1" csCatId="accent1" phldr="1"/>
      <dgm:spPr/>
      <dgm:t>
        <a:bodyPr/>
        <a:lstStyle/>
        <a:p>
          <a:endParaRPr lang="es-CL"/>
        </a:p>
      </dgm:t>
    </dgm:pt>
    <dgm:pt modelId="{94BE7722-9F1E-4703-891A-06E07D831885}">
      <dgm:prSet phldrT="[Texto]"/>
      <dgm:spPr/>
      <dgm:t>
        <a:bodyPr/>
        <a:lstStyle/>
        <a:p>
          <a:r>
            <a:rPr lang="es-CL" noProof="0" dirty="0"/>
            <a:t>Activos</a:t>
          </a:r>
        </a:p>
      </dgm:t>
    </dgm:pt>
    <dgm:pt modelId="{AC851AAB-6FD7-4CBF-B50B-8EF2A705C75E}" type="parTrans" cxnId="{E66E5F90-B872-4CC2-BFEB-5F3EFE8CD363}">
      <dgm:prSet/>
      <dgm:spPr/>
      <dgm:t>
        <a:bodyPr/>
        <a:lstStyle/>
        <a:p>
          <a:endParaRPr lang="es-CL"/>
        </a:p>
      </dgm:t>
    </dgm:pt>
    <dgm:pt modelId="{55315CAA-FFDF-436B-B080-7DCA32CD1D18}" type="sibTrans" cxnId="{E66E5F90-B872-4CC2-BFEB-5F3EFE8CD363}">
      <dgm:prSet/>
      <dgm:spPr/>
      <dgm:t>
        <a:bodyPr/>
        <a:lstStyle/>
        <a:p>
          <a:endParaRPr lang="es-CL"/>
        </a:p>
      </dgm:t>
    </dgm:pt>
    <dgm:pt modelId="{B56F8EA5-E149-4CE6-9DD7-5774832926EA}">
      <dgm:prSet phldrT="[Texto]" custT="1"/>
      <dgm:spPr/>
      <dgm:t>
        <a:bodyPr/>
        <a:lstStyle/>
        <a:p>
          <a:r>
            <a:rPr lang="es-CL" sz="4400" noProof="0" dirty="0"/>
            <a:t>Lo que tengo</a:t>
          </a:r>
        </a:p>
      </dgm:t>
    </dgm:pt>
    <dgm:pt modelId="{E0355C36-EDA7-491A-92DA-80C0B0C4C455}" type="parTrans" cxnId="{B1F6C6E9-D37D-4CB8-9314-41412B021BF0}">
      <dgm:prSet/>
      <dgm:spPr/>
      <dgm:t>
        <a:bodyPr/>
        <a:lstStyle/>
        <a:p>
          <a:endParaRPr lang="es-CL"/>
        </a:p>
      </dgm:t>
    </dgm:pt>
    <dgm:pt modelId="{04206094-B1AA-410C-9B7B-B9593D1B5309}" type="sibTrans" cxnId="{B1F6C6E9-D37D-4CB8-9314-41412B021BF0}">
      <dgm:prSet/>
      <dgm:spPr/>
      <dgm:t>
        <a:bodyPr/>
        <a:lstStyle/>
        <a:p>
          <a:endParaRPr lang="es-CL"/>
        </a:p>
      </dgm:t>
    </dgm:pt>
    <dgm:pt modelId="{12334DC8-1279-4FCA-A124-85A4478294F7}">
      <dgm:prSet phldrT="[Texto]"/>
      <dgm:spPr/>
      <dgm:t>
        <a:bodyPr/>
        <a:lstStyle/>
        <a:p>
          <a:r>
            <a:rPr lang="es-CL" noProof="0" dirty="0"/>
            <a:t>Pasivos</a:t>
          </a:r>
        </a:p>
      </dgm:t>
    </dgm:pt>
    <dgm:pt modelId="{18AD3EE1-C536-4DB1-A231-1D33C06B80A6}" type="parTrans" cxnId="{F37643F4-A140-46B9-B0FB-F87535E1D361}">
      <dgm:prSet/>
      <dgm:spPr/>
      <dgm:t>
        <a:bodyPr/>
        <a:lstStyle/>
        <a:p>
          <a:endParaRPr lang="es-CL"/>
        </a:p>
      </dgm:t>
    </dgm:pt>
    <dgm:pt modelId="{400FD97C-82A0-4F40-BAF6-5C823B92EE73}" type="sibTrans" cxnId="{F37643F4-A140-46B9-B0FB-F87535E1D361}">
      <dgm:prSet/>
      <dgm:spPr/>
      <dgm:t>
        <a:bodyPr/>
        <a:lstStyle/>
        <a:p>
          <a:endParaRPr lang="es-CL"/>
        </a:p>
      </dgm:t>
    </dgm:pt>
    <dgm:pt modelId="{FB3A7135-A7A0-40FB-9EBC-BD8D6DD51AD7}">
      <dgm:prSet phldrT="[Texto]" custT="1"/>
      <dgm:spPr/>
      <dgm:t>
        <a:bodyPr/>
        <a:lstStyle/>
        <a:p>
          <a:r>
            <a:rPr lang="es-CL" sz="4400" noProof="0" dirty="0"/>
            <a:t>Lo que debo</a:t>
          </a:r>
        </a:p>
      </dgm:t>
    </dgm:pt>
    <dgm:pt modelId="{CCC0D359-7CB2-4160-982B-FEF749ED7425}" type="parTrans" cxnId="{42247059-FD08-4205-B5EF-84950A54E0E7}">
      <dgm:prSet/>
      <dgm:spPr/>
      <dgm:t>
        <a:bodyPr/>
        <a:lstStyle/>
        <a:p>
          <a:endParaRPr lang="es-CL"/>
        </a:p>
      </dgm:t>
    </dgm:pt>
    <dgm:pt modelId="{14D99D7C-960B-471C-BB25-35B22DA65D55}" type="sibTrans" cxnId="{42247059-FD08-4205-B5EF-84950A54E0E7}">
      <dgm:prSet/>
      <dgm:spPr/>
      <dgm:t>
        <a:bodyPr/>
        <a:lstStyle/>
        <a:p>
          <a:endParaRPr lang="es-CL"/>
        </a:p>
      </dgm:t>
    </dgm:pt>
    <dgm:pt modelId="{8ED647A5-E8BF-4F4A-9842-A74B9131023F}">
      <dgm:prSet phldrT="[Texto]"/>
      <dgm:spPr/>
      <dgm:t>
        <a:bodyPr/>
        <a:lstStyle/>
        <a:p>
          <a:r>
            <a:rPr lang="es-CL" noProof="0" dirty="0"/>
            <a:t>Patrimonio</a:t>
          </a:r>
        </a:p>
      </dgm:t>
    </dgm:pt>
    <dgm:pt modelId="{C9175046-8870-4C3F-9E14-C823896DD881}" type="parTrans" cxnId="{64C50580-2F64-4868-B2DF-BF6E49E6E2AF}">
      <dgm:prSet/>
      <dgm:spPr/>
      <dgm:t>
        <a:bodyPr/>
        <a:lstStyle/>
        <a:p>
          <a:endParaRPr lang="es-CL"/>
        </a:p>
      </dgm:t>
    </dgm:pt>
    <dgm:pt modelId="{EA1FC9C6-85F6-487C-A5EA-15FC1424D26D}" type="sibTrans" cxnId="{64C50580-2F64-4868-B2DF-BF6E49E6E2AF}">
      <dgm:prSet/>
      <dgm:spPr/>
      <dgm:t>
        <a:bodyPr/>
        <a:lstStyle/>
        <a:p>
          <a:endParaRPr lang="es-CL"/>
        </a:p>
      </dgm:t>
    </dgm:pt>
    <dgm:pt modelId="{F3722ED3-DAC9-44C1-AA29-055A52077406}">
      <dgm:prSet phldrT="[Texto]" custT="1"/>
      <dgm:spPr/>
      <dgm:t>
        <a:bodyPr/>
        <a:lstStyle/>
        <a:p>
          <a:r>
            <a:rPr lang="es-CL" sz="4400" noProof="0" dirty="0"/>
            <a:t>Lo que es mío</a:t>
          </a:r>
        </a:p>
      </dgm:t>
    </dgm:pt>
    <dgm:pt modelId="{FC5DF72C-20E9-4FD7-BD29-0803088BA0D2}" type="parTrans" cxnId="{88FD6483-B319-4788-8AF7-C6760F1D26C8}">
      <dgm:prSet/>
      <dgm:spPr/>
      <dgm:t>
        <a:bodyPr/>
        <a:lstStyle/>
        <a:p>
          <a:endParaRPr lang="es-CL"/>
        </a:p>
      </dgm:t>
    </dgm:pt>
    <dgm:pt modelId="{9EE01F72-05A3-4E81-96AE-5D51909F686B}" type="sibTrans" cxnId="{88FD6483-B319-4788-8AF7-C6760F1D26C8}">
      <dgm:prSet/>
      <dgm:spPr/>
      <dgm:t>
        <a:bodyPr/>
        <a:lstStyle/>
        <a:p>
          <a:endParaRPr lang="es-CL"/>
        </a:p>
      </dgm:t>
    </dgm:pt>
    <dgm:pt modelId="{C87A3AD0-C11A-4CA8-91A1-5AC5CB4D21EC}" type="pres">
      <dgm:prSet presAssocID="{0B4319C0-57DC-4904-9A96-38BC49D5980E}" presName="Name0" presStyleCnt="0">
        <dgm:presLayoutVars>
          <dgm:dir/>
          <dgm:animLvl val="lvl"/>
          <dgm:resizeHandles val="exact"/>
        </dgm:presLayoutVars>
      </dgm:prSet>
      <dgm:spPr/>
    </dgm:pt>
    <dgm:pt modelId="{E6E10C96-91D9-48B7-8492-D98C4D5F4254}" type="pres">
      <dgm:prSet presAssocID="{94BE7722-9F1E-4703-891A-06E07D831885}" presName="compositeNode" presStyleCnt="0">
        <dgm:presLayoutVars>
          <dgm:bulletEnabled val="1"/>
        </dgm:presLayoutVars>
      </dgm:prSet>
      <dgm:spPr/>
    </dgm:pt>
    <dgm:pt modelId="{AD3E01D7-F365-4E08-BC17-A57B3091004C}" type="pres">
      <dgm:prSet presAssocID="{94BE7722-9F1E-4703-891A-06E07D831885}" presName="bgRect" presStyleLbl="node1" presStyleIdx="0" presStyleCnt="3"/>
      <dgm:spPr/>
    </dgm:pt>
    <dgm:pt modelId="{4F9556B6-B8CE-414A-A3BA-7E9E71A8B60A}" type="pres">
      <dgm:prSet presAssocID="{94BE7722-9F1E-4703-891A-06E07D831885}" presName="parentNode" presStyleLbl="node1" presStyleIdx="0" presStyleCnt="3">
        <dgm:presLayoutVars>
          <dgm:chMax val="0"/>
          <dgm:bulletEnabled val="1"/>
        </dgm:presLayoutVars>
      </dgm:prSet>
      <dgm:spPr/>
    </dgm:pt>
    <dgm:pt modelId="{387EF2C6-3EF1-48B6-8AB0-8E4FBE1AEA6B}" type="pres">
      <dgm:prSet presAssocID="{94BE7722-9F1E-4703-891A-06E07D831885}" presName="childNode" presStyleLbl="node1" presStyleIdx="0" presStyleCnt="3">
        <dgm:presLayoutVars>
          <dgm:bulletEnabled val="1"/>
        </dgm:presLayoutVars>
      </dgm:prSet>
      <dgm:spPr/>
    </dgm:pt>
    <dgm:pt modelId="{81225252-94FA-48C6-8889-253A9F0994B5}" type="pres">
      <dgm:prSet presAssocID="{55315CAA-FFDF-436B-B080-7DCA32CD1D18}" presName="hSp" presStyleCnt="0"/>
      <dgm:spPr/>
    </dgm:pt>
    <dgm:pt modelId="{CD99D94D-0903-45D5-BDB8-564708BE174C}" type="pres">
      <dgm:prSet presAssocID="{55315CAA-FFDF-436B-B080-7DCA32CD1D18}" presName="vProcSp" presStyleCnt="0"/>
      <dgm:spPr/>
    </dgm:pt>
    <dgm:pt modelId="{F1433340-ADE0-495E-A71F-3FEAB4CA9804}" type="pres">
      <dgm:prSet presAssocID="{55315CAA-FFDF-436B-B080-7DCA32CD1D18}" presName="vSp1" presStyleCnt="0"/>
      <dgm:spPr/>
    </dgm:pt>
    <dgm:pt modelId="{34E44D38-3F64-4630-9374-80BBEE362E63}" type="pres">
      <dgm:prSet presAssocID="{55315CAA-FFDF-436B-B080-7DCA32CD1D18}" presName="simulatedConn" presStyleLbl="solidFgAcc1" presStyleIdx="0" presStyleCnt="2" custAng="5400000" custScaleX="207951" custScaleY="211314" custLinFactY="-306503" custLinFactNeighborX="-42837" custLinFactNeighborY="-400000"/>
      <dgm:spPr>
        <a:prstGeom prst="mathMinus">
          <a:avLst/>
        </a:prstGeom>
      </dgm:spPr>
    </dgm:pt>
    <dgm:pt modelId="{DB37F40F-9AF8-4BEE-B71A-A759C811CB42}" type="pres">
      <dgm:prSet presAssocID="{55315CAA-FFDF-436B-B080-7DCA32CD1D18}" presName="vSp2" presStyleCnt="0"/>
      <dgm:spPr/>
    </dgm:pt>
    <dgm:pt modelId="{3579DFED-ECCB-4D88-8ED9-5CFB4B8EEAA3}" type="pres">
      <dgm:prSet presAssocID="{55315CAA-FFDF-436B-B080-7DCA32CD1D18}" presName="sibTrans" presStyleCnt="0"/>
      <dgm:spPr/>
    </dgm:pt>
    <dgm:pt modelId="{E6C9E9D5-64F9-4A8E-84F9-301B50A8CEFA}" type="pres">
      <dgm:prSet presAssocID="{12334DC8-1279-4FCA-A124-85A4478294F7}" presName="compositeNode" presStyleCnt="0">
        <dgm:presLayoutVars>
          <dgm:bulletEnabled val="1"/>
        </dgm:presLayoutVars>
      </dgm:prSet>
      <dgm:spPr/>
    </dgm:pt>
    <dgm:pt modelId="{C711C077-10B8-4CA5-AD39-CBC5DAEF6BB4}" type="pres">
      <dgm:prSet presAssocID="{12334DC8-1279-4FCA-A124-85A4478294F7}" presName="bgRect" presStyleLbl="node1" presStyleIdx="1" presStyleCnt="3" custLinFactNeighborX="-7197" custLinFactNeighborY="818"/>
      <dgm:spPr/>
    </dgm:pt>
    <dgm:pt modelId="{E036EAF6-DF55-440B-88BE-5FB6A7844A50}" type="pres">
      <dgm:prSet presAssocID="{12334DC8-1279-4FCA-A124-85A4478294F7}" presName="parentNode" presStyleLbl="node1" presStyleIdx="1" presStyleCnt="3">
        <dgm:presLayoutVars>
          <dgm:chMax val="0"/>
          <dgm:bulletEnabled val="1"/>
        </dgm:presLayoutVars>
      </dgm:prSet>
      <dgm:spPr/>
    </dgm:pt>
    <dgm:pt modelId="{A253CB0C-A839-403E-BB4D-4650A470E797}" type="pres">
      <dgm:prSet presAssocID="{12334DC8-1279-4FCA-A124-85A4478294F7}" presName="childNode" presStyleLbl="node1" presStyleIdx="1" presStyleCnt="3">
        <dgm:presLayoutVars>
          <dgm:bulletEnabled val="1"/>
        </dgm:presLayoutVars>
      </dgm:prSet>
      <dgm:spPr/>
    </dgm:pt>
    <dgm:pt modelId="{4A865E88-3EBE-4EF1-A393-06F112E7F07D}" type="pres">
      <dgm:prSet presAssocID="{400FD97C-82A0-4F40-BAF6-5C823B92EE73}" presName="hSp" presStyleCnt="0"/>
      <dgm:spPr/>
    </dgm:pt>
    <dgm:pt modelId="{D14BC504-7002-4EC5-B90A-D8FC8ABA97CF}" type="pres">
      <dgm:prSet presAssocID="{400FD97C-82A0-4F40-BAF6-5C823B92EE73}" presName="vProcSp" presStyleCnt="0"/>
      <dgm:spPr/>
    </dgm:pt>
    <dgm:pt modelId="{A5F32F2D-FF3B-4C78-A2BA-46D09BA47C26}" type="pres">
      <dgm:prSet presAssocID="{400FD97C-82A0-4F40-BAF6-5C823B92EE73}" presName="vSp1" presStyleCnt="0"/>
      <dgm:spPr/>
    </dgm:pt>
    <dgm:pt modelId="{997CBFCA-D12F-46D1-A884-02BEA9A98485}" type="pres">
      <dgm:prSet presAssocID="{400FD97C-82A0-4F40-BAF6-5C823B92EE73}" presName="simulatedConn" presStyleLbl="solidFgAcc1" presStyleIdx="1" presStyleCnt="2" custAng="5400000" custScaleX="129161" custScaleY="196145" custLinFactY="-268509" custLinFactNeighborX="-45378" custLinFactNeighborY="-300000"/>
      <dgm:spPr>
        <a:prstGeom prst="mathEqual">
          <a:avLst/>
        </a:prstGeom>
      </dgm:spPr>
    </dgm:pt>
    <dgm:pt modelId="{ABC60A60-DB29-4E97-BCCB-097FA5866512}" type="pres">
      <dgm:prSet presAssocID="{400FD97C-82A0-4F40-BAF6-5C823B92EE73}" presName="vSp2" presStyleCnt="0"/>
      <dgm:spPr/>
    </dgm:pt>
    <dgm:pt modelId="{A39F02FB-6740-4D2A-B6D1-42090541045C}" type="pres">
      <dgm:prSet presAssocID="{400FD97C-82A0-4F40-BAF6-5C823B92EE73}" presName="sibTrans" presStyleCnt="0"/>
      <dgm:spPr/>
    </dgm:pt>
    <dgm:pt modelId="{B01D5B3B-0094-4A20-8C44-DC2F48496B56}" type="pres">
      <dgm:prSet presAssocID="{8ED647A5-E8BF-4F4A-9842-A74B9131023F}" presName="compositeNode" presStyleCnt="0">
        <dgm:presLayoutVars>
          <dgm:bulletEnabled val="1"/>
        </dgm:presLayoutVars>
      </dgm:prSet>
      <dgm:spPr/>
    </dgm:pt>
    <dgm:pt modelId="{2A9C4434-0AD1-4478-9F74-E68273DBA805}" type="pres">
      <dgm:prSet presAssocID="{8ED647A5-E8BF-4F4A-9842-A74B9131023F}" presName="bgRect" presStyleLbl="node1" presStyleIdx="2" presStyleCnt="3"/>
      <dgm:spPr/>
    </dgm:pt>
    <dgm:pt modelId="{D72A4DF3-984B-4B23-BD6F-17247584BEA2}" type="pres">
      <dgm:prSet presAssocID="{8ED647A5-E8BF-4F4A-9842-A74B9131023F}" presName="parentNode" presStyleLbl="node1" presStyleIdx="2" presStyleCnt="3">
        <dgm:presLayoutVars>
          <dgm:chMax val="0"/>
          <dgm:bulletEnabled val="1"/>
        </dgm:presLayoutVars>
      </dgm:prSet>
      <dgm:spPr/>
    </dgm:pt>
    <dgm:pt modelId="{C25C3664-A843-4F90-86D5-8AB8F9DAA7BB}" type="pres">
      <dgm:prSet presAssocID="{8ED647A5-E8BF-4F4A-9842-A74B9131023F}" presName="childNode" presStyleLbl="node1" presStyleIdx="2" presStyleCnt="3">
        <dgm:presLayoutVars>
          <dgm:bulletEnabled val="1"/>
        </dgm:presLayoutVars>
      </dgm:prSet>
      <dgm:spPr/>
    </dgm:pt>
  </dgm:ptLst>
  <dgm:cxnLst>
    <dgm:cxn modelId="{4803EA5B-2611-4756-8A15-5A1EB5A1CCF8}" type="presOf" srcId="{12334DC8-1279-4FCA-A124-85A4478294F7}" destId="{C711C077-10B8-4CA5-AD39-CBC5DAEF6BB4}" srcOrd="0" destOrd="0" presId="urn:microsoft.com/office/officeart/2005/8/layout/hProcess7"/>
    <dgm:cxn modelId="{70C73B43-28DC-471B-B059-EE26B4959D7F}" type="presOf" srcId="{94BE7722-9F1E-4703-891A-06E07D831885}" destId="{AD3E01D7-F365-4E08-BC17-A57B3091004C}" srcOrd="0" destOrd="0" presId="urn:microsoft.com/office/officeart/2005/8/layout/hProcess7"/>
    <dgm:cxn modelId="{FD8CD175-55C8-4400-B1E3-661CABE628D0}" type="presOf" srcId="{94BE7722-9F1E-4703-891A-06E07D831885}" destId="{4F9556B6-B8CE-414A-A3BA-7E9E71A8B60A}" srcOrd="1" destOrd="0" presId="urn:microsoft.com/office/officeart/2005/8/layout/hProcess7"/>
    <dgm:cxn modelId="{42247059-FD08-4205-B5EF-84950A54E0E7}" srcId="{12334DC8-1279-4FCA-A124-85A4478294F7}" destId="{FB3A7135-A7A0-40FB-9EBC-BD8D6DD51AD7}" srcOrd="0" destOrd="0" parTransId="{CCC0D359-7CB2-4160-982B-FEF749ED7425}" sibTransId="{14D99D7C-960B-471C-BB25-35B22DA65D55}"/>
    <dgm:cxn modelId="{64C50580-2F64-4868-B2DF-BF6E49E6E2AF}" srcId="{0B4319C0-57DC-4904-9A96-38BC49D5980E}" destId="{8ED647A5-E8BF-4F4A-9842-A74B9131023F}" srcOrd="2" destOrd="0" parTransId="{C9175046-8870-4C3F-9E14-C823896DD881}" sibTransId="{EA1FC9C6-85F6-487C-A5EA-15FC1424D26D}"/>
    <dgm:cxn modelId="{88FD6483-B319-4788-8AF7-C6760F1D26C8}" srcId="{8ED647A5-E8BF-4F4A-9842-A74B9131023F}" destId="{F3722ED3-DAC9-44C1-AA29-055A52077406}" srcOrd="0" destOrd="0" parTransId="{FC5DF72C-20E9-4FD7-BD29-0803088BA0D2}" sibTransId="{9EE01F72-05A3-4E81-96AE-5D51909F686B}"/>
    <dgm:cxn modelId="{E66E5F90-B872-4CC2-BFEB-5F3EFE8CD363}" srcId="{0B4319C0-57DC-4904-9A96-38BC49D5980E}" destId="{94BE7722-9F1E-4703-891A-06E07D831885}" srcOrd="0" destOrd="0" parTransId="{AC851AAB-6FD7-4CBF-B50B-8EF2A705C75E}" sibTransId="{55315CAA-FFDF-436B-B080-7DCA32CD1D18}"/>
    <dgm:cxn modelId="{FD0DAA94-9F63-4F7B-B0A5-4782C135736E}" type="presOf" srcId="{F3722ED3-DAC9-44C1-AA29-055A52077406}" destId="{C25C3664-A843-4F90-86D5-8AB8F9DAA7BB}" srcOrd="0" destOrd="0" presId="urn:microsoft.com/office/officeart/2005/8/layout/hProcess7"/>
    <dgm:cxn modelId="{A3882397-27E5-4749-AF54-AF129CB4D241}" type="presOf" srcId="{FB3A7135-A7A0-40FB-9EBC-BD8D6DD51AD7}" destId="{A253CB0C-A839-403E-BB4D-4650A470E797}" srcOrd="0" destOrd="0" presId="urn:microsoft.com/office/officeart/2005/8/layout/hProcess7"/>
    <dgm:cxn modelId="{B3A2E099-4DEC-4983-9B85-99716D6AEAA0}" type="presOf" srcId="{0B4319C0-57DC-4904-9A96-38BC49D5980E}" destId="{C87A3AD0-C11A-4CA8-91A1-5AC5CB4D21EC}" srcOrd="0" destOrd="0" presId="urn:microsoft.com/office/officeart/2005/8/layout/hProcess7"/>
    <dgm:cxn modelId="{F59B5AAF-0484-4A57-855F-E85179529465}" type="presOf" srcId="{B56F8EA5-E149-4CE6-9DD7-5774832926EA}" destId="{387EF2C6-3EF1-48B6-8AB0-8E4FBE1AEA6B}" srcOrd="0" destOrd="0" presId="urn:microsoft.com/office/officeart/2005/8/layout/hProcess7"/>
    <dgm:cxn modelId="{DAA571DC-0A55-4F85-AD8F-EEE90240E371}" type="presOf" srcId="{8ED647A5-E8BF-4F4A-9842-A74B9131023F}" destId="{2A9C4434-0AD1-4478-9F74-E68273DBA805}" srcOrd="0" destOrd="0" presId="urn:microsoft.com/office/officeart/2005/8/layout/hProcess7"/>
    <dgm:cxn modelId="{7305B2E6-9FE6-4539-AE21-CFDEE9E97A71}" type="presOf" srcId="{8ED647A5-E8BF-4F4A-9842-A74B9131023F}" destId="{D72A4DF3-984B-4B23-BD6F-17247584BEA2}" srcOrd="1" destOrd="0" presId="urn:microsoft.com/office/officeart/2005/8/layout/hProcess7"/>
    <dgm:cxn modelId="{B1F6C6E9-D37D-4CB8-9314-41412B021BF0}" srcId="{94BE7722-9F1E-4703-891A-06E07D831885}" destId="{B56F8EA5-E149-4CE6-9DD7-5774832926EA}" srcOrd="0" destOrd="0" parTransId="{E0355C36-EDA7-491A-92DA-80C0B0C4C455}" sibTransId="{04206094-B1AA-410C-9B7B-B9593D1B5309}"/>
    <dgm:cxn modelId="{6F4ED7F0-A6B8-4AE8-B1F7-5318CBE92991}" type="presOf" srcId="{12334DC8-1279-4FCA-A124-85A4478294F7}" destId="{E036EAF6-DF55-440B-88BE-5FB6A7844A50}" srcOrd="1" destOrd="0" presId="urn:microsoft.com/office/officeart/2005/8/layout/hProcess7"/>
    <dgm:cxn modelId="{F37643F4-A140-46B9-B0FB-F87535E1D361}" srcId="{0B4319C0-57DC-4904-9A96-38BC49D5980E}" destId="{12334DC8-1279-4FCA-A124-85A4478294F7}" srcOrd="1" destOrd="0" parTransId="{18AD3EE1-C536-4DB1-A231-1D33C06B80A6}" sibTransId="{400FD97C-82A0-4F40-BAF6-5C823B92EE73}"/>
    <dgm:cxn modelId="{63F685DB-BBE4-4C86-BF9D-2D32A48C5B40}" type="presParOf" srcId="{C87A3AD0-C11A-4CA8-91A1-5AC5CB4D21EC}" destId="{E6E10C96-91D9-48B7-8492-D98C4D5F4254}" srcOrd="0" destOrd="0" presId="urn:microsoft.com/office/officeart/2005/8/layout/hProcess7"/>
    <dgm:cxn modelId="{33C29B67-842E-43B6-B1DE-EDDFCC64B1B5}" type="presParOf" srcId="{E6E10C96-91D9-48B7-8492-D98C4D5F4254}" destId="{AD3E01D7-F365-4E08-BC17-A57B3091004C}" srcOrd="0" destOrd="0" presId="urn:microsoft.com/office/officeart/2005/8/layout/hProcess7"/>
    <dgm:cxn modelId="{26D2BDE0-F0F8-44C2-9DE0-A1DC81B62277}" type="presParOf" srcId="{E6E10C96-91D9-48B7-8492-D98C4D5F4254}" destId="{4F9556B6-B8CE-414A-A3BA-7E9E71A8B60A}" srcOrd="1" destOrd="0" presId="urn:microsoft.com/office/officeart/2005/8/layout/hProcess7"/>
    <dgm:cxn modelId="{93732497-B08F-4A50-B71E-824B20FAB792}" type="presParOf" srcId="{E6E10C96-91D9-48B7-8492-D98C4D5F4254}" destId="{387EF2C6-3EF1-48B6-8AB0-8E4FBE1AEA6B}" srcOrd="2" destOrd="0" presId="urn:microsoft.com/office/officeart/2005/8/layout/hProcess7"/>
    <dgm:cxn modelId="{815F92A7-3A73-402B-8F73-3CD764B105C8}" type="presParOf" srcId="{C87A3AD0-C11A-4CA8-91A1-5AC5CB4D21EC}" destId="{81225252-94FA-48C6-8889-253A9F0994B5}" srcOrd="1" destOrd="0" presId="urn:microsoft.com/office/officeart/2005/8/layout/hProcess7"/>
    <dgm:cxn modelId="{1EAD87F8-6E71-45BA-AE70-D14E7D82C8E0}" type="presParOf" srcId="{C87A3AD0-C11A-4CA8-91A1-5AC5CB4D21EC}" destId="{CD99D94D-0903-45D5-BDB8-564708BE174C}" srcOrd="2" destOrd="0" presId="urn:microsoft.com/office/officeart/2005/8/layout/hProcess7"/>
    <dgm:cxn modelId="{A046417C-E90D-46C3-93EC-073BB808F8A0}" type="presParOf" srcId="{CD99D94D-0903-45D5-BDB8-564708BE174C}" destId="{F1433340-ADE0-495E-A71F-3FEAB4CA9804}" srcOrd="0" destOrd="0" presId="urn:microsoft.com/office/officeart/2005/8/layout/hProcess7"/>
    <dgm:cxn modelId="{568B38EE-0A76-4478-B89F-A3654E2E771B}" type="presParOf" srcId="{CD99D94D-0903-45D5-BDB8-564708BE174C}" destId="{34E44D38-3F64-4630-9374-80BBEE362E63}" srcOrd="1" destOrd="0" presId="urn:microsoft.com/office/officeart/2005/8/layout/hProcess7"/>
    <dgm:cxn modelId="{A7A036E8-0243-44BF-B570-959CCD7950E0}" type="presParOf" srcId="{CD99D94D-0903-45D5-BDB8-564708BE174C}" destId="{DB37F40F-9AF8-4BEE-B71A-A759C811CB42}" srcOrd="2" destOrd="0" presId="urn:microsoft.com/office/officeart/2005/8/layout/hProcess7"/>
    <dgm:cxn modelId="{E556D64B-D2B0-4E1D-A32D-C7AE74F62289}" type="presParOf" srcId="{C87A3AD0-C11A-4CA8-91A1-5AC5CB4D21EC}" destId="{3579DFED-ECCB-4D88-8ED9-5CFB4B8EEAA3}" srcOrd="3" destOrd="0" presId="urn:microsoft.com/office/officeart/2005/8/layout/hProcess7"/>
    <dgm:cxn modelId="{BAE9D0D3-11FA-4CDB-B46E-4C728F656EA1}" type="presParOf" srcId="{C87A3AD0-C11A-4CA8-91A1-5AC5CB4D21EC}" destId="{E6C9E9D5-64F9-4A8E-84F9-301B50A8CEFA}" srcOrd="4" destOrd="0" presId="urn:microsoft.com/office/officeart/2005/8/layout/hProcess7"/>
    <dgm:cxn modelId="{3FF5C23A-FC6A-4306-A85D-D877F04B0246}" type="presParOf" srcId="{E6C9E9D5-64F9-4A8E-84F9-301B50A8CEFA}" destId="{C711C077-10B8-4CA5-AD39-CBC5DAEF6BB4}" srcOrd="0" destOrd="0" presId="urn:microsoft.com/office/officeart/2005/8/layout/hProcess7"/>
    <dgm:cxn modelId="{F85CA169-5BED-4BF7-B858-C1692447BEF5}" type="presParOf" srcId="{E6C9E9D5-64F9-4A8E-84F9-301B50A8CEFA}" destId="{E036EAF6-DF55-440B-88BE-5FB6A7844A50}" srcOrd="1" destOrd="0" presId="urn:microsoft.com/office/officeart/2005/8/layout/hProcess7"/>
    <dgm:cxn modelId="{988C732F-659B-4169-B921-404A767C51B8}" type="presParOf" srcId="{E6C9E9D5-64F9-4A8E-84F9-301B50A8CEFA}" destId="{A253CB0C-A839-403E-BB4D-4650A470E797}" srcOrd="2" destOrd="0" presId="urn:microsoft.com/office/officeart/2005/8/layout/hProcess7"/>
    <dgm:cxn modelId="{5398A641-AF28-45B1-AAE3-65F10C5B745A}" type="presParOf" srcId="{C87A3AD0-C11A-4CA8-91A1-5AC5CB4D21EC}" destId="{4A865E88-3EBE-4EF1-A393-06F112E7F07D}" srcOrd="5" destOrd="0" presId="urn:microsoft.com/office/officeart/2005/8/layout/hProcess7"/>
    <dgm:cxn modelId="{7610E681-B816-4ECF-9C73-CCC9DFF71D0B}" type="presParOf" srcId="{C87A3AD0-C11A-4CA8-91A1-5AC5CB4D21EC}" destId="{D14BC504-7002-4EC5-B90A-D8FC8ABA97CF}" srcOrd="6" destOrd="0" presId="urn:microsoft.com/office/officeart/2005/8/layout/hProcess7"/>
    <dgm:cxn modelId="{3DF2FDE4-0B01-4989-86C7-06F217FD3862}" type="presParOf" srcId="{D14BC504-7002-4EC5-B90A-D8FC8ABA97CF}" destId="{A5F32F2D-FF3B-4C78-A2BA-46D09BA47C26}" srcOrd="0" destOrd="0" presId="urn:microsoft.com/office/officeart/2005/8/layout/hProcess7"/>
    <dgm:cxn modelId="{87B08D30-C0B9-4D43-A2DD-1C9E08D86F44}" type="presParOf" srcId="{D14BC504-7002-4EC5-B90A-D8FC8ABA97CF}" destId="{997CBFCA-D12F-46D1-A884-02BEA9A98485}" srcOrd="1" destOrd="0" presId="urn:microsoft.com/office/officeart/2005/8/layout/hProcess7"/>
    <dgm:cxn modelId="{EBAC8CAB-1BB6-41FE-B9F3-226998062A39}" type="presParOf" srcId="{D14BC504-7002-4EC5-B90A-D8FC8ABA97CF}" destId="{ABC60A60-DB29-4E97-BCCB-097FA5866512}" srcOrd="2" destOrd="0" presId="urn:microsoft.com/office/officeart/2005/8/layout/hProcess7"/>
    <dgm:cxn modelId="{4532DC1D-EDD1-416D-9AF4-E5E48F046C94}" type="presParOf" srcId="{C87A3AD0-C11A-4CA8-91A1-5AC5CB4D21EC}" destId="{A39F02FB-6740-4D2A-B6D1-42090541045C}" srcOrd="7" destOrd="0" presId="urn:microsoft.com/office/officeart/2005/8/layout/hProcess7"/>
    <dgm:cxn modelId="{E65C63D9-5512-455B-93CC-7B905C7BAC92}" type="presParOf" srcId="{C87A3AD0-C11A-4CA8-91A1-5AC5CB4D21EC}" destId="{B01D5B3B-0094-4A20-8C44-DC2F48496B56}" srcOrd="8" destOrd="0" presId="urn:microsoft.com/office/officeart/2005/8/layout/hProcess7"/>
    <dgm:cxn modelId="{183B3ABA-3484-4EF9-8649-104AFC97D955}" type="presParOf" srcId="{B01D5B3B-0094-4A20-8C44-DC2F48496B56}" destId="{2A9C4434-0AD1-4478-9F74-E68273DBA805}" srcOrd="0" destOrd="0" presId="urn:microsoft.com/office/officeart/2005/8/layout/hProcess7"/>
    <dgm:cxn modelId="{938C6348-65B7-4E85-A0F5-DABCA1510819}" type="presParOf" srcId="{B01D5B3B-0094-4A20-8C44-DC2F48496B56}" destId="{D72A4DF3-984B-4B23-BD6F-17247584BEA2}" srcOrd="1" destOrd="0" presId="urn:microsoft.com/office/officeart/2005/8/layout/hProcess7"/>
    <dgm:cxn modelId="{56F2049F-E6F3-4268-BEAB-265DBCBBA486}" type="presParOf" srcId="{B01D5B3B-0094-4A20-8C44-DC2F48496B56}" destId="{C25C3664-A843-4F90-86D5-8AB8F9DAA7BB}"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BDE289-649F-47B8-8F43-ADF746DD5DC9}">
      <dsp:nvSpPr>
        <dsp:cNvPr id="0" name=""/>
        <dsp:cNvSpPr/>
      </dsp:nvSpPr>
      <dsp:spPr>
        <a:xfrm>
          <a:off x="0" y="50813"/>
          <a:ext cx="5181600" cy="137241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CL" sz="2300" b="0" i="0" kern="1200" noProof="0" dirty="0"/>
            <a:t>La inflación es cuando hay un aumento general en el nivel de precios.</a:t>
          </a:r>
          <a:endParaRPr lang="es-CL" sz="2300" kern="1200" noProof="0" dirty="0"/>
        </a:p>
      </dsp:txBody>
      <dsp:txXfrm>
        <a:off x="66996" y="117809"/>
        <a:ext cx="5047608" cy="1238418"/>
      </dsp:txXfrm>
    </dsp:sp>
    <dsp:sp modelId="{3379B4C6-46FF-44DD-9031-885C4F57A1B8}">
      <dsp:nvSpPr>
        <dsp:cNvPr id="0" name=""/>
        <dsp:cNvSpPr/>
      </dsp:nvSpPr>
      <dsp:spPr>
        <a:xfrm>
          <a:off x="0" y="1489464"/>
          <a:ext cx="5181600" cy="137241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CL" sz="2300" b="0" i="0" kern="1200" noProof="0" dirty="0"/>
            <a:t>El resultado es que por cada peso se pueden comprar menos bienes y servicios que antes. </a:t>
          </a:r>
          <a:endParaRPr lang="es-CL" sz="2300" kern="1200" noProof="0" dirty="0"/>
        </a:p>
      </dsp:txBody>
      <dsp:txXfrm>
        <a:off x="66996" y="1556460"/>
        <a:ext cx="5047608" cy="1238418"/>
      </dsp:txXfrm>
    </dsp:sp>
    <dsp:sp modelId="{FDFCD011-9A1B-4410-A473-226129169091}">
      <dsp:nvSpPr>
        <dsp:cNvPr id="0" name=""/>
        <dsp:cNvSpPr/>
      </dsp:nvSpPr>
      <dsp:spPr>
        <a:xfrm>
          <a:off x="0" y="2928114"/>
          <a:ext cx="5181600" cy="137241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CL" sz="2300" b="0" i="0" kern="1200" noProof="0" dirty="0"/>
            <a:t>Es decir, la inflación reduce el valor del dinero en el tiempo.</a:t>
          </a:r>
          <a:endParaRPr lang="es-CL" sz="2300" kern="1200" noProof="0" dirty="0"/>
        </a:p>
      </dsp:txBody>
      <dsp:txXfrm>
        <a:off x="66996" y="2995110"/>
        <a:ext cx="5047608" cy="12384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EDD019-17E8-436A-9C3A-6BD1E32DE0C4}">
      <dsp:nvSpPr>
        <dsp:cNvPr id="0" name=""/>
        <dsp:cNvSpPr/>
      </dsp:nvSpPr>
      <dsp:spPr>
        <a:xfrm>
          <a:off x="0" y="2022"/>
          <a:ext cx="6172199" cy="10251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73FAA0-5073-4578-A16A-86427EA7EE32}">
      <dsp:nvSpPr>
        <dsp:cNvPr id="0" name=""/>
        <dsp:cNvSpPr/>
      </dsp:nvSpPr>
      <dsp:spPr>
        <a:xfrm>
          <a:off x="310115" y="232687"/>
          <a:ext cx="563846" cy="5638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EB4104-F3A3-492B-9A85-D0A77810E95B}">
      <dsp:nvSpPr>
        <dsp:cNvPr id="0" name=""/>
        <dsp:cNvSpPr/>
      </dsp:nvSpPr>
      <dsp:spPr>
        <a:xfrm>
          <a:off x="1184076" y="2022"/>
          <a:ext cx="4988123"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800100">
            <a:lnSpc>
              <a:spcPct val="90000"/>
            </a:lnSpc>
            <a:spcBef>
              <a:spcPct val="0"/>
            </a:spcBef>
            <a:spcAft>
              <a:spcPct val="35000"/>
            </a:spcAft>
            <a:buNone/>
          </a:pPr>
          <a:r>
            <a:rPr lang="es-CL" sz="1800" kern="1200"/>
            <a:t>Depende si es para un crédito o para una inversión.</a:t>
          </a:r>
          <a:endParaRPr lang="en-US" sz="1800" kern="1200"/>
        </a:p>
      </dsp:txBody>
      <dsp:txXfrm>
        <a:off x="1184076" y="2022"/>
        <a:ext cx="4988123" cy="1025174"/>
      </dsp:txXfrm>
    </dsp:sp>
    <dsp:sp modelId="{F24D9785-2E54-4200-8B5A-9593F15675C4}">
      <dsp:nvSpPr>
        <dsp:cNvPr id="0" name=""/>
        <dsp:cNvSpPr/>
      </dsp:nvSpPr>
      <dsp:spPr>
        <a:xfrm>
          <a:off x="0" y="1283491"/>
          <a:ext cx="6172199" cy="10251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3FF12A-B316-427D-834B-89F8F7CFE925}">
      <dsp:nvSpPr>
        <dsp:cNvPr id="0" name=""/>
        <dsp:cNvSpPr/>
      </dsp:nvSpPr>
      <dsp:spPr>
        <a:xfrm>
          <a:off x="310115" y="1514155"/>
          <a:ext cx="563846" cy="5638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0E62E8-68BF-4815-BA29-F6636075C276}">
      <dsp:nvSpPr>
        <dsp:cNvPr id="0" name=""/>
        <dsp:cNvSpPr/>
      </dsp:nvSpPr>
      <dsp:spPr>
        <a:xfrm>
          <a:off x="1184076" y="1283491"/>
          <a:ext cx="4988123"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800100">
            <a:lnSpc>
              <a:spcPct val="90000"/>
            </a:lnSpc>
            <a:spcBef>
              <a:spcPct val="0"/>
            </a:spcBef>
            <a:spcAft>
              <a:spcPct val="35000"/>
            </a:spcAft>
            <a:buNone/>
          </a:pPr>
          <a:r>
            <a:rPr lang="es-CL" sz="1800" kern="1200"/>
            <a:t>Si es para un crédito siempre se debe elegir la tasa (y CAE) más baja.</a:t>
          </a:r>
          <a:endParaRPr lang="en-US" sz="1800" kern="1200"/>
        </a:p>
      </dsp:txBody>
      <dsp:txXfrm>
        <a:off x="1184076" y="1283491"/>
        <a:ext cx="4988123" cy="1025174"/>
      </dsp:txXfrm>
    </dsp:sp>
    <dsp:sp modelId="{383897CA-062E-47AC-9388-C41DE272CC73}">
      <dsp:nvSpPr>
        <dsp:cNvPr id="0" name=""/>
        <dsp:cNvSpPr/>
      </dsp:nvSpPr>
      <dsp:spPr>
        <a:xfrm>
          <a:off x="0" y="2564959"/>
          <a:ext cx="6172199" cy="10251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EC07EB-349F-4753-8A5B-1E6258AAF919}">
      <dsp:nvSpPr>
        <dsp:cNvPr id="0" name=""/>
        <dsp:cNvSpPr/>
      </dsp:nvSpPr>
      <dsp:spPr>
        <a:xfrm>
          <a:off x="310115" y="2795623"/>
          <a:ext cx="563846" cy="5638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4E525F-E3F8-408D-BF48-6BFAB15EA01C}">
      <dsp:nvSpPr>
        <dsp:cNvPr id="0" name=""/>
        <dsp:cNvSpPr/>
      </dsp:nvSpPr>
      <dsp:spPr>
        <a:xfrm>
          <a:off x="1184076" y="2564959"/>
          <a:ext cx="4988123"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800100">
            <a:lnSpc>
              <a:spcPct val="90000"/>
            </a:lnSpc>
            <a:spcBef>
              <a:spcPct val="0"/>
            </a:spcBef>
            <a:spcAft>
              <a:spcPct val="35000"/>
            </a:spcAft>
            <a:buNone/>
          </a:pPr>
          <a:r>
            <a:rPr lang="es-CL" sz="1800" kern="1200"/>
            <a:t>Si es para una inversión siempre se debe elegir la tasa más alta (y analizar las comisiones).</a:t>
          </a:r>
          <a:endParaRPr lang="en-US" sz="1800" kern="1200"/>
        </a:p>
      </dsp:txBody>
      <dsp:txXfrm>
        <a:off x="1184076" y="2564959"/>
        <a:ext cx="4988123" cy="1025174"/>
      </dsp:txXfrm>
    </dsp:sp>
    <dsp:sp modelId="{20424EE7-6077-43B1-A17D-064AF107D7DA}">
      <dsp:nvSpPr>
        <dsp:cNvPr id="0" name=""/>
        <dsp:cNvSpPr/>
      </dsp:nvSpPr>
      <dsp:spPr>
        <a:xfrm>
          <a:off x="0" y="3846427"/>
          <a:ext cx="6172199" cy="10251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58C030-C582-4966-9321-1438E69E70D8}">
      <dsp:nvSpPr>
        <dsp:cNvPr id="0" name=""/>
        <dsp:cNvSpPr/>
      </dsp:nvSpPr>
      <dsp:spPr>
        <a:xfrm>
          <a:off x="310115" y="4077091"/>
          <a:ext cx="563846" cy="5638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007AE8-7BB7-4233-A5CD-EB3DB472C5A5}">
      <dsp:nvSpPr>
        <dsp:cNvPr id="0" name=""/>
        <dsp:cNvSpPr/>
      </dsp:nvSpPr>
      <dsp:spPr>
        <a:xfrm>
          <a:off x="1184076" y="3846427"/>
          <a:ext cx="4988123"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800100">
            <a:lnSpc>
              <a:spcPct val="90000"/>
            </a:lnSpc>
            <a:spcBef>
              <a:spcPct val="0"/>
            </a:spcBef>
            <a:spcAft>
              <a:spcPct val="35000"/>
            </a:spcAft>
            <a:buNone/>
          </a:pPr>
          <a:r>
            <a:rPr lang="es-CL" sz="1800" kern="1200"/>
            <a:t>Pero, además, se debe considerar la inflación.</a:t>
          </a:r>
          <a:endParaRPr lang="en-US" sz="1800" kern="1200"/>
        </a:p>
      </dsp:txBody>
      <dsp:txXfrm>
        <a:off x="1184076" y="3846427"/>
        <a:ext cx="4988123" cy="10251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E4DA0-7D76-4BED-A4B2-5206830C14EC}">
      <dsp:nvSpPr>
        <dsp:cNvPr id="0" name=""/>
        <dsp:cNvSpPr/>
      </dsp:nvSpPr>
      <dsp:spPr>
        <a:xfrm>
          <a:off x="2718431" y="756979"/>
          <a:ext cx="1542871" cy="1542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CL" sz="1400" kern="1200" noProof="0" dirty="0"/>
            <a:t>Una empresa o </a:t>
          </a:r>
          <a:r>
            <a:rPr lang="es-CL" sz="1400" b="1" kern="1200" noProof="0" dirty="0"/>
            <a:t>corporación</a:t>
          </a:r>
          <a:r>
            <a:rPr lang="es-CL" sz="1400" kern="1200" noProof="0" dirty="0"/>
            <a:t> es una entidad jurídica creada de acuerdo con la legislación vigente. </a:t>
          </a:r>
        </a:p>
      </dsp:txBody>
      <dsp:txXfrm>
        <a:off x="2718431" y="756979"/>
        <a:ext cx="1542871" cy="1542871"/>
      </dsp:txXfrm>
    </dsp:sp>
    <dsp:sp modelId="{66254E8A-9AB5-4FFD-B9C6-CA9FF5058C84}">
      <dsp:nvSpPr>
        <dsp:cNvPr id="0" name=""/>
        <dsp:cNvSpPr/>
      </dsp:nvSpPr>
      <dsp:spPr>
        <a:xfrm>
          <a:off x="-360" y="659576"/>
          <a:ext cx="4359066" cy="4359066"/>
        </a:xfrm>
        <a:prstGeom prst="circularArrow">
          <a:avLst>
            <a:gd name="adj1" fmla="val 6902"/>
            <a:gd name="adj2" fmla="val 465342"/>
            <a:gd name="adj3" fmla="val 549458"/>
            <a:gd name="adj4" fmla="val 20585200"/>
            <a:gd name="adj5" fmla="val 8052"/>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531CF6-0041-4CB6-9829-87FBD0F23E31}">
      <dsp:nvSpPr>
        <dsp:cNvPr id="0" name=""/>
        <dsp:cNvSpPr/>
      </dsp:nvSpPr>
      <dsp:spPr>
        <a:xfrm>
          <a:off x="2718431" y="3378368"/>
          <a:ext cx="1542871" cy="1542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CL" sz="1400" kern="1200" noProof="0" dirty="0"/>
            <a:t>Pasa a ser una PERSONA JURIDICA. </a:t>
          </a:r>
        </a:p>
      </dsp:txBody>
      <dsp:txXfrm>
        <a:off x="2718431" y="3378368"/>
        <a:ext cx="1542871" cy="1542871"/>
      </dsp:txXfrm>
    </dsp:sp>
    <dsp:sp modelId="{438E0D6D-7128-47A2-B894-F7FEEC3CCBDE}">
      <dsp:nvSpPr>
        <dsp:cNvPr id="0" name=""/>
        <dsp:cNvSpPr/>
      </dsp:nvSpPr>
      <dsp:spPr>
        <a:xfrm>
          <a:off x="-360" y="659576"/>
          <a:ext cx="4359066" cy="4359066"/>
        </a:xfrm>
        <a:prstGeom prst="circularArrow">
          <a:avLst>
            <a:gd name="adj1" fmla="val 6902"/>
            <a:gd name="adj2" fmla="val 465342"/>
            <a:gd name="adj3" fmla="val 5949458"/>
            <a:gd name="adj4" fmla="val 4385200"/>
            <a:gd name="adj5" fmla="val 8052"/>
          </a:avLst>
        </a:prstGeom>
        <a:solidFill>
          <a:schemeClr val="accent5">
            <a:hueOff val="-2451115"/>
            <a:satOff val="-3409"/>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2BB13F-5610-4085-961D-5C97408BF643}">
      <dsp:nvSpPr>
        <dsp:cNvPr id="0" name=""/>
        <dsp:cNvSpPr/>
      </dsp:nvSpPr>
      <dsp:spPr>
        <a:xfrm>
          <a:off x="97042" y="3378368"/>
          <a:ext cx="1542871" cy="1542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CL" sz="1400" kern="1200" noProof="0" dirty="0"/>
            <a:t>Tiene sus propios privilegios y responsabilidades distintos a la de sus socios.</a:t>
          </a:r>
        </a:p>
      </dsp:txBody>
      <dsp:txXfrm>
        <a:off x="97042" y="3378368"/>
        <a:ext cx="1542871" cy="1542871"/>
      </dsp:txXfrm>
    </dsp:sp>
    <dsp:sp modelId="{35725EBD-AD6A-473C-9507-883BBA792DD5}">
      <dsp:nvSpPr>
        <dsp:cNvPr id="0" name=""/>
        <dsp:cNvSpPr/>
      </dsp:nvSpPr>
      <dsp:spPr>
        <a:xfrm>
          <a:off x="-360" y="659576"/>
          <a:ext cx="4359066" cy="4359066"/>
        </a:xfrm>
        <a:prstGeom prst="circularArrow">
          <a:avLst>
            <a:gd name="adj1" fmla="val 6902"/>
            <a:gd name="adj2" fmla="val 465342"/>
            <a:gd name="adj3" fmla="val 11349458"/>
            <a:gd name="adj4" fmla="val 9785200"/>
            <a:gd name="adj5" fmla="val 8052"/>
          </a:avLst>
        </a:prstGeom>
        <a:solidFill>
          <a:schemeClr val="accent5">
            <a:hueOff val="-4902230"/>
            <a:satOff val="-6819"/>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53BB66-BF42-4180-BDC5-13E517B73C11}">
      <dsp:nvSpPr>
        <dsp:cNvPr id="0" name=""/>
        <dsp:cNvSpPr/>
      </dsp:nvSpPr>
      <dsp:spPr>
        <a:xfrm>
          <a:off x="97042" y="756979"/>
          <a:ext cx="1542871" cy="15428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s-CL" sz="1400" kern="1200" noProof="0" dirty="0"/>
            <a:t>Los socios pueden ser personas naturales o jurídicas.</a:t>
          </a:r>
        </a:p>
      </dsp:txBody>
      <dsp:txXfrm>
        <a:off x="97042" y="756979"/>
        <a:ext cx="1542871" cy="1542871"/>
      </dsp:txXfrm>
    </dsp:sp>
    <dsp:sp modelId="{8C7379D2-D010-485C-9BFB-B3164FF73528}">
      <dsp:nvSpPr>
        <dsp:cNvPr id="0" name=""/>
        <dsp:cNvSpPr/>
      </dsp:nvSpPr>
      <dsp:spPr>
        <a:xfrm>
          <a:off x="-360" y="659576"/>
          <a:ext cx="4359066" cy="4359066"/>
        </a:xfrm>
        <a:prstGeom prst="circularArrow">
          <a:avLst>
            <a:gd name="adj1" fmla="val 6902"/>
            <a:gd name="adj2" fmla="val 465342"/>
            <a:gd name="adj3" fmla="val 16749458"/>
            <a:gd name="adj4" fmla="val 15185200"/>
            <a:gd name="adj5" fmla="val 8052"/>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9339D-04A8-4DB0-9E8F-BAD64A8F4625}">
      <dsp:nvSpPr>
        <dsp:cNvPr id="0" name=""/>
        <dsp:cNvSpPr/>
      </dsp:nvSpPr>
      <dsp:spPr>
        <a:xfrm>
          <a:off x="0" y="416521"/>
          <a:ext cx="4727796" cy="4727796"/>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BE08AC-DA50-407A-AEBE-79E075988480}">
      <dsp:nvSpPr>
        <dsp:cNvPr id="0" name=""/>
        <dsp:cNvSpPr/>
      </dsp:nvSpPr>
      <dsp:spPr>
        <a:xfrm>
          <a:off x="307306" y="723827"/>
          <a:ext cx="1891118" cy="18911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CL" sz="1500" kern="1200" noProof="0" dirty="0"/>
            <a:t>Están constituidas legalmente.</a:t>
          </a:r>
        </a:p>
      </dsp:txBody>
      <dsp:txXfrm>
        <a:off x="399623" y="816144"/>
        <a:ext cx="1706484" cy="1706484"/>
      </dsp:txXfrm>
    </dsp:sp>
    <dsp:sp modelId="{A6C64680-3A83-42DE-9930-F7B2A973CE68}">
      <dsp:nvSpPr>
        <dsp:cNvPr id="0" name=""/>
        <dsp:cNvSpPr/>
      </dsp:nvSpPr>
      <dsp:spPr>
        <a:xfrm>
          <a:off x="2529371" y="723827"/>
          <a:ext cx="1891118" cy="189111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CL" sz="1500" kern="1200" noProof="0" dirty="0"/>
            <a:t>Los socios responden de hasta su aporte.</a:t>
          </a:r>
        </a:p>
      </dsp:txBody>
      <dsp:txXfrm>
        <a:off x="2621688" y="816144"/>
        <a:ext cx="1706484" cy="1706484"/>
      </dsp:txXfrm>
    </dsp:sp>
    <dsp:sp modelId="{48EEE240-34CD-4B77-AB49-123E073F91C2}">
      <dsp:nvSpPr>
        <dsp:cNvPr id="0" name=""/>
        <dsp:cNvSpPr/>
      </dsp:nvSpPr>
      <dsp:spPr>
        <a:xfrm>
          <a:off x="307306" y="2945892"/>
          <a:ext cx="1891118" cy="1891118"/>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CL" sz="1500" kern="1200" noProof="0" dirty="0"/>
            <a:t>La administración, dependiendo del tipo de sociedad, está delegada en una gerencia o en un directorio.</a:t>
          </a:r>
        </a:p>
      </dsp:txBody>
      <dsp:txXfrm>
        <a:off x="399623" y="3038209"/>
        <a:ext cx="1706484" cy="1706484"/>
      </dsp:txXfrm>
    </dsp:sp>
    <dsp:sp modelId="{EC8E0C52-3B69-42A4-9D0A-7AEE9678EE97}">
      <dsp:nvSpPr>
        <dsp:cNvPr id="0" name=""/>
        <dsp:cNvSpPr/>
      </dsp:nvSpPr>
      <dsp:spPr>
        <a:xfrm>
          <a:off x="2529371" y="2945892"/>
          <a:ext cx="1891118" cy="1891118"/>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CL" sz="1500" kern="1200" noProof="0" dirty="0"/>
            <a:t>La propiedad puede ser transferida o vendida. </a:t>
          </a:r>
        </a:p>
      </dsp:txBody>
      <dsp:txXfrm>
        <a:off x="2621688" y="3038209"/>
        <a:ext cx="1706484" cy="17064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AC8F1F-6E6E-4F2B-A579-3692D1A17A07}">
      <dsp:nvSpPr>
        <dsp:cNvPr id="0" name=""/>
        <dsp:cNvSpPr/>
      </dsp:nvSpPr>
      <dsp:spPr>
        <a:xfrm>
          <a:off x="0" y="4948"/>
          <a:ext cx="4291113" cy="7283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F3D297-B0A7-4A9F-BE7E-D05C8C53525D}">
      <dsp:nvSpPr>
        <dsp:cNvPr id="0" name=""/>
        <dsp:cNvSpPr/>
      </dsp:nvSpPr>
      <dsp:spPr>
        <a:xfrm>
          <a:off x="220330" y="168831"/>
          <a:ext cx="400992" cy="400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62863-9385-4F7E-ACD9-2BECF495438F}">
      <dsp:nvSpPr>
        <dsp:cNvPr id="0" name=""/>
        <dsp:cNvSpPr/>
      </dsp:nvSpPr>
      <dsp:spPr>
        <a:xfrm>
          <a:off x="841654" y="4948"/>
          <a:ext cx="2856593" cy="1092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28" tIns="115628" rIns="115628" bIns="115628" numCol="1" spcCol="1270" anchor="ctr" anchorCtr="0">
          <a:noAutofit/>
        </a:bodyPr>
        <a:lstStyle/>
        <a:p>
          <a:pPr marL="0" lvl="0" indent="0" algn="l" defTabSz="622300">
            <a:lnSpc>
              <a:spcPct val="100000"/>
            </a:lnSpc>
            <a:spcBef>
              <a:spcPct val="0"/>
            </a:spcBef>
            <a:spcAft>
              <a:spcPct val="35000"/>
            </a:spcAft>
            <a:buNone/>
          </a:pPr>
          <a:r>
            <a:rPr lang="es-CL" sz="1400" kern="1200" noProof="0" dirty="0"/>
            <a:t>Los objetivos especifican la determinación de la empresa de </a:t>
          </a:r>
          <a:r>
            <a:rPr lang="es-CL" sz="1400" b="1" kern="1200" noProof="0" dirty="0"/>
            <a:t>hacia dónde se quiere dirigir</a:t>
          </a:r>
          <a:r>
            <a:rPr lang="es-CL" sz="1400" kern="1200" noProof="0" dirty="0"/>
            <a:t>. Es la situación deseada que se quiere alcanzar.</a:t>
          </a:r>
        </a:p>
      </dsp:txBody>
      <dsp:txXfrm>
        <a:off x="841654" y="4948"/>
        <a:ext cx="2856593" cy="1092548"/>
      </dsp:txXfrm>
    </dsp:sp>
    <dsp:sp modelId="{FBCE21DC-FAEC-4AF9-B935-8DD2327ADA30}">
      <dsp:nvSpPr>
        <dsp:cNvPr id="0" name=""/>
        <dsp:cNvSpPr/>
      </dsp:nvSpPr>
      <dsp:spPr>
        <a:xfrm>
          <a:off x="0" y="1327507"/>
          <a:ext cx="4291113" cy="7283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69A471-4529-49A1-B36A-2D74D8F29DA8}">
      <dsp:nvSpPr>
        <dsp:cNvPr id="0" name=""/>
        <dsp:cNvSpPr/>
      </dsp:nvSpPr>
      <dsp:spPr>
        <a:xfrm>
          <a:off x="220330" y="1491390"/>
          <a:ext cx="400992" cy="400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3BAA38-2189-4604-8EE6-343E7AE42D4B}">
      <dsp:nvSpPr>
        <dsp:cNvPr id="0" name=""/>
        <dsp:cNvSpPr/>
      </dsp:nvSpPr>
      <dsp:spPr>
        <a:xfrm>
          <a:off x="841654" y="1327507"/>
          <a:ext cx="2856593" cy="1092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28" tIns="115628" rIns="115628" bIns="115628" numCol="1" spcCol="1270" anchor="ctr" anchorCtr="0">
          <a:noAutofit/>
        </a:bodyPr>
        <a:lstStyle/>
        <a:p>
          <a:pPr marL="0" lvl="0" indent="0" algn="l" defTabSz="622300">
            <a:lnSpc>
              <a:spcPct val="100000"/>
            </a:lnSpc>
            <a:spcBef>
              <a:spcPct val="0"/>
            </a:spcBef>
            <a:spcAft>
              <a:spcPct val="35000"/>
            </a:spcAft>
            <a:buNone/>
          </a:pPr>
          <a:r>
            <a:rPr lang="es-CL" sz="1400" kern="1200" noProof="0" dirty="0"/>
            <a:t>Los objetivos son actividades o </a:t>
          </a:r>
          <a:r>
            <a:rPr lang="es-CL" sz="1400" b="1" kern="1200" noProof="0" dirty="0"/>
            <a:t>logros</a:t>
          </a:r>
          <a:r>
            <a:rPr lang="es-CL" sz="1400" kern="1200" noProof="0" dirty="0"/>
            <a:t> específicos que se quieren alcanzar. Por ejemplo: aumentar el patrimonio; crecimiento sostenido; líder en tecnología.</a:t>
          </a:r>
        </a:p>
      </dsp:txBody>
      <dsp:txXfrm>
        <a:off x="841654" y="1327507"/>
        <a:ext cx="2856593" cy="1092548"/>
      </dsp:txXfrm>
    </dsp:sp>
    <dsp:sp modelId="{20B4C655-183E-42E6-B671-70A6FC7526B9}">
      <dsp:nvSpPr>
        <dsp:cNvPr id="0" name=""/>
        <dsp:cNvSpPr/>
      </dsp:nvSpPr>
      <dsp:spPr>
        <a:xfrm>
          <a:off x="0" y="2613692"/>
          <a:ext cx="4291113" cy="7283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BA9A9F-EAB0-40C3-929F-8CCF64510BB9}">
      <dsp:nvSpPr>
        <dsp:cNvPr id="0" name=""/>
        <dsp:cNvSpPr/>
      </dsp:nvSpPr>
      <dsp:spPr>
        <a:xfrm>
          <a:off x="220330" y="2813948"/>
          <a:ext cx="400992" cy="400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EA3E68-4E71-4395-B3CE-E291F5CCDFE2}">
      <dsp:nvSpPr>
        <dsp:cNvPr id="0" name=""/>
        <dsp:cNvSpPr/>
      </dsp:nvSpPr>
      <dsp:spPr>
        <a:xfrm>
          <a:off x="841654" y="2650066"/>
          <a:ext cx="2856593" cy="1092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28" tIns="115628" rIns="115628" bIns="115628" numCol="1" spcCol="1270" anchor="ctr" anchorCtr="0">
          <a:noAutofit/>
        </a:bodyPr>
        <a:lstStyle/>
        <a:p>
          <a:pPr marL="0" lvl="0" indent="0" algn="l" defTabSz="622300">
            <a:lnSpc>
              <a:spcPct val="100000"/>
            </a:lnSpc>
            <a:spcBef>
              <a:spcPct val="0"/>
            </a:spcBef>
            <a:spcAft>
              <a:spcPct val="35000"/>
            </a:spcAft>
            <a:buNone/>
          </a:pPr>
          <a:r>
            <a:rPr lang="es-CL" sz="1400" kern="1200" noProof="0" dirty="0"/>
            <a:t>Se distinguen de las </a:t>
          </a:r>
          <a:r>
            <a:rPr lang="es-CL" sz="1400" b="1" kern="1200" noProof="0" dirty="0"/>
            <a:t>metas</a:t>
          </a:r>
          <a:r>
            <a:rPr lang="es-CL" sz="1400" kern="1200" noProof="0" dirty="0"/>
            <a:t> en que estas, </a:t>
          </a:r>
          <a:r>
            <a:rPr lang="es-CL" sz="1400" b="1" kern="1200" noProof="0" dirty="0"/>
            <a:t>son cuantitativas</a:t>
          </a:r>
          <a:r>
            <a:rPr lang="es-CL" sz="1400" kern="1200" noProof="0" dirty="0"/>
            <a:t>, se pueden medir en una unidad de medida, en pesos, número de productos, porcentaje de participación de mercado, etc. </a:t>
          </a:r>
        </a:p>
      </dsp:txBody>
      <dsp:txXfrm>
        <a:off x="841654" y="2650066"/>
        <a:ext cx="2856593" cy="1092548"/>
      </dsp:txXfrm>
    </dsp:sp>
    <dsp:sp modelId="{916A627B-9D47-4C5C-BEF7-580EDC1107D1}">
      <dsp:nvSpPr>
        <dsp:cNvPr id="0" name=""/>
        <dsp:cNvSpPr/>
      </dsp:nvSpPr>
      <dsp:spPr>
        <a:xfrm>
          <a:off x="0" y="3972625"/>
          <a:ext cx="4291113" cy="7283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F3CFA8-2545-446B-BE68-E4F97EE944F5}">
      <dsp:nvSpPr>
        <dsp:cNvPr id="0" name=""/>
        <dsp:cNvSpPr/>
      </dsp:nvSpPr>
      <dsp:spPr>
        <a:xfrm>
          <a:off x="220330" y="4136507"/>
          <a:ext cx="400992" cy="4006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457C3A-B90A-4BEB-BBFA-436389E0E62E}">
      <dsp:nvSpPr>
        <dsp:cNvPr id="0" name=""/>
        <dsp:cNvSpPr/>
      </dsp:nvSpPr>
      <dsp:spPr>
        <a:xfrm>
          <a:off x="841654" y="3972625"/>
          <a:ext cx="2856593" cy="1092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28" tIns="115628" rIns="115628" bIns="115628" numCol="1" spcCol="1270" anchor="ctr" anchorCtr="0">
          <a:noAutofit/>
        </a:bodyPr>
        <a:lstStyle/>
        <a:p>
          <a:pPr marL="0" lvl="0" indent="0" algn="l" defTabSz="622300">
            <a:lnSpc>
              <a:spcPct val="100000"/>
            </a:lnSpc>
            <a:spcBef>
              <a:spcPct val="0"/>
            </a:spcBef>
            <a:spcAft>
              <a:spcPct val="35000"/>
            </a:spcAft>
            <a:buNone/>
          </a:pPr>
          <a:r>
            <a:rPr lang="es-CL" sz="1400" kern="1200" noProof="0" dirty="0"/>
            <a:t>Cabe destacar, que tanto, para las metas como para los objetivos, siempre </a:t>
          </a:r>
          <a:r>
            <a:rPr lang="es-CL" sz="1400" b="1" kern="1200" noProof="0" dirty="0"/>
            <a:t>se  debe establecer su logro en un plazo predeterminado</a:t>
          </a:r>
          <a:r>
            <a:rPr lang="es-CL" sz="1400" kern="1200" noProof="0" dirty="0"/>
            <a:t>, días, semanas, meses, años, etc.</a:t>
          </a:r>
        </a:p>
      </dsp:txBody>
      <dsp:txXfrm>
        <a:off x="841654" y="3972625"/>
        <a:ext cx="2856593" cy="10925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E01D7-F365-4E08-BC17-A57B3091004C}">
      <dsp:nvSpPr>
        <dsp:cNvPr id="0" name=""/>
        <dsp:cNvSpPr/>
      </dsp:nvSpPr>
      <dsp:spPr>
        <a:xfrm>
          <a:off x="1917" y="143234"/>
          <a:ext cx="3387390" cy="4064868"/>
        </a:xfrm>
        <a:prstGeom prst="roundRect">
          <a:avLst>
            <a:gd name="adj" fmla="val 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23444" rIns="160020" bIns="0" numCol="1" spcCol="1270" anchor="t" anchorCtr="0">
          <a:noAutofit/>
        </a:bodyPr>
        <a:lstStyle/>
        <a:p>
          <a:pPr marL="0" lvl="0" indent="0" algn="r" defTabSz="1600200">
            <a:lnSpc>
              <a:spcPct val="90000"/>
            </a:lnSpc>
            <a:spcBef>
              <a:spcPct val="0"/>
            </a:spcBef>
            <a:spcAft>
              <a:spcPct val="35000"/>
            </a:spcAft>
            <a:buNone/>
          </a:pPr>
          <a:r>
            <a:rPr lang="es-CL" sz="3600" kern="1200" noProof="0" dirty="0"/>
            <a:t>Activos</a:t>
          </a:r>
        </a:p>
      </dsp:txBody>
      <dsp:txXfrm rot="16200000">
        <a:off x="-1325939" y="1471091"/>
        <a:ext cx="3333191" cy="677478"/>
      </dsp:txXfrm>
    </dsp:sp>
    <dsp:sp modelId="{387EF2C6-3EF1-48B6-8AB0-8E4FBE1AEA6B}">
      <dsp:nvSpPr>
        <dsp:cNvPr id="0" name=""/>
        <dsp:cNvSpPr/>
      </dsp:nvSpPr>
      <dsp:spPr>
        <a:xfrm>
          <a:off x="679395" y="143234"/>
          <a:ext cx="2523605" cy="406486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50876" rIns="0" bIns="0" numCol="1" spcCol="1270" anchor="t" anchorCtr="0">
          <a:noAutofit/>
        </a:bodyPr>
        <a:lstStyle/>
        <a:p>
          <a:pPr marL="0" lvl="0" indent="0" algn="l" defTabSz="1955800">
            <a:lnSpc>
              <a:spcPct val="90000"/>
            </a:lnSpc>
            <a:spcBef>
              <a:spcPct val="0"/>
            </a:spcBef>
            <a:spcAft>
              <a:spcPct val="35000"/>
            </a:spcAft>
            <a:buNone/>
          </a:pPr>
          <a:r>
            <a:rPr lang="es-CL" sz="4400" kern="1200" noProof="0" dirty="0"/>
            <a:t>Lo que tengo</a:t>
          </a:r>
        </a:p>
      </dsp:txBody>
      <dsp:txXfrm>
        <a:off x="679395" y="143234"/>
        <a:ext cx="2523605" cy="4064868"/>
      </dsp:txXfrm>
    </dsp:sp>
    <dsp:sp modelId="{C711C077-10B8-4CA5-AD39-CBC5DAEF6BB4}">
      <dsp:nvSpPr>
        <dsp:cNvPr id="0" name=""/>
        <dsp:cNvSpPr/>
      </dsp:nvSpPr>
      <dsp:spPr>
        <a:xfrm>
          <a:off x="3812583" y="176485"/>
          <a:ext cx="3387390" cy="4064868"/>
        </a:xfrm>
        <a:prstGeom prst="roundRect">
          <a:avLst>
            <a:gd name="adj" fmla="val 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23444" rIns="160020" bIns="0" numCol="1" spcCol="1270" anchor="t" anchorCtr="0">
          <a:noAutofit/>
        </a:bodyPr>
        <a:lstStyle/>
        <a:p>
          <a:pPr marL="0" lvl="0" indent="0" algn="r" defTabSz="1600200">
            <a:lnSpc>
              <a:spcPct val="90000"/>
            </a:lnSpc>
            <a:spcBef>
              <a:spcPct val="0"/>
            </a:spcBef>
            <a:spcAft>
              <a:spcPct val="35000"/>
            </a:spcAft>
            <a:buNone/>
          </a:pPr>
          <a:r>
            <a:rPr lang="es-CL" sz="3600" kern="1200" noProof="0" dirty="0"/>
            <a:t>Pasivos</a:t>
          </a:r>
        </a:p>
      </dsp:txBody>
      <dsp:txXfrm rot="16200000">
        <a:off x="2484726" y="1504342"/>
        <a:ext cx="3333191" cy="677478"/>
      </dsp:txXfrm>
    </dsp:sp>
    <dsp:sp modelId="{34E44D38-3F64-4630-9374-80BBEE362E63}">
      <dsp:nvSpPr>
        <dsp:cNvPr id="0" name=""/>
        <dsp:cNvSpPr/>
      </dsp:nvSpPr>
      <dsp:spPr>
        <a:xfrm rot="10800000">
          <a:off x="3038731" y="363878"/>
          <a:ext cx="1085334" cy="1056616"/>
        </a:xfrm>
        <a:prstGeom prst="mathMinus">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53CB0C-A839-403E-BB4D-4650A470E797}">
      <dsp:nvSpPr>
        <dsp:cNvPr id="0" name=""/>
        <dsp:cNvSpPr/>
      </dsp:nvSpPr>
      <dsp:spPr>
        <a:xfrm>
          <a:off x="4490061" y="176485"/>
          <a:ext cx="2523605" cy="406486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50876" rIns="0" bIns="0" numCol="1" spcCol="1270" anchor="t" anchorCtr="0">
          <a:noAutofit/>
        </a:bodyPr>
        <a:lstStyle/>
        <a:p>
          <a:pPr marL="0" lvl="0" indent="0" algn="l" defTabSz="1955800">
            <a:lnSpc>
              <a:spcPct val="90000"/>
            </a:lnSpc>
            <a:spcBef>
              <a:spcPct val="0"/>
            </a:spcBef>
            <a:spcAft>
              <a:spcPct val="35000"/>
            </a:spcAft>
            <a:buNone/>
          </a:pPr>
          <a:r>
            <a:rPr lang="es-CL" sz="4400" kern="1200" noProof="0" dirty="0"/>
            <a:t>Lo que debo</a:t>
          </a:r>
        </a:p>
      </dsp:txBody>
      <dsp:txXfrm>
        <a:off x="4490061" y="176485"/>
        <a:ext cx="2523605" cy="4064868"/>
      </dsp:txXfrm>
    </dsp:sp>
    <dsp:sp modelId="{2A9C4434-0AD1-4478-9F74-E68273DBA805}">
      <dsp:nvSpPr>
        <dsp:cNvPr id="0" name=""/>
        <dsp:cNvSpPr/>
      </dsp:nvSpPr>
      <dsp:spPr>
        <a:xfrm>
          <a:off x="7710492" y="143234"/>
          <a:ext cx="3387390" cy="4064868"/>
        </a:xfrm>
        <a:prstGeom prst="roundRect">
          <a:avLst>
            <a:gd name="adj" fmla="val 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23444" rIns="160020" bIns="0" numCol="1" spcCol="1270" anchor="t" anchorCtr="0">
          <a:noAutofit/>
        </a:bodyPr>
        <a:lstStyle/>
        <a:p>
          <a:pPr marL="0" lvl="0" indent="0" algn="r" defTabSz="1600200">
            <a:lnSpc>
              <a:spcPct val="90000"/>
            </a:lnSpc>
            <a:spcBef>
              <a:spcPct val="0"/>
            </a:spcBef>
            <a:spcAft>
              <a:spcPct val="35000"/>
            </a:spcAft>
            <a:buNone/>
          </a:pPr>
          <a:r>
            <a:rPr lang="es-CL" sz="3600" kern="1200" noProof="0" dirty="0"/>
            <a:t>Patrimonio</a:t>
          </a:r>
        </a:p>
      </dsp:txBody>
      <dsp:txXfrm rot="16200000">
        <a:off x="6382635" y="1471091"/>
        <a:ext cx="3333191" cy="677478"/>
      </dsp:txXfrm>
    </dsp:sp>
    <dsp:sp modelId="{997CBFCA-D12F-46D1-A884-02BEA9A98485}">
      <dsp:nvSpPr>
        <dsp:cNvPr id="0" name=""/>
        <dsp:cNvSpPr/>
      </dsp:nvSpPr>
      <dsp:spPr>
        <a:xfrm rot="10800000">
          <a:off x="6909376" y="981936"/>
          <a:ext cx="1026797" cy="656278"/>
        </a:xfrm>
        <a:prstGeom prst="mathEqual">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5C3664-A843-4F90-86D5-8AB8F9DAA7BB}">
      <dsp:nvSpPr>
        <dsp:cNvPr id="0" name=""/>
        <dsp:cNvSpPr/>
      </dsp:nvSpPr>
      <dsp:spPr>
        <a:xfrm>
          <a:off x="8387970" y="143234"/>
          <a:ext cx="2523605" cy="406486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50876" rIns="0" bIns="0" numCol="1" spcCol="1270" anchor="t" anchorCtr="0">
          <a:noAutofit/>
        </a:bodyPr>
        <a:lstStyle/>
        <a:p>
          <a:pPr marL="0" lvl="0" indent="0" algn="l" defTabSz="1955800">
            <a:lnSpc>
              <a:spcPct val="90000"/>
            </a:lnSpc>
            <a:spcBef>
              <a:spcPct val="0"/>
            </a:spcBef>
            <a:spcAft>
              <a:spcPct val="35000"/>
            </a:spcAft>
            <a:buNone/>
          </a:pPr>
          <a:r>
            <a:rPr lang="es-CL" sz="4400" kern="1200" noProof="0" dirty="0"/>
            <a:t>Lo que es mío</a:t>
          </a:r>
        </a:p>
      </dsp:txBody>
      <dsp:txXfrm>
        <a:off x="8387970" y="143234"/>
        <a:ext cx="2523605" cy="406486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8/26/2026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‹Nº›</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lgn="r" defTabSz="914400">
              <a:buNone/>
            </a:pPr>
            <a:fld id="{DF61EA0F-A667-4B49-8422-0062BC55E249}" type="slidenum">
              <a:rPr lang="en-US" sz="1200" b="0" i="0">
                <a:latin typeface="Calibri"/>
                <a:ea typeface="+mn-ea"/>
                <a:cs typeface="+mn-cs"/>
              </a:rPr>
              <a:t>1</a:t>
            </a:fld>
            <a:endParaRPr lang="en-US" sz="1200" b="0" i="0" dirty="0">
              <a:latin typeface="Calibri"/>
              <a:ea typeface="+mn-ea"/>
              <a:cs typeface="+mn-cs"/>
            </a:endParaRPr>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DF61EA0F-A667-4B49-8422-0062BC55E249}" type="slidenum">
              <a:rPr lang="en-US" smtClean="0"/>
              <a:t>62</a:t>
            </a:fld>
            <a:endParaRPr lang="en-US" dirty="0"/>
          </a:p>
        </p:txBody>
      </p:sp>
    </p:spTree>
    <p:extLst>
      <p:ext uri="{BB962C8B-B14F-4D97-AF65-F5344CB8AC3E}">
        <p14:creationId xmlns:p14="http://schemas.microsoft.com/office/powerpoint/2010/main" val="1497066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‹Nº›</a:t>
            </a:fld>
            <a:endParaRPr lang="en-US" dirty="0"/>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‹Nº›</a:t>
            </a:fld>
            <a:endParaRPr lang="en-US" dirty="0"/>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‹Nº›</a:t>
            </a:fld>
            <a:endParaRPr lang="en-US" dirty="0"/>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s-ES"/>
              <a:t>Haga clic para modificar el estilo de texto del patrón</a:t>
            </a:r>
          </a:p>
          <a:p>
            <a:pPr marL="0" lvl="1" indent="0">
              <a:lnSpc>
                <a:spcPct val="150000"/>
              </a:lnSpc>
              <a:spcAft>
                <a:spcPts val="1200"/>
              </a:spcAft>
              <a:buNone/>
            </a:pPr>
            <a:r>
              <a:rPr lang="es-ES"/>
              <a:t>Segundo nivel</a:t>
            </a:r>
          </a:p>
          <a:p>
            <a:pPr marL="0" lvl="2" indent="0">
              <a:lnSpc>
                <a:spcPct val="150000"/>
              </a:lnSpc>
              <a:spcAft>
                <a:spcPts val="1200"/>
              </a:spcAft>
              <a:buNone/>
            </a:pPr>
            <a:r>
              <a:rPr lang="es-ES"/>
              <a:t>Tercer nivel</a:t>
            </a:r>
          </a:p>
          <a:p>
            <a:pPr marL="0" lvl="3" indent="0">
              <a:lnSpc>
                <a:spcPct val="150000"/>
              </a:lnSpc>
              <a:spcAft>
                <a:spcPts val="1200"/>
              </a:spcAft>
              <a:buNone/>
            </a:pPr>
            <a:r>
              <a:rPr lang="es-ES"/>
              <a:t>Cuarto nivel</a:t>
            </a:r>
          </a:p>
          <a:p>
            <a:pPr marL="0" lvl="4" indent="0">
              <a:lnSpc>
                <a:spcPct val="150000"/>
              </a:lnSpc>
              <a:spcAft>
                <a:spcPts val="1200"/>
              </a:spcAft>
              <a:buNone/>
            </a:pPr>
            <a:r>
              <a:rPr lang="es-ES"/>
              <a:t>Quinto nivel</a:t>
            </a:r>
            <a:endParaRPr lang="en-US"/>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s-ES"/>
              <a:t>Haga clic para modificar el estilo de texto del patrón</a:t>
            </a:r>
          </a:p>
          <a:p>
            <a:pPr marL="0" lvl="1" indent="0">
              <a:lnSpc>
                <a:spcPct val="150000"/>
              </a:lnSpc>
              <a:spcAft>
                <a:spcPts val="1200"/>
              </a:spcAft>
              <a:buNone/>
            </a:pPr>
            <a:r>
              <a:rPr lang="es-ES"/>
              <a:t>Segundo nivel</a:t>
            </a:r>
          </a:p>
          <a:p>
            <a:pPr marL="0" lvl="2" indent="0">
              <a:lnSpc>
                <a:spcPct val="150000"/>
              </a:lnSpc>
              <a:spcAft>
                <a:spcPts val="1200"/>
              </a:spcAft>
              <a:buNone/>
            </a:pPr>
            <a:r>
              <a:rPr lang="es-ES"/>
              <a:t>Tercer nivel</a:t>
            </a:r>
          </a:p>
          <a:p>
            <a:pPr marL="0" lvl="3" indent="0">
              <a:lnSpc>
                <a:spcPct val="150000"/>
              </a:lnSpc>
              <a:spcAft>
                <a:spcPts val="1200"/>
              </a:spcAft>
              <a:buNone/>
            </a:pPr>
            <a:r>
              <a:rPr lang="es-ES"/>
              <a:t>Cuarto nivel</a:t>
            </a:r>
          </a:p>
          <a:p>
            <a:pPr marL="0" lvl="4" indent="0">
              <a:lnSpc>
                <a:spcPct val="150000"/>
              </a:lnSpc>
              <a:spcAft>
                <a:spcPts val="1200"/>
              </a:spcAft>
              <a:buNone/>
            </a:pPr>
            <a:r>
              <a:rPr lang="es-ES"/>
              <a:t>Quinto nivel</a:t>
            </a:r>
            <a:endParaRPr lang="en-US"/>
          </a:p>
        </p:txBody>
      </p:sp>
      <p:sp>
        <p:nvSpPr>
          <p:cNvPr id="5" name="Date Placeholder 4"/>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t>‹Nº›</a:t>
            </a:fld>
            <a:endParaRPr lang="en-US" dirty="0"/>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s-ES"/>
              <a:t>Haga clic para modificar el estilo de texto del patrón</a:t>
            </a:r>
          </a:p>
          <a:p>
            <a:pPr marL="0" lvl="1" indent="0">
              <a:lnSpc>
                <a:spcPct val="150000"/>
              </a:lnSpc>
              <a:spcAft>
                <a:spcPts val="1200"/>
              </a:spcAft>
              <a:buNone/>
            </a:pPr>
            <a:r>
              <a:rPr lang="es-ES"/>
              <a:t>Segundo nivel</a:t>
            </a:r>
          </a:p>
          <a:p>
            <a:pPr marL="0" lvl="2" indent="0">
              <a:lnSpc>
                <a:spcPct val="150000"/>
              </a:lnSpc>
              <a:spcAft>
                <a:spcPts val="1200"/>
              </a:spcAft>
              <a:buNone/>
            </a:pPr>
            <a:r>
              <a:rPr lang="es-ES"/>
              <a:t>Tercer nivel</a:t>
            </a:r>
          </a:p>
          <a:p>
            <a:pPr marL="0" lvl="3" indent="0">
              <a:lnSpc>
                <a:spcPct val="150000"/>
              </a:lnSpc>
              <a:spcAft>
                <a:spcPts val="1200"/>
              </a:spcAft>
              <a:buNone/>
            </a:pPr>
            <a:r>
              <a:rPr lang="es-ES"/>
              <a:t>Cuarto nivel</a:t>
            </a:r>
          </a:p>
          <a:p>
            <a:pPr marL="0" lvl="4" indent="0">
              <a:lnSpc>
                <a:spcPct val="150000"/>
              </a:lnSpc>
              <a:spcAft>
                <a:spcPts val="1200"/>
              </a:spcAft>
              <a:buNone/>
            </a:pPr>
            <a:r>
              <a:rPr lang="es-ES"/>
              <a:t>Quinto nivel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s-ES"/>
              <a:t>Haga clic para modificar el estilo de texto del patrón</a:t>
            </a:r>
          </a:p>
          <a:p>
            <a:pPr marL="0" lvl="1" indent="0">
              <a:lnSpc>
                <a:spcPct val="150000"/>
              </a:lnSpc>
              <a:spcAft>
                <a:spcPts val="1200"/>
              </a:spcAft>
              <a:buNone/>
            </a:pPr>
            <a:r>
              <a:rPr lang="es-ES"/>
              <a:t>Segundo nivel</a:t>
            </a:r>
          </a:p>
          <a:p>
            <a:pPr marL="0" lvl="2" indent="0">
              <a:lnSpc>
                <a:spcPct val="150000"/>
              </a:lnSpc>
              <a:spcAft>
                <a:spcPts val="1200"/>
              </a:spcAft>
              <a:buNone/>
            </a:pPr>
            <a:r>
              <a:rPr lang="es-ES"/>
              <a:t>Tercer nivel</a:t>
            </a:r>
          </a:p>
          <a:p>
            <a:pPr marL="0" lvl="3" indent="0">
              <a:lnSpc>
                <a:spcPct val="150000"/>
              </a:lnSpc>
              <a:spcAft>
                <a:spcPts val="1200"/>
              </a:spcAft>
              <a:buNone/>
            </a:pPr>
            <a:r>
              <a:rPr lang="es-ES"/>
              <a:t>Cuarto nivel</a:t>
            </a:r>
          </a:p>
          <a:p>
            <a:pPr marL="0" lvl="4" indent="0">
              <a:lnSpc>
                <a:spcPct val="150000"/>
              </a:lnSpc>
              <a:spcAft>
                <a:spcPts val="1200"/>
              </a:spcAft>
              <a:buNone/>
            </a:pPr>
            <a:r>
              <a:rPr lang="es-ES"/>
              <a:t>Quinto nivel</a:t>
            </a:r>
            <a:endParaRPr lang="en-US"/>
          </a:p>
        </p:txBody>
      </p:sp>
      <p:sp>
        <p:nvSpPr>
          <p:cNvPr id="7" name="Date Placeholder 6"/>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860EDB8-5305-433F-BE41-D7A86D811DB3}" type="slidenum">
              <a:rPr lang="en-US" smtClean="0"/>
              <a:t>‹Nº›</a:t>
            </a:fld>
            <a:endParaRPr lang="en-US" dirty="0"/>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860EDB8-5305-433F-BE41-D7A86D811DB3}" type="slidenum">
              <a:rPr lang="en-US" smtClean="0"/>
              <a:t>‹Nº›</a:t>
            </a:fld>
            <a:endParaRPr lang="en-US" dirty="0"/>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860EDB8-5305-433F-BE41-D7A86D811DB3}" type="slidenum">
              <a:rPr lang="en-US" smtClean="0"/>
              <a:t>‹Nº›</a:t>
            </a:fld>
            <a:endParaRPr lang="en-US" dirty="0"/>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s-ES"/>
              <a:t>Haga clic para modificar el estilo de texto del patrón</a:t>
            </a:r>
          </a:p>
          <a:p>
            <a:pPr marL="0" lvl="1" indent="0">
              <a:lnSpc>
                <a:spcPct val="150000"/>
              </a:lnSpc>
              <a:spcAft>
                <a:spcPts val="1200"/>
              </a:spcAft>
              <a:buNone/>
            </a:pPr>
            <a:r>
              <a:rPr lang="es-ES"/>
              <a:t>Segundo nivel</a:t>
            </a:r>
          </a:p>
          <a:p>
            <a:pPr marL="0" lvl="2" indent="0">
              <a:lnSpc>
                <a:spcPct val="150000"/>
              </a:lnSpc>
              <a:spcAft>
                <a:spcPts val="1200"/>
              </a:spcAft>
              <a:buNone/>
            </a:pPr>
            <a:r>
              <a:rPr lang="es-ES"/>
              <a:t>Tercer nivel</a:t>
            </a:r>
          </a:p>
          <a:p>
            <a:pPr marL="0" lvl="3" indent="0">
              <a:lnSpc>
                <a:spcPct val="150000"/>
              </a:lnSpc>
              <a:spcAft>
                <a:spcPts val="1200"/>
              </a:spcAft>
              <a:buNone/>
            </a:pPr>
            <a:r>
              <a:rPr lang="es-ES"/>
              <a:t>Cuarto nivel</a:t>
            </a:r>
          </a:p>
          <a:p>
            <a:pPr marL="0" lvl="4" indent="0">
              <a:lnSpc>
                <a:spcPct val="150000"/>
              </a:lnSpc>
              <a:spcAft>
                <a:spcPts val="1200"/>
              </a:spcAft>
              <a:buNone/>
            </a:pPr>
            <a:r>
              <a:rPr lang="es-ES"/>
              <a:t>Quinto nivel</a:t>
            </a:r>
            <a:endParaRPr lang="en-US"/>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t>‹Nº›</a:t>
            </a:fld>
            <a:endParaRPr lang="en-US" dirty="0"/>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860EDB8-5305-433F-BE41-D7A86D811DB3}" type="slidenum">
              <a:rPr lang="en-US" smtClean="0"/>
              <a:t>‹Nº›</a:t>
            </a:fld>
            <a:endParaRPr lang="en-US" dirty="0"/>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‹Nº›</a:t>
            </a:fld>
            <a:endParaRPr lang="en-US" dirty="0"/>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8BEEBAAA-29B5-4AF5-BC5F-7E580C29002D}" type="datetimeFigureOut">
              <a:rPr lang="en-US" smtClean="0"/>
              <a:t>8/26/2026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860EDB8-5305-433F-BE41-D7A86D811DB3}" type="slidenum">
              <a:rPr lang="en-US" smtClean="0"/>
              <a:t>‹Nº›</a:t>
            </a:fld>
            <a:endParaRPr lang="en-US" dirty="0"/>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30226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ítulo y descripció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18845AC5-A3F8-44AA-BA8F-596CDCC976D3}" type="datetimeFigureOut">
              <a:rPr lang="en-US" dirty="0"/>
              <a:t>8/26/2026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463472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8/26/2026</a:t>
            </a:fld>
            <a:endParaRPr lang="en-US" dirty="0"/>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‹Nº›</a:t>
            </a:fld>
            <a:endParaRPr lang="en-US" dirty="0"/>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5.png"/><Relationship Id="rId7" Type="http://schemas.openxmlformats.org/officeDocument/2006/relationships/diagramColors" Target="../diagrams/colors5.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economipedia.com/definiciones/economia.html" TargetMode="External"/><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package" Target="../embeddings/Microsoft_Excel_Worksheet1.xlsx"/><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package" Target="../embeddings/Microsoft_Excel_Worksheet2.xlsx"/><Relationship Id="rId1" Type="http://schemas.openxmlformats.org/officeDocument/2006/relationships/slideLayout" Target="../slideLayouts/slideLayout7.xml"/><Relationship Id="rId4" Type="http://schemas.openxmlformats.org/officeDocument/2006/relationships/image" Target="../media/image310.png"/></Relationships>
</file>

<file path=ppt/slides/_rels/slide59.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package" Target="../embeddings/Microsoft_Excel_Worksheet3.xlsx"/><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package" Target="../embeddings/Microsoft_Excel_Worksheet3.xlsx"/><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package" Target="../embeddings/Microsoft_Excel_Worksheet3.xlsx"/><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2.emf"/><Relationship Id="rId7" Type="http://schemas.openxmlformats.org/officeDocument/2006/relationships/image" Target="../media/image64.emf"/><Relationship Id="rId2" Type="http://schemas.openxmlformats.org/officeDocument/2006/relationships/package" Target="../embeddings/Microsoft_Excel_Worksheet4.xlsx"/><Relationship Id="rId1" Type="http://schemas.openxmlformats.org/officeDocument/2006/relationships/slideLayout" Target="../slideLayouts/slideLayout7.xml"/><Relationship Id="rId6" Type="http://schemas.openxmlformats.org/officeDocument/2006/relationships/package" Target="../embeddings/Microsoft_Excel_Worksheet6.xlsx"/><Relationship Id="rId5" Type="http://schemas.openxmlformats.org/officeDocument/2006/relationships/image" Target="../media/image63.emf"/><Relationship Id="rId4" Type="http://schemas.openxmlformats.org/officeDocument/2006/relationships/package" Target="../embeddings/Microsoft_Excel_Worksheet5.xlsx"/></Relationships>
</file>

<file path=ppt/slides/_rels/slide91.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7.emf"/><Relationship Id="rId7" Type="http://schemas.openxmlformats.org/officeDocument/2006/relationships/image" Target="../media/image69.emf"/><Relationship Id="rId2" Type="http://schemas.openxmlformats.org/officeDocument/2006/relationships/package" Target="../embeddings/Microsoft_Excel_Worksheet7.xlsx"/><Relationship Id="rId1" Type="http://schemas.openxmlformats.org/officeDocument/2006/relationships/slideLayout" Target="../slideLayouts/slideLayout6.xml"/><Relationship Id="rId6" Type="http://schemas.openxmlformats.org/officeDocument/2006/relationships/package" Target="../embeddings/Microsoft_Excel_Worksheet9.xlsx"/><Relationship Id="rId5" Type="http://schemas.openxmlformats.org/officeDocument/2006/relationships/image" Target="../media/image68.emf"/><Relationship Id="rId4" Type="http://schemas.openxmlformats.org/officeDocument/2006/relationships/package" Target="../embeddings/Microsoft_Excel_Worksheet8.xls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38200" y="2061006"/>
            <a:ext cx="10515600" cy="2387600"/>
          </a:xfrm>
        </p:spPr>
        <p:txBody>
          <a:bodyPr anchor="b">
            <a:normAutofit fontScale="90000"/>
          </a:bodyPr>
          <a:lstStyle/>
          <a:p>
            <a:pPr>
              <a:lnSpc>
                <a:spcPct val="90000"/>
              </a:lnSpc>
            </a:pPr>
            <a:r>
              <a:rPr lang="es-CL" noProof="0" dirty="0"/>
              <a:t>FINANZAS</a:t>
            </a:r>
            <a:br>
              <a:rPr lang="es-CL" noProof="0" dirty="0"/>
            </a:br>
            <a:r>
              <a:rPr lang="es-CL" noProof="0" dirty="0"/>
              <a:t>PARTE I</a:t>
            </a:r>
            <a:br>
              <a:rPr lang="es-CL" noProof="0" dirty="0"/>
            </a:br>
            <a:r>
              <a:rPr lang="es-CL" noProof="0" dirty="0"/>
              <a:t>Ing. Mantención Industrial</a:t>
            </a:r>
            <a:br>
              <a:rPr lang="es-CL" noProof="0" dirty="0"/>
            </a:br>
            <a:r>
              <a:rPr lang="es-CL" noProof="0" dirty="0"/>
              <a:t>Construcción </a:t>
            </a:r>
            <a:r>
              <a:rPr lang="es-CL" dirty="0"/>
              <a:t>Ci</a:t>
            </a:r>
            <a:r>
              <a:rPr lang="es-CL" noProof="0" dirty="0"/>
              <a:t>vil</a:t>
            </a:r>
            <a:br>
              <a:rPr lang="es-CL" noProof="0" dirty="0"/>
            </a:br>
            <a:r>
              <a:rPr lang="es-CL" noProof="0" dirty="0"/>
              <a:t>Informática</a:t>
            </a:r>
          </a:p>
        </p:txBody>
      </p:sp>
      <p:sp>
        <p:nvSpPr>
          <p:cNvPr id="3" name="Subtítulo 2"/>
          <p:cNvSpPr>
            <a:spLocks noGrp="1"/>
          </p:cNvSpPr>
          <p:nvPr>
            <p:ph type="subTitle" idx="1"/>
          </p:nvPr>
        </p:nvSpPr>
        <p:spPr>
          <a:xfrm>
            <a:off x="838202" y="5110609"/>
            <a:ext cx="6705599" cy="1137793"/>
          </a:xfrm>
        </p:spPr>
        <p:txBody>
          <a:bodyPr vert="horz" lIns="91440" tIns="45720" rIns="91440" bIns="45720" rtlCol="0">
            <a:normAutofit/>
          </a:bodyPr>
          <a:lstStyle/>
          <a:p>
            <a:pPr>
              <a:lnSpc>
                <a:spcPct val="140000"/>
              </a:lnSpc>
            </a:pPr>
            <a:r>
              <a:rPr lang="es-CL" sz="2400" noProof="0" dirty="0"/>
              <a:t>Profesor: Fernando Lagos Ortiz.</a:t>
            </a:r>
          </a:p>
          <a:p>
            <a:pPr>
              <a:lnSpc>
                <a:spcPct val="140000"/>
              </a:lnSpc>
            </a:pPr>
            <a:r>
              <a:rPr lang="es-CL" sz="2400" noProof="0" dirty="0"/>
              <a:t>e-mail: fernando.lagos07@inacapmail.cl</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F826E8-3EFB-A7E7-E543-CC776A4ECF86}"/>
              </a:ext>
            </a:extLst>
          </p:cNvPr>
          <p:cNvSpPr>
            <a:spLocks noGrp="1"/>
          </p:cNvSpPr>
          <p:nvPr>
            <p:ph type="title"/>
          </p:nvPr>
        </p:nvSpPr>
        <p:spPr>
          <a:xfrm>
            <a:off x="609600" y="1"/>
            <a:ext cx="10744200" cy="1228436"/>
          </a:xfrm>
        </p:spPr>
        <p:txBody>
          <a:bodyPr anchor="b">
            <a:normAutofit/>
          </a:bodyPr>
          <a:lstStyle/>
          <a:p>
            <a:r>
              <a:rPr lang="es-CL" noProof="0" dirty="0"/>
              <a:t>¿Qué es la inflación?</a:t>
            </a:r>
          </a:p>
        </p:txBody>
      </p:sp>
      <p:pic>
        <p:nvPicPr>
          <p:cNvPr id="8" name="Marcador de contenido 7">
            <a:extLst>
              <a:ext uri="{FF2B5EF4-FFF2-40B4-BE49-F238E27FC236}">
                <a16:creationId xmlns:a16="http://schemas.microsoft.com/office/drawing/2014/main" id="{66075C4F-0926-A447-8749-92B4718FF884}"/>
              </a:ext>
            </a:extLst>
          </p:cNvPr>
          <p:cNvPicPr>
            <a:picLocks noGrp="1" noChangeAspect="1"/>
          </p:cNvPicPr>
          <p:nvPr>
            <p:ph sz="half" idx="1"/>
          </p:nvPr>
        </p:nvPicPr>
        <p:blipFill>
          <a:blip r:embed="rId2"/>
          <a:stretch>
            <a:fillRect/>
          </a:stretch>
        </p:blipFill>
        <p:spPr>
          <a:xfrm>
            <a:off x="575914" y="2403566"/>
            <a:ext cx="4851918" cy="2717074"/>
          </a:xfrm>
          <a:prstGeom prst="rect">
            <a:avLst/>
          </a:prstGeom>
        </p:spPr>
      </p:pic>
      <p:graphicFrame>
        <p:nvGraphicFramePr>
          <p:cNvPr id="5" name="Marcador de texto 2">
            <a:extLst>
              <a:ext uri="{FF2B5EF4-FFF2-40B4-BE49-F238E27FC236}">
                <a16:creationId xmlns:a16="http://schemas.microsoft.com/office/drawing/2014/main" id="{36B307E3-163D-5DE1-AAD5-AF425260E68B}"/>
              </a:ext>
            </a:extLst>
          </p:cNvPr>
          <p:cNvGraphicFramePr/>
          <p:nvPr>
            <p:extLst>
              <p:ext uri="{D42A27DB-BD31-4B8C-83A1-F6EECF244321}">
                <p14:modId xmlns:p14="http://schemas.microsoft.com/office/powerpoint/2010/main" val="3365142078"/>
              </p:ext>
            </p:extLst>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4451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14ED276-B7DE-4F80-C0B5-F36ADCF10854}"/>
              </a:ext>
            </a:extLst>
          </p:cNvPr>
          <p:cNvPicPr>
            <a:picLocks noChangeAspect="1"/>
          </p:cNvPicPr>
          <p:nvPr/>
        </p:nvPicPr>
        <p:blipFill>
          <a:blip r:embed="rId2"/>
          <a:srcRect l="23000" t="17186" r="46083" b="12740"/>
          <a:stretch>
            <a:fillRect/>
          </a:stretch>
        </p:blipFill>
        <p:spPr>
          <a:xfrm>
            <a:off x="3459957" y="68263"/>
            <a:ext cx="5272085" cy="6721475"/>
          </a:xfrm>
          <a:prstGeom prst="rect">
            <a:avLst/>
          </a:prstGeom>
          <a:noFill/>
        </p:spPr>
      </p:pic>
    </p:spTree>
    <p:extLst>
      <p:ext uri="{BB962C8B-B14F-4D97-AF65-F5344CB8AC3E}">
        <p14:creationId xmlns:p14="http://schemas.microsoft.com/office/powerpoint/2010/main" val="1497615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B7C8423-67B0-B691-D537-99EF2069A9E8}"/>
              </a:ext>
            </a:extLst>
          </p:cNvPr>
          <p:cNvSpPr>
            <a:spLocks noGrp="1"/>
          </p:cNvSpPr>
          <p:nvPr>
            <p:ph type="title"/>
          </p:nvPr>
        </p:nvSpPr>
        <p:spPr>
          <a:xfrm>
            <a:off x="609600" y="1"/>
            <a:ext cx="10744200" cy="1228436"/>
          </a:xfrm>
        </p:spPr>
        <p:txBody>
          <a:bodyPr vert="horz" lIns="91440" tIns="45720" rIns="91440" bIns="45720" rtlCol="0" anchor="b">
            <a:normAutofit/>
          </a:bodyPr>
          <a:lstStyle/>
          <a:p>
            <a:r>
              <a:rPr lang="es-CL" b="1" noProof="0" dirty="0"/>
              <a:t>¿Cómo se mide la inflación?</a:t>
            </a:r>
            <a:br>
              <a:rPr lang="es-CL" b="1" i="0" noProof="0" dirty="0">
                <a:effectLst/>
              </a:rPr>
            </a:br>
            <a:endParaRPr lang="es-CL" noProof="0" dirty="0"/>
          </a:p>
        </p:txBody>
      </p:sp>
      <p:pic>
        <p:nvPicPr>
          <p:cNvPr id="3" name="Imagen 2">
            <a:extLst>
              <a:ext uri="{FF2B5EF4-FFF2-40B4-BE49-F238E27FC236}">
                <a16:creationId xmlns:a16="http://schemas.microsoft.com/office/drawing/2014/main" id="{912799BF-B461-A7CE-1122-1E6C7CBC64DF}"/>
              </a:ext>
            </a:extLst>
          </p:cNvPr>
          <p:cNvPicPr>
            <a:picLocks noChangeAspect="1"/>
          </p:cNvPicPr>
          <p:nvPr/>
        </p:nvPicPr>
        <p:blipFill>
          <a:blip r:embed="rId2"/>
          <a:stretch>
            <a:fillRect/>
          </a:stretch>
        </p:blipFill>
        <p:spPr>
          <a:xfrm>
            <a:off x="838200" y="2550446"/>
            <a:ext cx="5181600" cy="2901696"/>
          </a:xfrm>
          <a:prstGeom prst="rect">
            <a:avLst/>
          </a:prstGeom>
          <a:noFill/>
        </p:spPr>
      </p:pic>
      <p:sp>
        <p:nvSpPr>
          <p:cNvPr id="2" name="CuadroTexto 1">
            <a:extLst>
              <a:ext uri="{FF2B5EF4-FFF2-40B4-BE49-F238E27FC236}">
                <a16:creationId xmlns:a16="http://schemas.microsoft.com/office/drawing/2014/main" id="{B8FD9202-E20C-A09B-7CC7-3E381AA67081}"/>
              </a:ext>
            </a:extLst>
          </p:cNvPr>
          <p:cNvSpPr txBox="1"/>
          <p:nvPr/>
        </p:nvSpPr>
        <p:spPr>
          <a:xfrm>
            <a:off x="6172200" y="1825625"/>
            <a:ext cx="5181600" cy="4351338"/>
          </a:xfrm>
          <a:prstGeom prst="rect">
            <a:avLst/>
          </a:prstGeom>
        </p:spPr>
        <p:txBody>
          <a:bodyPr vert="horz" lIns="91440" tIns="45720" rIns="91440" bIns="45720" rtlCol="0">
            <a:normAutofit/>
          </a:bodyPr>
          <a:lstStyle/>
          <a:p>
            <a:pPr fontAlgn="base">
              <a:lnSpc>
                <a:spcPct val="150000"/>
              </a:lnSpc>
              <a:spcBef>
                <a:spcPct val="30000"/>
              </a:spcBef>
              <a:spcAft>
                <a:spcPts val="1200"/>
              </a:spcAft>
            </a:pPr>
            <a:r>
              <a:rPr lang="es-CL" sz="1500" b="0" i="0" noProof="0" dirty="0">
                <a:solidFill>
                  <a:schemeClr val="bg1">
                    <a:lumMod val="50000"/>
                  </a:schemeClr>
                </a:solidFill>
                <a:effectLst/>
              </a:rPr>
              <a:t>Se mide a través del </a:t>
            </a:r>
            <a:r>
              <a:rPr lang="es-CL" sz="1500" b="1" i="0" noProof="0" dirty="0">
                <a:solidFill>
                  <a:schemeClr val="bg1">
                    <a:lumMod val="50000"/>
                  </a:schemeClr>
                </a:solidFill>
                <a:effectLst/>
              </a:rPr>
              <a:t>Índice de Precios al Consumo (IPC).</a:t>
            </a:r>
          </a:p>
          <a:p>
            <a:pPr fontAlgn="base">
              <a:lnSpc>
                <a:spcPct val="150000"/>
              </a:lnSpc>
              <a:spcBef>
                <a:spcPct val="30000"/>
              </a:spcBef>
              <a:spcAft>
                <a:spcPts val="1200"/>
              </a:spcAft>
            </a:pPr>
            <a:endParaRPr lang="es-CL" sz="1500" b="1" noProof="0" dirty="0">
              <a:solidFill>
                <a:schemeClr val="bg1">
                  <a:lumMod val="50000"/>
                </a:schemeClr>
              </a:solidFill>
            </a:endParaRPr>
          </a:p>
          <a:p>
            <a:pPr fontAlgn="base">
              <a:lnSpc>
                <a:spcPct val="150000"/>
              </a:lnSpc>
              <a:spcBef>
                <a:spcPct val="30000"/>
              </a:spcBef>
              <a:spcAft>
                <a:spcPts val="1200"/>
              </a:spcAft>
            </a:pPr>
            <a:r>
              <a:rPr lang="es-CL" sz="1500" noProof="0" dirty="0">
                <a:solidFill>
                  <a:schemeClr val="bg1">
                    <a:lumMod val="50000"/>
                  </a:schemeClr>
                </a:solidFill>
              </a:rPr>
              <a:t>Este e</a:t>
            </a:r>
            <a:r>
              <a:rPr lang="es-CL" sz="1500" b="0" i="0" noProof="0" dirty="0">
                <a:solidFill>
                  <a:schemeClr val="bg1">
                    <a:lumMod val="50000"/>
                  </a:schemeClr>
                </a:solidFill>
                <a:effectLst/>
              </a:rPr>
              <a:t>s un indicador que tiene el objetivo de calcular mensualmente la evolución de los precios, desarrollado por el </a:t>
            </a:r>
            <a:r>
              <a:rPr lang="es-CL" sz="1500" b="1" i="0" noProof="0" dirty="0">
                <a:solidFill>
                  <a:schemeClr val="bg1">
                    <a:lumMod val="50000"/>
                  </a:schemeClr>
                </a:solidFill>
                <a:effectLst/>
              </a:rPr>
              <a:t>Instituto Nacional de Estadísticas de Chile (INE).</a:t>
            </a:r>
            <a:r>
              <a:rPr lang="es-CL" sz="1500" b="0" i="0" noProof="0" dirty="0">
                <a:solidFill>
                  <a:schemeClr val="bg1">
                    <a:lumMod val="50000"/>
                  </a:schemeClr>
                </a:solidFill>
                <a:effectLst/>
              </a:rPr>
              <a:t> </a:t>
            </a:r>
          </a:p>
          <a:p>
            <a:pPr fontAlgn="base">
              <a:lnSpc>
                <a:spcPct val="150000"/>
              </a:lnSpc>
              <a:spcBef>
                <a:spcPct val="30000"/>
              </a:spcBef>
              <a:spcAft>
                <a:spcPts val="1200"/>
              </a:spcAft>
            </a:pPr>
            <a:endParaRPr lang="es-CL" sz="1500" noProof="0" dirty="0">
              <a:solidFill>
                <a:schemeClr val="bg1">
                  <a:lumMod val="50000"/>
                </a:schemeClr>
              </a:solidFill>
            </a:endParaRPr>
          </a:p>
          <a:p>
            <a:pPr fontAlgn="base">
              <a:lnSpc>
                <a:spcPct val="150000"/>
              </a:lnSpc>
              <a:spcBef>
                <a:spcPct val="30000"/>
              </a:spcBef>
              <a:spcAft>
                <a:spcPts val="1200"/>
              </a:spcAft>
            </a:pPr>
            <a:r>
              <a:rPr lang="es-CL" sz="1500" b="0" i="0" noProof="0" dirty="0">
                <a:solidFill>
                  <a:schemeClr val="bg1">
                    <a:lumMod val="50000"/>
                  </a:schemeClr>
                </a:solidFill>
                <a:effectLst/>
              </a:rPr>
              <a:t>El </a:t>
            </a:r>
            <a:r>
              <a:rPr lang="es-CL" sz="1500" b="1" i="0" noProof="0" dirty="0">
                <a:solidFill>
                  <a:schemeClr val="bg1">
                    <a:lumMod val="50000"/>
                  </a:schemeClr>
                </a:solidFill>
                <a:effectLst/>
              </a:rPr>
              <a:t>IPC</a:t>
            </a:r>
            <a:r>
              <a:rPr lang="es-CL" sz="1500" b="0" i="0" noProof="0" dirty="0">
                <a:solidFill>
                  <a:schemeClr val="bg1">
                    <a:lumMod val="50000"/>
                  </a:schemeClr>
                </a:solidFill>
                <a:effectLst/>
              </a:rPr>
              <a:t> se publica la primera semana de cada mes. </a:t>
            </a:r>
          </a:p>
          <a:p>
            <a:pPr>
              <a:lnSpc>
                <a:spcPct val="150000"/>
              </a:lnSpc>
              <a:spcBef>
                <a:spcPct val="30000"/>
              </a:spcBef>
              <a:spcAft>
                <a:spcPts val="1200"/>
              </a:spcAft>
            </a:pPr>
            <a:br>
              <a:rPr lang="es-CL" sz="1500" noProof="0" dirty="0">
                <a:solidFill>
                  <a:schemeClr val="bg1">
                    <a:lumMod val="50000"/>
                  </a:schemeClr>
                </a:solidFill>
              </a:rPr>
            </a:br>
            <a:endParaRPr lang="es-CL" sz="1500" noProof="0" dirty="0">
              <a:solidFill>
                <a:schemeClr val="bg1">
                  <a:lumMod val="50000"/>
                </a:schemeClr>
              </a:solidFill>
            </a:endParaRPr>
          </a:p>
        </p:txBody>
      </p:sp>
    </p:spTree>
    <p:extLst>
      <p:ext uri="{BB962C8B-B14F-4D97-AF65-F5344CB8AC3E}">
        <p14:creationId xmlns:p14="http://schemas.microsoft.com/office/powerpoint/2010/main" val="115697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8AD012F-CEEF-1C5D-D2F5-B8FE69A39C3C}"/>
              </a:ext>
            </a:extLst>
          </p:cNvPr>
          <p:cNvSpPr>
            <a:spLocks noGrp="1"/>
          </p:cNvSpPr>
          <p:nvPr>
            <p:ph type="title"/>
          </p:nvPr>
        </p:nvSpPr>
        <p:spPr>
          <a:xfrm>
            <a:off x="609600" y="1"/>
            <a:ext cx="10744200" cy="1228436"/>
          </a:xfrm>
        </p:spPr>
        <p:txBody>
          <a:bodyPr>
            <a:normAutofit fontScale="90000"/>
          </a:bodyPr>
          <a:lstStyle/>
          <a:p>
            <a:br>
              <a:rPr lang="es-CL" sz="3600" b="1" i="0" noProof="0" dirty="0">
                <a:effectLst/>
              </a:rPr>
            </a:br>
            <a:br>
              <a:rPr lang="es-CL" sz="3600" b="1" i="0" noProof="0" dirty="0">
                <a:effectLst/>
              </a:rPr>
            </a:br>
            <a:r>
              <a:rPr lang="es-CL" sz="3600" b="1" i="0" noProof="0" dirty="0">
                <a:effectLst/>
              </a:rPr>
              <a:t>¿Para qué sirve el IPC?</a:t>
            </a:r>
            <a:br>
              <a:rPr lang="es-CL" sz="3600" b="1" i="0" noProof="0" dirty="0">
                <a:effectLst/>
              </a:rPr>
            </a:br>
            <a:endParaRPr lang="es-CL" noProof="0" dirty="0"/>
          </a:p>
        </p:txBody>
      </p:sp>
      <p:pic>
        <p:nvPicPr>
          <p:cNvPr id="7" name="Imagen 6">
            <a:extLst>
              <a:ext uri="{FF2B5EF4-FFF2-40B4-BE49-F238E27FC236}">
                <a16:creationId xmlns:a16="http://schemas.microsoft.com/office/drawing/2014/main" id="{F063BBD6-55B1-88D7-F142-47944196DE78}"/>
              </a:ext>
            </a:extLst>
          </p:cNvPr>
          <p:cNvPicPr>
            <a:picLocks noChangeAspect="1"/>
          </p:cNvPicPr>
          <p:nvPr/>
        </p:nvPicPr>
        <p:blipFill>
          <a:blip r:embed="rId2"/>
          <a:stretch>
            <a:fillRect/>
          </a:stretch>
        </p:blipFill>
        <p:spPr>
          <a:xfrm>
            <a:off x="838200" y="2563873"/>
            <a:ext cx="5181600" cy="2874841"/>
          </a:xfrm>
          <a:prstGeom prst="rect">
            <a:avLst/>
          </a:prstGeom>
          <a:noFill/>
        </p:spPr>
      </p:pic>
      <p:sp>
        <p:nvSpPr>
          <p:cNvPr id="6" name="CuadroTexto 5">
            <a:extLst>
              <a:ext uri="{FF2B5EF4-FFF2-40B4-BE49-F238E27FC236}">
                <a16:creationId xmlns:a16="http://schemas.microsoft.com/office/drawing/2014/main" id="{EC7F1D85-F171-7D7F-BEED-8FE0D370CC4C}"/>
              </a:ext>
            </a:extLst>
          </p:cNvPr>
          <p:cNvSpPr txBox="1"/>
          <p:nvPr/>
        </p:nvSpPr>
        <p:spPr>
          <a:xfrm>
            <a:off x="6172200" y="1825625"/>
            <a:ext cx="5181600" cy="4351338"/>
          </a:xfrm>
          <a:prstGeom prst="rect">
            <a:avLst/>
          </a:prstGeom>
        </p:spPr>
        <p:txBody>
          <a:bodyPr vert="horz" lIns="91440" tIns="45720" rIns="91440" bIns="45720" rtlCol="0">
            <a:normAutofit fontScale="92500" lnSpcReduction="20000"/>
          </a:bodyPr>
          <a:lstStyle/>
          <a:p>
            <a:pPr fontAlgn="base">
              <a:lnSpc>
                <a:spcPct val="150000"/>
              </a:lnSpc>
              <a:spcBef>
                <a:spcPct val="30000"/>
              </a:spcBef>
              <a:spcAft>
                <a:spcPts val="1200"/>
              </a:spcAft>
            </a:pPr>
            <a:r>
              <a:rPr lang="es-CL" sz="1600" b="0" i="0" noProof="0" dirty="0">
                <a:solidFill>
                  <a:schemeClr val="bg1">
                    <a:lumMod val="50000"/>
                  </a:schemeClr>
                </a:solidFill>
                <a:effectLst/>
              </a:rPr>
              <a:t>En definitiva, el </a:t>
            </a:r>
            <a:r>
              <a:rPr lang="es-CL" sz="1600" b="1" i="0" noProof="0" dirty="0">
                <a:solidFill>
                  <a:schemeClr val="bg1">
                    <a:lumMod val="50000"/>
                  </a:schemeClr>
                </a:solidFill>
                <a:effectLst/>
              </a:rPr>
              <a:t>IPC recoge la variación que ha tenido cada mes los precios de los bienes y servicios </a:t>
            </a:r>
            <a:r>
              <a:rPr lang="es-CL" sz="1600" b="0" i="0" noProof="0" dirty="0">
                <a:solidFill>
                  <a:schemeClr val="bg1">
                    <a:lumMod val="50000"/>
                  </a:schemeClr>
                </a:solidFill>
                <a:effectLst/>
              </a:rPr>
              <a:t>consumidos por los hogares chilenos.</a:t>
            </a:r>
          </a:p>
          <a:p>
            <a:pPr fontAlgn="base">
              <a:lnSpc>
                <a:spcPct val="150000"/>
              </a:lnSpc>
              <a:spcBef>
                <a:spcPct val="30000"/>
              </a:spcBef>
              <a:spcAft>
                <a:spcPts val="1200"/>
              </a:spcAft>
            </a:pPr>
            <a:r>
              <a:rPr lang="es-CL" sz="1600" b="0" i="0" noProof="0" dirty="0">
                <a:solidFill>
                  <a:schemeClr val="bg1">
                    <a:lumMod val="50000"/>
                  </a:schemeClr>
                </a:solidFill>
                <a:effectLst/>
              </a:rPr>
              <a:t>Este indicador permite:</a:t>
            </a:r>
          </a:p>
          <a:p>
            <a:pPr marL="285750" indent="-285750" fontAlgn="base">
              <a:lnSpc>
                <a:spcPct val="150000"/>
              </a:lnSpc>
              <a:spcBef>
                <a:spcPct val="30000"/>
              </a:spcBef>
              <a:spcAft>
                <a:spcPts val="1200"/>
              </a:spcAft>
              <a:buFont typeface="Arial" panose="020B0604020202020204" pitchFamily="34" charset="0"/>
              <a:buChar char="•"/>
            </a:pPr>
            <a:r>
              <a:rPr lang="es-CL" sz="1600" b="0" i="0" noProof="0" dirty="0">
                <a:solidFill>
                  <a:schemeClr val="bg1">
                    <a:lumMod val="50000"/>
                  </a:schemeClr>
                </a:solidFill>
                <a:effectLst/>
              </a:rPr>
              <a:t>Conocer cuando ha variado el costo de la vida</a:t>
            </a:r>
          </a:p>
          <a:p>
            <a:pPr marL="285750" indent="-285750" fontAlgn="base">
              <a:lnSpc>
                <a:spcPct val="150000"/>
              </a:lnSpc>
              <a:spcBef>
                <a:spcPct val="30000"/>
              </a:spcBef>
              <a:spcAft>
                <a:spcPts val="1200"/>
              </a:spcAft>
              <a:buFont typeface="Arial" panose="020B0604020202020204" pitchFamily="34" charset="0"/>
              <a:buChar char="•"/>
            </a:pPr>
            <a:r>
              <a:rPr lang="es-CL" sz="1600" b="0" i="0" noProof="0" dirty="0">
                <a:solidFill>
                  <a:schemeClr val="bg1">
                    <a:lumMod val="50000"/>
                  </a:schemeClr>
                </a:solidFill>
                <a:effectLst/>
              </a:rPr>
              <a:t>Determinar la variación de la UF </a:t>
            </a:r>
          </a:p>
          <a:p>
            <a:pPr marL="285750" indent="-285750" fontAlgn="base">
              <a:lnSpc>
                <a:spcPct val="150000"/>
              </a:lnSpc>
              <a:spcBef>
                <a:spcPct val="30000"/>
              </a:spcBef>
              <a:spcAft>
                <a:spcPts val="1200"/>
              </a:spcAft>
              <a:buFont typeface="Arial" panose="020B0604020202020204" pitchFamily="34" charset="0"/>
              <a:buChar char="•"/>
            </a:pPr>
            <a:r>
              <a:rPr lang="es-CL" sz="1600" b="0" i="0" noProof="0" dirty="0">
                <a:solidFill>
                  <a:schemeClr val="bg1">
                    <a:lumMod val="50000"/>
                  </a:schemeClr>
                </a:solidFill>
                <a:effectLst/>
              </a:rPr>
              <a:t>Aumentos de sueldos que se hayan pactado esta condición</a:t>
            </a:r>
          </a:p>
          <a:p>
            <a:pPr marL="285750" indent="-285750" fontAlgn="base">
              <a:lnSpc>
                <a:spcPct val="150000"/>
              </a:lnSpc>
              <a:spcBef>
                <a:spcPct val="30000"/>
              </a:spcBef>
              <a:spcAft>
                <a:spcPts val="1200"/>
              </a:spcAft>
              <a:buFont typeface="Arial" panose="020B0604020202020204" pitchFamily="34" charset="0"/>
              <a:buChar char="•"/>
            </a:pPr>
            <a:r>
              <a:rPr lang="es-CL" sz="1600" noProof="0" dirty="0">
                <a:solidFill>
                  <a:schemeClr val="bg1">
                    <a:lumMod val="50000"/>
                  </a:schemeClr>
                </a:solidFill>
              </a:rPr>
              <a:t>Afecta la determinación de la tasa de interés. Es decir, el costo del crédito depende de la inflación.</a:t>
            </a:r>
            <a:endParaRPr lang="es-CL" sz="1600" b="0" i="0" noProof="0" dirty="0">
              <a:solidFill>
                <a:schemeClr val="bg1">
                  <a:lumMod val="50000"/>
                </a:schemeClr>
              </a:solidFill>
              <a:effectLst/>
            </a:endParaRPr>
          </a:p>
        </p:txBody>
      </p:sp>
    </p:spTree>
    <p:extLst>
      <p:ext uri="{BB962C8B-B14F-4D97-AF65-F5344CB8AC3E}">
        <p14:creationId xmlns:p14="http://schemas.microsoft.com/office/powerpoint/2010/main" val="4155974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1">
            <a:extLst>
              <a:ext uri="{FF2B5EF4-FFF2-40B4-BE49-F238E27FC236}">
                <a16:creationId xmlns:a16="http://schemas.microsoft.com/office/drawing/2014/main" id="{48AA4689-1EAD-6AF1-34ED-6C5134D1BE04}"/>
              </a:ext>
            </a:extLst>
          </p:cNvPr>
          <p:cNvSpPr>
            <a:spLocks noGrp="1"/>
          </p:cNvSpPr>
          <p:nvPr>
            <p:ph type="title"/>
          </p:nvPr>
        </p:nvSpPr>
        <p:spPr>
          <a:xfrm>
            <a:off x="609600" y="1"/>
            <a:ext cx="10744200" cy="1228436"/>
          </a:xfrm>
        </p:spPr>
        <p:txBody>
          <a:bodyPr vert="horz" lIns="91440" tIns="45720" rIns="91440" bIns="45720" rtlCol="0" anchor="b">
            <a:normAutofit/>
          </a:bodyPr>
          <a:lstStyle/>
          <a:p>
            <a:r>
              <a:rPr lang="es-CL" noProof="0" dirty="0"/>
              <a:t>Tasa de interés</a:t>
            </a:r>
          </a:p>
        </p:txBody>
      </p:sp>
      <p:pic>
        <p:nvPicPr>
          <p:cNvPr id="2050" name="Picture 2" descr="Qué es la Tasa de Interés? - CMF Educa - Comisión para el ...">
            <a:extLst>
              <a:ext uri="{FF2B5EF4-FFF2-40B4-BE49-F238E27FC236}">
                <a16:creationId xmlns:a16="http://schemas.microsoft.com/office/drawing/2014/main" id="{62538FF8-AE33-61CF-BC82-3623B7F539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212" r="27021" b="-1"/>
          <a:stretch/>
        </p:blipFill>
        <p:spPr bwMode="auto">
          <a:xfrm>
            <a:off x="838200" y="1825625"/>
            <a:ext cx="5181600"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20282FF3-E763-61B7-BEE5-3C8786E81857}"/>
              </a:ext>
            </a:extLst>
          </p:cNvPr>
          <p:cNvSpPr>
            <a:spLocks noChangeArrowheads="1"/>
          </p:cNvSpPr>
          <p:nvPr/>
        </p:nvSpPr>
        <p:spPr bwMode="auto">
          <a:xfrm>
            <a:off x="6172200" y="1825625"/>
            <a:ext cx="5181600" cy="43513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150000"/>
              </a:lnSpc>
              <a:spcBef>
                <a:spcPct val="30000"/>
              </a:spcBef>
              <a:spcAft>
                <a:spcPts val="1200"/>
              </a:spcAft>
              <a:buClrTx/>
              <a:buSzTx/>
              <a:tabLst/>
            </a:pPr>
            <a:r>
              <a:rPr kumimoji="0" lang="es-CL" sz="1600" b="1" i="0" u="none" strike="noStrike" cap="none" normalizeH="0" baseline="0" noProof="0" dirty="0">
                <a:ln>
                  <a:noFill/>
                </a:ln>
                <a:solidFill>
                  <a:schemeClr val="bg1">
                    <a:lumMod val="50000"/>
                  </a:schemeClr>
                </a:solidFill>
                <a:effectLst/>
                <a:latin typeface="+mn-lt"/>
              </a:rPr>
              <a:t>¿Qué es la tasa de interés?              </a:t>
            </a:r>
          </a:p>
          <a:p>
            <a:pPr marR="0" lvl="0" eaLnBrk="1" fontAlgn="base" hangingPunct="1">
              <a:lnSpc>
                <a:spcPct val="150000"/>
              </a:lnSpc>
              <a:spcBef>
                <a:spcPct val="30000"/>
              </a:spcBef>
              <a:spcAft>
                <a:spcPts val="1200"/>
              </a:spcAft>
              <a:buClrTx/>
              <a:buSzTx/>
              <a:tabLst/>
            </a:pPr>
            <a:r>
              <a:rPr kumimoji="0" lang="es-CL" sz="1600" b="0" i="0" u="none" strike="noStrike" cap="none" normalizeH="0" baseline="0" noProof="0" dirty="0">
                <a:ln>
                  <a:noFill/>
                </a:ln>
                <a:solidFill>
                  <a:schemeClr val="bg1">
                    <a:lumMod val="50000"/>
                  </a:schemeClr>
                </a:solidFill>
                <a:effectLst/>
                <a:latin typeface="+mn-lt"/>
              </a:rPr>
              <a:t>La tasa de interés es un porcentaje que se aplica sobre una operación de crédito o inversión. </a:t>
            </a:r>
          </a:p>
          <a:p>
            <a:pPr marR="0" lvl="0" eaLnBrk="1" fontAlgn="base" hangingPunct="1">
              <a:lnSpc>
                <a:spcPct val="150000"/>
              </a:lnSpc>
              <a:spcBef>
                <a:spcPct val="30000"/>
              </a:spcBef>
              <a:spcAft>
                <a:spcPts val="1200"/>
              </a:spcAft>
              <a:buClrTx/>
              <a:buSzTx/>
              <a:tabLst/>
            </a:pPr>
            <a:r>
              <a:rPr kumimoji="0" lang="es-CL" sz="1600" b="0" i="0" u="none" strike="noStrike" cap="none" normalizeH="0" baseline="0" noProof="0" dirty="0">
                <a:ln>
                  <a:noFill/>
                </a:ln>
                <a:solidFill>
                  <a:schemeClr val="bg1">
                    <a:lumMod val="50000"/>
                  </a:schemeClr>
                </a:solidFill>
                <a:effectLst/>
                <a:latin typeface="+mn-lt"/>
              </a:rPr>
              <a:t>Este un porcentaje que se traduce en un monto de dinero, mediante el cual se paga por el uso del dinero. </a:t>
            </a:r>
          </a:p>
        </p:txBody>
      </p:sp>
    </p:spTree>
    <p:extLst>
      <p:ext uri="{BB962C8B-B14F-4D97-AF65-F5344CB8AC3E}">
        <p14:creationId xmlns:p14="http://schemas.microsoft.com/office/powerpoint/2010/main" val="1819320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BA296E-52AA-F363-DFCA-599798A043B8}"/>
              </a:ext>
            </a:extLst>
          </p:cNvPr>
          <p:cNvSpPr>
            <a:spLocks noGrp="1"/>
          </p:cNvSpPr>
          <p:nvPr>
            <p:ph type="title"/>
          </p:nvPr>
        </p:nvSpPr>
        <p:spPr>
          <a:xfrm>
            <a:off x="609600" y="1"/>
            <a:ext cx="10744200" cy="1228436"/>
          </a:xfrm>
        </p:spPr>
        <p:txBody>
          <a:bodyPr anchor="b">
            <a:normAutofit/>
          </a:bodyPr>
          <a:lstStyle/>
          <a:p>
            <a:r>
              <a:rPr lang="es-CL" noProof="0" dirty="0"/>
              <a:t>La tasa de interés depende de la inflación:</a:t>
            </a:r>
          </a:p>
        </p:txBody>
      </p:sp>
      <p:pic>
        <p:nvPicPr>
          <p:cNvPr id="5" name="Imagen 4" descr="Gráfico, Histograma&#10;&#10;Descripción generada automáticamente">
            <a:extLst>
              <a:ext uri="{FF2B5EF4-FFF2-40B4-BE49-F238E27FC236}">
                <a16:creationId xmlns:a16="http://schemas.microsoft.com/office/drawing/2014/main" id="{0DD730E2-C6A0-09A7-8FAF-B2274529462C}"/>
              </a:ext>
            </a:extLst>
          </p:cNvPr>
          <p:cNvPicPr>
            <a:picLocks noChangeAspect="1"/>
          </p:cNvPicPr>
          <p:nvPr/>
        </p:nvPicPr>
        <p:blipFill>
          <a:blip r:embed="rId2"/>
          <a:stretch>
            <a:fillRect/>
          </a:stretch>
        </p:blipFill>
        <p:spPr>
          <a:xfrm>
            <a:off x="838201" y="1638300"/>
            <a:ext cx="5181600" cy="2590800"/>
          </a:xfrm>
          <a:prstGeom prst="rect">
            <a:avLst/>
          </a:prstGeom>
          <a:noFill/>
        </p:spPr>
      </p:pic>
      <p:sp>
        <p:nvSpPr>
          <p:cNvPr id="3" name="Marcador de contenido 2">
            <a:extLst>
              <a:ext uri="{FF2B5EF4-FFF2-40B4-BE49-F238E27FC236}">
                <a16:creationId xmlns:a16="http://schemas.microsoft.com/office/drawing/2014/main" id="{8E5B4CCC-CFF4-B336-8282-33A19A00A756}"/>
              </a:ext>
            </a:extLst>
          </p:cNvPr>
          <p:cNvSpPr>
            <a:spLocks noGrp="1"/>
          </p:cNvSpPr>
          <p:nvPr>
            <p:ph sz="half" idx="2"/>
          </p:nvPr>
        </p:nvSpPr>
        <p:spPr>
          <a:xfrm>
            <a:off x="6172200" y="1825625"/>
            <a:ext cx="5181600" cy="4351338"/>
          </a:xfrm>
        </p:spPr>
        <p:txBody>
          <a:bodyPr>
            <a:normAutofit/>
          </a:bodyPr>
          <a:lstStyle/>
          <a:p>
            <a:r>
              <a:rPr lang="es-CL" b="1" noProof="0" dirty="0"/>
              <a:t>A mayor inflación mayor es la tasa de interés.</a:t>
            </a:r>
          </a:p>
          <a:p>
            <a:endParaRPr lang="es-CL" b="1" noProof="0" dirty="0"/>
          </a:p>
          <a:p>
            <a:r>
              <a:rPr lang="es-CL" b="1" noProof="0" dirty="0"/>
              <a:t>A menor inflación menor es la tasa de interés</a:t>
            </a:r>
          </a:p>
        </p:txBody>
      </p:sp>
      <p:pic>
        <p:nvPicPr>
          <p:cNvPr id="6" name="Imagen 5">
            <a:extLst>
              <a:ext uri="{FF2B5EF4-FFF2-40B4-BE49-F238E27FC236}">
                <a16:creationId xmlns:a16="http://schemas.microsoft.com/office/drawing/2014/main" id="{CE7768AD-D48C-52EF-3D59-B4194D432C77}"/>
              </a:ext>
            </a:extLst>
          </p:cNvPr>
          <p:cNvPicPr>
            <a:picLocks noChangeAspect="1"/>
          </p:cNvPicPr>
          <p:nvPr/>
        </p:nvPicPr>
        <p:blipFill>
          <a:blip r:embed="rId3"/>
          <a:stretch>
            <a:fillRect/>
          </a:stretch>
        </p:blipFill>
        <p:spPr>
          <a:xfrm>
            <a:off x="6626065" y="4229100"/>
            <a:ext cx="4273869" cy="2401371"/>
          </a:xfrm>
          <a:prstGeom prst="rect">
            <a:avLst/>
          </a:prstGeom>
        </p:spPr>
      </p:pic>
    </p:spTree>
    <p:extLst>
      <p:ext uri="{BB962C8B-B14F-4D97-AF65-F5344CB8AC3E}">
        <p14:creationId xmlns:p14="http://schemas.microsoft.com/office/powerpoint/2010/main" val="499837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CDB912-C227-2A59-C899-7663869FC7F4}"/>
              </a:ext>
            </a:extLst>
          </p:cNvPr>
          <p:cNvSpPr>
            <a:spLocks noGrp="1"/>
          </p:cNvSpPr>
          <p:nvPr>
            <p:ph type="title"/>
          </p:nvPr>
        </p:nvSpPr>
        <p:spPr>
          <a:xfrm>
            <a:off x="839788" y="457200"/>
            <a:ext cx="3932237" cy="1600200"/>
          </a:xfrm>
        </p:spPr>
        <p:txBody>
          <a:bodyPr vert="horz" lIns="91440" tIns="45720" rIns="91440" bIns="45720" rtlCol="0" anchor="b">
            <a:normAutofit/>
          </a:bodyPr>
          <a:lstStyle/>
          <a:p>
            <a:r>
              <a:rPr lang="es-CL" noProof="0" dirty="0"/>
              <a:t>¿Cómo saber si la tasa me conviene o no?</a:t>
            </a:r>
          </a:p>
        </p:txBody>
      </p:sp>
      <p:sp>
        <p:nvSpPr>
          <p:cNvPr id="4" name="Marcador de contenido 2">
            <a:extLst>
              <a:ext uri="{FF2B5EF4-FFF2-40B4-BE49-F238E27FC236}">
                <a16:creationId xmlns:a16="http://schemas.microsoft.com/office/drawing/2014/main" id="{3CA1E331-6961-A55B-2332-C1E342F0637D}"/>
              </a:ext>
            </a:extLst>
          </p:cNvPr>
          <p:cNvSpPr txBox="1">
            <a:spLocks/>
          </p:cNvSpPr>
          <p:nvPr/>
        </p:nvSpPr>
        <p:spPr>
          <a:xfrm>
            <a:off x="839788" y="2101850"/>
            <a:ext cx="3932237" cy="3759200"/>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pPr>
            <a:r>
              <a:rPr lang="es-ES" kern="1200" noProof="0" dirty="0">
                <a:solidFill>
                  <a:schemeClr val="tx1"/>
                </a:solidFill>
                <a:latin typeface="+mn-lt"/>
                <a:ea typeface="+mn-ea"/>
                <a:cs typeface="+mn-cs"/>
              </a:rPr>
              <a:t>A la tasa se le debe extraer la inflación.</a:t>
            </a:r>
          </a:p>
          <a:p>
            <a:pPr>
              <a:lnSpc>
                <a:spcPct val="90000"/>
              </a:lnSpc>
            </a:pPr>
            <a:r>
              <a:rPr lang="es-ES" kern="1200" noProof="0" dirty="0">
                <a:solidFill>
                  <a:schemeClr val="tx1"/>
                </a:solidFill>
                <a:latin typeface="+mn-lt"/>
                <a:ea typeface="+mn-ea"/>
                <a:cs typeface="+mn-cs"/>
              </a:rPr>
              <a:t>Si la tasa es del 10% y la inflación es del 8%. La tasa real es del 2%:</a:t>
            </a:r>
          </a:p>
          <a:p>
            <a:pPr>
              <a:lnSpc>
                <a:spcPct val="90000"/>
              </a:lnSpc>
            </a:pPr>
            <a:r>
              <a:rPr lang="es-ES" kern="1200" noProof="0" dirty="0">
                <a:solidFill>
                  <a:schemeClr val="tx1"/>
                </a:solidFill>
                <a:latin typeface="+mn-lt"/>
                <a:ea typeface="+mn-ea"/>
                <a:cs typeface="+mn-cs"/>
              </a:rPr>
              <a:t>10 - 8 = 2</a:t>
            </a:r>
          </a:p>
          <a:p>
            <a:pPr>
              <a:lnSpc>
                <a:spcPct val="90000"/>
              </a:lnSpc>
            </a:pPr>
            <a:r>
              <a:rPr lang="es-ES" kern="1200" noProof="0" dirty="0">
                <a:solidFill>
                  <a:schemeClr val="tx1"/>
                </a:solidFill>
                <a:latin typeface="+mn-lt"/>
                <a:ea typeface="+mn-ea"/>
                <a:cs typeface="+mn-cs"/>
              </a:rPr>
              <a:t>Ahora puede ser negativa. Por ejemplo, si la tasa es del 10% pero la inflación es del 15%. La tasa real sería de -5%</a:t>
            </a:r>
          </a:p>
          <a:p>
            <a:pPr>
              <a:lnSpc>
                <a:spcPct val="90000"/>
              </a:lnSpc>
            </a:pPr>
            <a:r>
              <a:rPr lang="es-ES" kern="1200" noProof="0" dirty="0">
                <a:solidFill>
                  <a:schemeClr val="tx1"/>
                </a:solidFill>
                <a:latin typeface="+mn-lt"/>
                <a:ea typeface="+mn-ea"/>
                <a:cs typeface="+mn-cs"/>
              </a:rPr>
              <a:t>10 - 15 = -5</a:t>
            </a:r>
          </a:p>
        </p:txBody>
      </p:sp>
      <p:graphicFrame>
        <p:nvGraphicFramePr>
          <p:cNvPr id="6" name="Marcador de contenido 2">
            <a:extLst>
              <a:ext uri="{FF2B5EF4-FFF2-40B4-BE49-F238E27FC236}">
                <a16:creationId xmlns:a16="http://schemas.microsoft.com/office/drawing/2014/main" id="{E7BDF9B2-94F3-A4DF-1C3B-AB21A10A74B1}"/>
              </a:ext>
            </a:extLst>
          </p:cNvPr>
          <p:cNvGraphicFramePr>
            <a:graphicFrameLocks noGrp="1"/>
          </p:cNvGraphicFramePr>
          <p:nvPr>
            <p:ph idx="1"/>
            <p:extLst>
              <p:ext uri="{D42A27DB-BD31-4B8C-83A1-F6EECF244321}">
                <p14:modId xmlns:p14="http://schemas.microsoft.com/office/powerpoint/2010/main" val="3455637895"/>
              </p:ext>
            </p:extLst>
          </p:nvPr>
        </p:nvGraphicFramePr>
        <p:xfrm>
          <a:off x="5183188" y="987427"/>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8299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784655-14DF-B5C3-CAE1-552B6752BFE9}"/>
              </a:ext>
            </a:extLst>
          </p:cNvPr>
          <p:cNvSpPr>
            <a:spLocks noGrp="1"/>
          </p:cNvSpPr>
          <p:nvPr>
            <p:ph type="title"/>
          </p:nvPr>
        </p:nvSpPr>
        <p:spPr/>
        <p:txBody>
          <a:bodyPr/>
          <a:lstStyle/>
          <a:p>
            <a:r>
              <a:rPr lang="es-CL" dirty="0"/>
              <a:t>El ahorro marca una gran diferencia en el tiempo.</a:t>
            </a:r>
          </a:p>
        </p:txBody>
      </p:sp>
      <p:sp>
        <p:nvSpPr>
          <p:cNvPr id="4" name="CuadroTexto 3">
            <a:extLst>
              <a:ext uri="{FF2B5EF4-FFF2-40B4-BE49-F238E27FC236}">
                <a16:creationId xmlns:a16="http://schemas.microsoft.com/office/drawing/2014/main" id="{6C419F68-ACC7-F925-7182-D75D078AFFF8}"/>
              </a:ext>
            </a:extLst>
          </p:cNvPr>
          <p:cNvSpPr txBox="1"/>
          <p:nvPr/>
        </p:nvSpPr>
        <p:spPr>
          <a:xfrm>
            <a:off x="994652" y="2036120"/>
            <a:ext cx="6369185" cy="2336024"/>
          </a:xfrm>
          <a:prstGeom prst="rect">
            <a:avLst/>
          </a:prstGeom>
          <a:noFill/>
        </p:spPr>
        <p:txBody>
          <a:bodyPr wrap="square">
            <a:spAutoFit/>
          </a:bodyPr>
          <a:lstStyle/>
          <a:p>
            <a:pPr>
              <a:lnSpc>
                <a:spcPct val="90000"/>
              </a:lnSpc>
            </a:pPr>
            <a:r>
              <a:rPr lang="es-ES" sz="1800" kern="1200" noProof="0" dirty="0">
                <a:solidFill>
                  <a:schemeClr val="tx1"/>
                </a:solidFill>
                <a:latin typeface="+mn-lt"/>
                <a:ea typeface="+mn-ea"/>
                <a:cs typeface="+mn-cs"/>
              </a:rPr>
              <a:t>Si ahorro $100.000 mensuales, ¿Cuánto tendré en 20 años?</a:t>
            </a:r>
          </a:p>
          <a:p>
            <a:pPr>
              <a:lnSpc>
                <a:spcPct val="90000"/>
              </a:lnSpc>
            </a:pPr>
            <a:endParaRPr lang="es-ES" dirty="0"/>
          </a:p>
          <a:p>
            <a:pPr>
              <a:lnSpc>
                <a:spcPct val="90000"/>
              </a:lnSpc>
            </a:pPr>
            <a:r>
              <a:rPr lang="es-ES" sz="1800" kern="1200" noProof="0" dirty="0">
                <a:solidFill>
                  <a:schemeClr val="tx1"/>
                </a:solidFill>
                <a:latin typeface="+mn-lt"/>
                <a:ea typeface="+mn-ea"/>
                <a:cs typeface="+mn-cs"/>
              </a:rPr>
              <a:t>Vamos a suponer una tasa mensual de 0,4%.</a:t>
            </a:r>
          </a:p>
          <a:p>
            <a:pPr>
              <a:lnSpc>
                <a:spcPct val="90000"/>
              </a:lnSpc>
            </a:pPr>
            <a:endParaRPr lang="es-ES" dirty="0"/>
          </a:p>
          <a:p>
            <a:pPr>
              <a:lnSpc>
                <a:spcPct val="90000"/>
              </a:lnSpc>
            </a:pPr>
            <a:r>
              <a:rPr lang="es-ES" dirty="0"/>
              <a:t>Lo que alcanzamos en 20 años es = $40.167.503</a:t>
            </a:r>
          </a:p>
          <a:p>
            <a:pPr>
              <a:lnSpc>
                <a:spcPct val="90000"/>
              </a:lnSpc>
            </a:pPr>
            <a:endParaRPr lang="es-ES" dirty="0"/>
          </a:p>
          <a:p>
            <a:pPr>
              <a:lnSpc>
                <a:spcPct val="90000"/>
              </a:lnSpc>
            </a:pPr>
            <a:r>
              <a:rPr lang="es-ES" dirty="0"/>
              <a:t>Lo que alcanzamos en 30 años es = $80.214.748</a:t>
            </a:r>
          </a:p>
          <a:p>
            <a:pPr>
              <a:lnSpc>
                <a:spcPct val="90000"/>
              </a:lnSpc>
            </a:pPr>
            <a:endParaRPr lang="es-ES" sz="1800" kern="1200" noProof="0" dirty="0">
              <a:solidFill>
                <a:schemeClr val="tx1"/>
              </a:solidFill>
              <a:latin typeface="+mn-lt"/>
              <a:ea typeface="+mn-ea"/>
              <a:cs typeface="+mn-cs"/>
            </a:endParaRPr>
          </a:p>
          <a:p>
            <a:pPr>
              <a:lnSpc>
                <a:spcPct val="90000"/>
              </a:lnSpc>
            </a:pPr>
            <a:endParaRPr lang="es-ES" sz="1800" kern="1200" noProof="0" dirty="0">
              <a:solidFill>
                <a:schemeClr val="tx1"/>
              </a:solidFill>
              <a:latin typeface="+mn-lt"/>
              <a:ea typeface="+mn-ea"/>
              <a:cs typeface="+mn-cs"/>
            </a:endParaRPr>
          </a:p>
        </p:txBody>
      </p:sp>
    </p:spTree>
    <p:extLst>
      <p:ext uri="{BB962C8B-B14F-4D97-AF65-F5344CB8AC3E}">
        <p14:creationId xmlns:p14="http://schemas.microsoft.com/office/powerpoint/2010/main" val="2199863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37D1FD-D889-B571-45D8-4980F1DBA16B}"/>
              </a:ext>
            </a:extLst>
          </p:cNvPr>
          <p:cNvSpPr>
            <a:spLocks noGrp="1"/>
          </p:cNvSpPr>
          <p:nvPr>
            <p:ph type="title"/>
          </p:nvPr>
        </p:nvSpPr>
        <p:spPr>
          <a:xfrm>
            <a:off x="538480" y="0"/>
            <a:ext cx="5394960" cy="1624520"/>
          </a:xfrm>
        </p:spPr>
        <p:txBody>
          <a:bodyPr vert="horz" lIns="91440" tIns="45720" rIns="91440" bIns="45720" rtlCol="0" anchor="ctr">
            <a:normAutofit/>
          </a:bodyPr>
          <a:lstStyle/>
          <a:p>
            <a:pPr>
              <a:lnSpc>
                <a:spcPct val="90000"/>
              </a:lnSpc>
            </a:pPr>
            <a:r>
              <a:rPr lang="es-CL" sz="3500" dirty="0"/>
              <a:t>Y si creamos una empresa nos debemos preguntar</a:t>
            </a:r>
          </a:p>
        </p:txBody>
      </p:sp>
      <p:sp>
        <p:nvSpPr>
          <p:cNvPr id="4" name="CuadroTexto 3">
            <a:extLst>
              <a:ext uri="{FF2B5EF4-FFF2-40B4-BE49-F238E27FC236}">
                <a16:creationId xmlns:a16="http://schemas.microsoft.com/office/drawing/2014/main" id="{0CD3C7E4-49B9-4932-4363-5240F4DB56E5}"/>
              </a:ext>
            </a:extLst>
          </p:cNvPr>
          <p:cNvSpPr txBox="1"/>
          <p:nvPr/>
        </p:nvSpPr>
        <p:spPr>
          <a:xfrm>
            <a:off x="1160632" y="1737361"/>
            <a:ext cx="3485179" cy="361314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s-CL" sz="1700" dirty="0"/>
              <a:t>¿Qué diferencia a una empresa que logra perdurar décadas en el mercado de otras empresas  que desaparecen ¿Fue falta de dinero, falta de visión, o un fallo en la toma de decisiones financieras?</a:t>
            </a:r>
          </a:p>
        </p:txBody>
      </p:sp>
      <p:pic>
        <p:nvPicPr>
          <p:cNvPr id="6" name="Picture 5" descr="Interior de un almacén abandonado">
            <a:extLst>
              <a:ext uri="{FF2B5EF4-FFF2-40B4-BE49-F238E27FC236}">
                <a16:creationId xmlns:a16="http://schemas.microsoft.com/office/drawing/2014/main" id="{ADA47A3B-0DF6-B155-12B8-B65500A6FC5D}"/>
              </a:ext>
            </a:extLst>
          </p:cNvPr>
          <p:cNvPicPr>
            <a:picLocks noChangeAspect="1"/>
          </p:cNvPicPr>
          <p:nvPr/>
        </p:nvPicPr>
        <p:blipFill>
          <a:blip r:embed="rId2"/>
          <a:srcRect l="32358" r="23425" b="-1"/>
          <a:stretch>
            <a:fillRect/>
          </a:stretch>
        </p:blipFill>
        <p:spPr>
          <a:xfrm>
            <a:off x="6096000" y="1"/>
            <a:ext cx="4577118" cy="6858000"/>
          </a:xfrm>
          <a:prstGeom prst="rect">
            <a:avLst/>
          </a:prstGeom>
        </p:spPr>
      </p:pic>
    </p:spTree>
    <p:extLst>
      <p:ext uri="{BB962C8B-B14F-4D97-AF65-F5344CB8AC3E}">
        <p14:creationId xmlns:p14="http://schemas.microsoft.com/office/powerpoint/2010/main" val="210558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C8EFA6-C92C-13B6-DC9F-D41EE4EF7BA7}"/>
              </a:ext>
            </a:extLst>
          </p:cNvPr>
          <p:cNvSpPr>
            <a:spLocks noGrp="1"/>
          </p:cNvSpPr>
          <p:nvPr>
            <p:ph type="title"/>
          </p:nvPr>
        </p:nvSpPr>
        <p:spPr>
          <a:xfrm>
            <a:off x="710284" y="-204281"/>
            <a:ext cx="4719672" cy="1517515"/>
          </a:xfrm>
        </p:spPr>
        <p:txBody>
          <a:bodyPr vert="horz" lIns="91440" tIns="45720" rIns="91440" bIns="45720" rtlCol="0" anchor="b">
            <a:normAutofit/>
          </a:bodyPr>
          <a:lstStyle/>
          <a:p>
            <a:pPr>
              <a:lnSpc>
                <a:spcPct val="90000"/>
              </a:lnSpc>
            </a:pPr>
            <a:r>
              <a:rPr lang="es-CL" sz="4000" dirty="0"/>
              <a:t>¿Qué aprenderemos en este curso?</a:t>
            </a:r>
          </a:p>
        </p:txBody>
      </p:sp>
      <p:sp>
        <p:nvSpPr>
          <p:cNvPr id="4" name="CuadroTexto 3">
            <a:extLst>
              <a:ext uri="{FF2B5EF4-FFF2-40B4-BE49-F238E27FC236}">
                <a16:creationId xmlns:a16="http://schemas.microsoft.com/office/drawing/2014/main" id="{666EB457-FF2A-A743-3898-F3EF92DC602A}"/>
              </a:ext>
            </a:extLst>
          </p:cNvPr>
          <p:cNvSpPr txBox="1"/>
          <p:nvPr/>
        </p:nvSpPr>
        <p:spPr>
          <a:xfrm>
            <a:off x="1303021" y="2019459"/>
            <a:ext cx="3182691" cy="3320668"/>
          </a:xfrm>
          <a:prstGeom prst="rect">
            <a:avLst/>
          </a:prstGeom>
        </p:spPr>
        <p:txBody>
          <a:bodyPr vert="horz" lIns="91440" tIns="45720" rIns="91440" bIns="45720" rtlCol="0">
            <a:normAutofit fontScale="92500"/>
          </a:bodyPr>
          <a:lstStyle/>
          <a:p>
            <a:pPr indent="-228600">
              <a:lnSpc>
                <a:spcPct val="90000"/>
              </a:lnSpc>
              <a:spcAft>
                <a:spcPts val="600"/>
              </a:spcAft>
              <a:buFont typeface="Arial" panose="020B0604020202020204" pitchFamily="34" charset="0"/>
              <a:buChar char="•"/>
            </a:pPr>
            <a:r>
              <a:rPr lang="es-CL" sz="1900" dirty="0"/>
              <a:t>Durante este curso, vamos a aprender a conocer los estados financieros, cuales son los tipos de empresas, a interpretar un estado de resultado, hacer presupuesto a evaluar financieramente un negocio, entre otras cosas. Porque en este mundo, quien toma la decisión correcta hoy, es quien sobrevive y crece mañana.</a:t>
            </a:r>
          </a:p>
        </p:txBody>
      </p:sp>
      <p:pic>
        <p:nvPicPr>
          <p:cNvPr id="6" name="Picture 5" descr="Monitores de ordenador antiguos">
            <a:extLst>
              <a:ext uri="{FF2B5EF4-FFF2-40B4-BE49-F238E27FC236}">
                <a16:creationId xmlns:a16="http://schemas.microsoft.com/office/drawing/2014/main" id="{E02D46DD-203A-0C11-857F-6199CC87FDF9}"/>
              </a:ext>
            </a:extLst>
          </p:cNvPr>
          <p:cNvPicPr>
            <a:picLocks noChangeAspect="1"/>
          </p:cNvPicPr>
          <p:nvPr/>
        </p:nvPicPr>
        <p:blipFill>
          <a:blip r:embed="rId2"/>
          <a:srcRect l="21823" r="28526" b="-1"/>
          <a:stretch>
            <a:fillRect/>
          </a:stretch>
        </p:blipFill>
        <p:spPr>
          <a:xfrm>
            <a:off x="5507777"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70202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99340" y="274937"/>
            <a:ext cx="4481664" cy="2027227"/>
          </a:xfrm>
        </p:spPr>
        <p:txBody>
          <a:bodyPr anchor="t">
            <a:normAutofit/>
          </a:bodyPr>
          <a:lstStyle/>
          <a:p>
            <a:pPr>
              <a:lnSpc>
                <a:spcPct val="90000"/>
              </a:lnSpc>
            </a:pPr>
            <a:r>
              <a:rPr lang="es-CL" sz="2900" b="1" dirty="0">
                <a:solidFill>
                  <a:srgbClr val="FFFFFF"/>
                </a:solidFill>
              </a:rPr>
              <a:t>¿ Qué es una empresa o sociedad o corporación?</a:t>
            </a:r>
          </a:p>
        </p:txBody>
      </p:sp>
      <p:pic>
        <p:nvPicPr>
          <p:cNvPr id="4" name="Imagen 3"/>
          <p:cNvPicPr>
            <a:picLocks noChangeAspect="1"/>
          </p:cNvPicPr>
          <p:nvPr/>
        </p:nvPicPr>
        <p:blipFill>
          <a:blip r:embed="rId2"/>
          <a:stretch>
            <a:fillRect/>
          </a:stretch>
        </p:blipFill>
        <p:spPr>
          <a:xfrm>
            <a:off x="9284128" y="6058767"/>
            <a:ext cx="926672" cy="249958"/>
          </a:xfrm>
          <a:prstGeom prst="rect">
            <a:avLst/>
          </a:prstGeom>
        </p:spPr>
      </p:pic>
      <p:graphicFrame>
        <p:nvGraphicFramePr>
          <p:cNvPr id="39" name="Marcador de contenido 2">
            <a:extLst>
              <a:ext uri="{FF2B5EF4-FFF2-40B4-BE49-F238E27FC236}">
                <a16:creationId xmlns:a16="http://schemas.microsoft.com/office/drawing/2014/main" id="{3AF85645-41FF-D55B-A320-12F57C717502}"/>
              </a:ext>
            </a:extLst>
          </p:cNvPr>
          <p:cNvGraphicFramePr>
            <a:graphicFrameLocks noGrp="1"/>
          </p:cNvGraphicFramePr>
          <p:nvPr>
            <p:ph idx="1"/>
            <p:extLst>
              <p:ext uri="{D42A27DB-BD31-4B8C-83A1-F6EECF244321}">
                <p14:modId xmlns:p14="http://schemas.microsoft.com/office/powerpoint/2010/main" val="3686014661"/>
              </p:ext>
            </p:extLst>
          </p:nvPr>
        </p:nvGraphicFramePr>
        <p:xfrm>
          <a:off x="3344204" y="1288550"/>
          <a:ext cx="4358346"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5322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12439" y="2704289"/>
            <a:ext cx="2213403" cy="1204788"/>
          </a:xfrm>
        </p:spPr>
        <p:txBody>
          <a:bodyPr>
            <a:normAutofit/>
          </a:bodyPr>
          <a:lstStyle/>
          <a:p>
            <a:r>
              <a:rPr lang="es-CL" sz="2400" b="1" dirty="0">
                <a:solidFill>
                  <a:schemeClr val="tx1"/>
                </a:solidFill>
              </a:rPr>
              <a:t>Características de una empresa.</a:t>
            </a:r>
          </a:p>
        </p:txBody>
      </p:sp>
      <p:pic>
        <p:nvPicPr>
          <p:cNvPr id="4" name="Imagen 3"/>
          <p:cNvPicPr>
            <a:picLocks noChangeAspect="1"/>
          </p:cNvPicPr>
          <p:nvPr/>
        </p:nvPicPr>
        <p:blipFill>
          <a:blip r:embed="rId2"/>
          <a:stretch>
            <a:fillRect/>
          </a:stretch>
        </p:blipFill>
        <p:spPr>
          <a:xfrm>
            <a:off x="9039892" y="6183746"/>
            <a:ext cx="926672" cy="249958"/>
          </a:xfrm>
          <a:prstGeom prst="rect">
            <a:avLst/>
          </a:prstGeom>
        </p:spPr>
      </p:pic>
      <p:graphicFrame>
        <p:nvGraphicFramePr>
          <p:cNvPr id="23" name="Marcador de contenido 2">
            <a:extLst>
              <a:ext uri="{FF2B5EF4-FFF2-40B4-BE49-F238E27FC236}">
                <a16:creationId xmlns:a16="http://schemas.microsoft.com/office/drawing/2014/main" id="{A3FBA8D4-16A4-4E02-6E1F-87FCEAD1B0EC}"/>
              </a:ext>
            </a:extLst>
          </p:cNvPr>
          <p:cNvGraphicFramePr>
            <a:graphicFrameLocks noGrp="1"/>
          </p:cNvGraphicFramePr>
          <p:nvPr>
            <p:ph idx="1"/>
            <p:extLst>
              <p:ext uri="{D42A27DB-BD31-4B8C-83A1-F6EECF244321}">
                <p14:modId xmlns:p14="http://schemas.microsoft.com/office/powerpoint/2010/main" val="653595071"/>
              </p:ext>
            </p:extLst>
          </p:nvPr>
        </p:nvGraphicFramePr>
        <p:xfrm>
          <a:off x="5451764" y="653694"/>
          <a:ext cx="4727797" cy="55608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320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62F17CD0-F776-7F9B-F242-376551A2C0A2}"/>
              </a:ext>
            </a:extLst>
          </p:cNvPr>
          <p:cNvPicPr>
            <a:picLocks noChangeAspect="1"/>
          </p:cNvPicPr>
          <p:nvPr/>
        </p:nvPicPr>
        <p:blipFill rotWithShape="1">
          <a:blip r:embed="rId2"/>
          <a:srcRect l="40853" r="10120" b="-1"/>
          <a:stretch/>
        </p:blipFill>
        <p:spPr>
          <a:xfrm>
            <a:off x="2167713" y="1165109"/>
            <a:ext cx="3196002" cy="435133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 name="Título 1"/>
          <p:cNvSpPr>
            <a:spLocks noGrp="1"/>
          </p:cNvSpPr>
          <p:nvPr>
            <p:ph type="title"/>
          </p:nvPr>
        </p:nvSpPr>
        <p:spPr>
          <a:xfrm>
            <a:off x="4550876" y="276867"/>
            <a:ext cx="4291113" cy="716867"/>
          </a:xfrm>
        </p:spPr>
        <p:txBody>
          <a:bodyPr>
            <a:normAutofit fontScale="90000"/>
          </a:bodyPr>
          <a:lstStyle/>
          <a:p>
            <a:pPr>
              <a:lnSpc>
                <a:spcPct val="90000"/>
              </a:lnSpc>
            </a:pPr>
            <a:r>
              <a:rPr lang="es-CL" sz="3200" b="1" dirty="0"/>
              <a:t>Las corporaciones tienen objetivos</a:t>
            </a:r>
          </a:p>
        </p:txBody>
      </p:sp>
      <p:pic>
        <p:nvPicPr>
          <p:cNvPr id="4" name="Imagen 3"/>
          <p:cNvPicPr>
            <a:picLocks noChangeAspect="1"/>
          </p:cNvPicPr>
          <p:nvPr/>
        </p:nvPicPr>
        <p:blipFill>
          <a:blip r:embed="rId3"/>
          <a:stretch>
            <a:fillRect/>
          </a:stretch>
        </p:blipFill>
        <p:spPr>
          <a:xfrm>
            <a:off x="8985464" y="6090764"/>
            <a:ext cx="926672" cy="249958"/>
          </a:xfrm>
          <a:prstGeom prst="rect">
            <a:avLst/>
          </a:prstGeom>
        </p:spPr>
      </p:pic>
      <p:graphicFrame>
        <p:nvGraphicFramePr>
          <p:cNvPr id="23" name="Marcador de contenido 2">
            <a:extLst>
              <a:ext uri="{FF2B5EF4-FFF2-40B4-BE49-F238E27FC236}">
                <a16:creationId xmlns:a16="http://schemas.microsoft.com/office/drawing/2014/main" id="{AF6ECBFF-3D2A-8D1F-1F1A-EE889EC1620F}"/>
              </a:ext>
            </a:extLst>
          </p:cNvPr>
          <p:cNvGraphicFramePr>
            <a:graphicFrameLocks noGrp="1"/>
          </p:cNvGraphicFramePr>
          <p:nvPr>
            <p:ph idx="1"/>
          </p:nvPr>
        </p:nvGraphicFramePr>
        <p:xfrm>
          <a:off x="5485664" y="1253173"/>
          <a:ext cx="4291113" cy="50701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07162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B1C1F3-5E3A-211F-3B02-5689F4CE4E15}"/>
              </a:ext>
            </a:extLst>
          </p:cNvPr>
          <p:cNvSpPr>
            <a:spLocks noGrp="1"/>
          </p:cNvSpPr>
          <p:nvPr>
            <p:ph type="title"/>
          </p:nvPr>
        </p:nvSpPr>
        <p:spPr>
          <a:xfrm>
            <a:off x="838201" y="2402238"/>
            <a:ext cx="4508715" cy="2187227"/>
          </a:xfrm>
        </p:spPr>
        <p:txBody>
          <a:bodyPr vert="horz" lIns="91440" tIns="45720" rIns="91440" bIns="45720" rtlCol="0" anchor="ctr">
            <a:normAutofit/>
          </a:bodyPr>
          <a:lstStyle/>
          <a:p>
            <a:pPr>
              <a:lnSpc>
                <a:spcPct val="90000"/>
              </a:lnSpc>
            </a:pPr>
            <a:r>
              <a:rPr lang="es-CL"/>
              <a:t>¿Qué tipo de empresa podemos ser?</a:t>
            </a:r>
          </a:p>
        </p:txBody>
      </p:sp>
      <p:sp>
        <p:nvSpPr>
          <p:cNvPr id="4" name="CuadroTexto 3">
            <a:extLst>
              <a:ext uri="{FF2B5EF4-FFF2-40B4-BE49-F238E27FC236}">
                <a16:creationId xmlns:a16="http://schemas.microsoft.com/office/drawing/2014/main" id="{E12CC39D-A686-9F7C-B8B7-6B1B2F76BC5E}"/>
              </a:ext>
            </a:extLst>
          </p:cNvPr>
          <p:cNvSpPr txBox="1"/>
          <p:nvPr/>
        </p:nvSpPr>
        <p:spPr>
          <a:xfrm>
            <a:off x="6096000" y="2071990"/>
            <a:ext cx="5496732" cy="3008009"/>
          </a:xfrm>
          <a:prstGeom prst="rect">
            <a:avLst/>
          </a:prstGeom>
        </p:spPr>
        <p:txBody>
          <a:bodyPr vert="horz" lIns="91440" tIns="45720" rIns="91440" bIns="45720" rtlCol="0" anchor="ctr">
            <a:normAutofit/>
          </a:bodyPr>
          <a:lstStyle/>
          <a:p>
            <a:pPr>
              <a:lnSpc>
                <a:spcPct val="140000"/>
              </a:lnSpc>
              <a:spcBef>
                <a:spcPct val="30000"/>
              </a:spcBef>
              <a:spcAft>
                <a:spcPts val="600"/>
              </a:spcAft>
            </a:pPr>
            <a:r>
              <a:rPr lang="es-ES" sz="1600" b="1" kern="1200" dirty="0">
                <a:solidFill>
                  <a:schemeClr val="bg1"/>
                </a:solidFill>
                <a:latin typeface="+mj-lt"/>
                <a:ea typeface="+mn-ea"/>
                <a:cs typeface="+mn-cs"/>
              </a:rPr>
              <a:t>Imaginen que tienen la mejor idea de negocio del año. </a:t>
            </a:r>
          </a:p>
          <a:p>
            <a:pPr>
              <a:lnSpc>
                <a:spcPct val="140000"/>
              </a:lnSpc>
              <a:spcBef>
                <a:spcPct val="30000"/>
              </a:spcBef>
              <a:spcAft>
                <a:spcPts val="600"/>
              </a:spcAft>
            </a:pPr>
            <a:r>
              <a:rPr lang="es-ES" sz="1600" b="1" kern="1200" dirty="0">
                <a:solidFill>
                  <a:schemeClr val="bg1"/>
                </a:solidFill>
                <a:latin typeface="+mj-lt"/>
                <a:ea typeface="+mn-ea"/>
                <a:cs typeface="+mn-cs"/>
              </a:rPr>
              <a:t>Pero ¿saben que si eligen mal la estructura legal de su empresa —ya sea por desconocimiento o por ahorro mal entendido— pueden terminar perdiendo el control de su propia idea o asumiendo riesgos patrimoniales innecesarios? </a:t>
            </a:r>
          </a:p>
          <a:p>
            <a:pPr>
              <a:lnSpc>
                <a:spcPct val="140000"/>
              </a:lnSpc>
              <a:spcBef>
                <a:spcPct val="30000"/>
              </a:spcBef>
              <a:spcAft>
                <a:spcPts val="600"/>
              </a:spcAft>
            </a:pPr>
            <a:r>
              <a:rPr lang="es-ES" sz="1600" b="1" kern="1200" dirty="0">
                <a:solidFill>
                  <a:schemeClr val="bg1"/>
                </a:solidFill>
                <a:latin typeface="+mj-lt"/>
                <a:ea typeface="+mn-ea"/>
                <a:cs typeface="+mn-cs"/>
              </a:rPr>
              <a:t>¿Cómo decidimos el 'traje a la medida' legal y financiero para una empresa?</a:t>
            </a:r>
          </a:p>
        </p:txBody>
      </p:sp>
    </p:spTree>
    <p:extLst>
      <p:ext uri="{BB962C8B-B14F-4D97-AF65-F5344CB8AC3E}">
        <p14:creationId xmlns:p14="http://schemas.microsoft.com/office/powerpoint/2010/main" val="2155376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09900" y="1063228"/>
            <a:ext cx="6172200" cy="36755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s-CL" sz="2100" dirty="0"/>
              <a:t>Cuadro Comparativo de Empresas</a:t>
            </a:r>
          </a:p>
        </p:txBody>
      </p:sp>
      <p:graphicFrame>
        <p:nvGraphicFramePr>
          <p:cNvPr id="4" name="3 Marcador de contenido"/>
          <p:cNvGraphicFramePr>
            <a:graphicFrameLocks noGrp="1"/>
          </p:cNvGraphicFramePr>
          <p:nvPr>
            <p:ph idx="1"/>
          </p:nvPr>
        </p:nvGraphicFramePr>
        <p:xfrm>
          <a:off x="1977981" y="1538288"/>
          <a:ext cx="8007440" cy="4148541"/>
        </p:xfrm>
        <a:graphic>
          <a:graphicData uri="http://schemas.openxmlformats.org/drawingml/2006/table">
            <a:tbl>
              <a:tblPr firstRow="1" bandRow="1">
                <a:tableStyleId>{5C22544A-7EE6-4342-B048-85BDC9FD1C3A}</a:tableStyleId>
              </a:tblPr>
              <a:tblGrid>
                <a:gridCol w="2001860">
                  <a:extLst>
                    <a:ext uri="{9D8B030D-6E8A-4147-A177-3AD203B41FA5}">
                      <a16:colId xmlns:a16="http://schemas.microsoft.com/office/drawing/2014/main" val="20000"/>
                    </a:ext>
                  </a:extLst>
                </a:gridCol>
                <a:gridCol w="2001860">
                  <a:extLst>
                    <a:ext uri="{9D8B030D-6E8A-4147-A177-3AD203B41FA5}">
                      <a16:colId xmlns:a16="http://schemas.microsoft.com/office/drawing/2014/main" val="20001"/>
                    </a:ext>
                  </a:extLst>
                </a:gridCol>
                <a:gridCol w="2001860">
                  <a:extLst>
                    <a:ext uri="{9D8B030D-6E8A-4147-A177-3AD203B41FA5}">
                      <a16:colId xmlns:a16="http://schemas.microsoft.com/office/drawing/2014/main" val="20002"/>
                    </a:ext>
                  </a:extLst>
                </a:gridCol>
                <a:gridCol w="2001860">
                  <a:extLst>
                    <a:ext uri="{9D8B030D-6E8A-4147-A177-3AD203B41FA5}">
                      <a16:colId xmlns:a16="http://schemas.microsoft.com/office/drawing/2014/main" val="20003"/>
                    </a:ext>
                  </a:extLst>
                </a:gridCol>
              </a:tblGrid>
              <a:tr h="311248">
                <a:tc>
                  <a:txBody>
                    <a:bodyPr/>
                    <a:lstStyle/>
                    <a:p>
                      <a:r>
                        <a:rPr lang="es-CL" sz="1400" noProof="0" dirty="0"/>
                        <a:t>E.I.R.L.</a:t>
                      </a:r>
                    </a:p>
                  </a:txBody>
                  <a:tcPr marL="68580" marR="68580" marT="34290" marB="34290"/>
                </a:tc>
                <a:tc>
                  <a:txBody>
                    <a:bodyPr/>
                    <a:lstStyle/>
                    <a:p>
                      <a:r>
                        <a:rPr lang="es-CL" sz="1400" noProof="0" dirty="0"/>
                        <a:t>S.R.L.</a:t>
                      </a:r>
                    </a:p>
                  </a:txBody>
                  <a:tcPr marL="68580" marR="68580" marT="34290" marB="34290"/>
                </a:tc>
                <a:tc>
                  <a:txBody>
                    <a:bodyPr/>
                    <a:lstStyle/>
                    <a:p>
                      <a:r>
                        <a:rPr lang="es-CL" sz="1400" noProof="0" dirty="0"/>
                        <a:t>S.A.</a:t>
                      </a:r>
                    </a:p>
                  </a:txBody>
                  <a:tcPr marL="68580" marR="68580" marT="34290" marB="34290"/>
                </a:tc>
                <a:tc>
                  <a:txBody>
                    <a:bodyPr/>
                    <a:lstStyle/>
                    <a:p>
                      <a:r>
                        <a:rPr lang="es-CL" sz="1400" noProof="0" dirty="0"/>
                        <a:t>S.P.A.</a:t>
                      </a:r>
                    </a:p>
                  </a:txBody>
                  <a:tcPr marL="68580" marR="68580" marT="34290" marB="34290"/>
                </a:tc>
                <a:extLst>
                  <a:ext uri="{0D108BD9-81ED-4DB2-BD59-A6C34878D82A}">
                    <a16:rowId xmlns:a16="http://schemas.microsoft.com/office/drawing/2014/main" val="10000"/>
                  </a:ext>
                </a:extLst>
              </a:tr>
              <a:tr h="1074442">
                <a:tc>
                  <a:txBody>
                    <a:bodyPr/>
                    <a:lstStyle/>
                    <a:p>
                      <a:pPr algn="just" fontAlgn="base"/>
                      <a:r>
                        <a:rPr lang="es-CL" sz="800" b="1" i="0" kern="1200" noProof="0" dirty="0">
                          <a:solidFill>
                            <a:schemeClr val="dk1"/>
                          </a:solidFill>
                          <a:effectLst/>
                          <a:latin typeface="+mn-lt"/>
                          <a:ea typeface="+mn-ea"/>
                          <a:cs typeface="+mn-cs"/>
                        </a:rPr>
                        <a:t>Es Preferida por </a:t>
                      </a:r>
                      <a:r>
                        <a:rPr lang="es-CL" sz="800" b="0" i="0" kern="1200" noProof="0" dirty="0">
                          <a:solidFill>
                            <a:schemeClr val="dk1"/>
                          </a:solidFill>
                          <a:effectLst/>
                          <a:latin typeface="+mn-lt"/>
                          <a:ea typeface="+mn-ea"/>
                          <a:cs typeface="+mn-cs"/>
                        </a:rPr>
                        <a:t>Empresario que busca iniciar un negocio sin socios, tomando todas las decisiones. Usual </a:t>
                      </a:r>
                      <a:r>
                        <a:rPr lang="es-CL" sz="800" b="0" i="0" kern="1200" noProof="0" dirty="0" err="1">
                          <a:solidFill>
                            <a:schemeClr val="dk1"/>
                          </a:solidFill>
                          <a:effectLst/>
                          <a:latin typeface="+mn-lt"/>
                          <a:ea typeface="+mn-ea"/>
                          <a:cs typeface="+mn-cs"/>
                        </a:rPr>
                        <a:t>PYMEs</a:t>
                      </a:r>
                      <a:r>
                        <a:rPr lang="es-CL" sz="800" b="0" i="0" kern="1200" noProof="0" dirty="0">
                          <a:solidFill>
                            <a:schemeClr val="dk1"/>
                          </a:solidFill>
                          <a:effectLst/>
                          <a:latin typeface="+mn-lt"/>
                          <a:ea typeface="+mn-ea"/>
                          <a:cs typeface="+mn-cs"/>
                        </a:rPr>
                        <a:t> y </a:t>
                      </a:r>
                      <a:r>
                        <a:rPr lang="es-CL" sz="800" b="0" i="0" kern="1200" noProof="0" dirty="0" err="1">
                          <a:solidFill>
                            <a:schemeClr val="dk1"/>
                          </a:solidFill>
                          <a:effectLst/>
                          <a:latin typeface="+mn-lt"/>
                          <a:ea typeface="+mn-ea"/>
                          <a:cs typeface="+mn-cs"/>
                        </a:rPr>
                        <a:t>MicroPYMES</a:t>
                      </a:r>
                      <a:r>
                        <a:rPr lang="es-CL" sz="800" b="0" i="0" kern="1200" noProof="0" dirty="0">
                          <a:solidFill>
                            <a:schemeClr val="dk1"/>
                          </a:solidFill>
                          <a:effectLst/>
                          <a:latin typeface="+mn-lt"/>
                          <a:ea typeface="+mn-ea"/>
                          <a:cs typeface="+mn-cs"/>
                        </a:rPr>
                        <a:t>. Máximo (1) empresario persona natural. No mas socios</a:t>
                      </a:r>
                    </a:p>
                    <a:p>
                      <a:pPr algn="just"/>
                      <a:endParaRPr lang="es-CL" sz="14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Es Preferida por </a:t>
                      </a:r>
                      <a:r>
                        <a:rPr lang="es-CL" sz="800" b="0" i="0" kern="1200" noProof="0" dirty="0">
                          <a:solidFill>
                            <a:schemeClr val="dk1"/>
                          </a:solidFill>
                          <a:effectLst/>
                          <a:latin typeface="+mn-lt"/>
                          <a:ea typeface="+mn-ea"/>
                          <a:cs typeface="+mn-cs"/>
                        </a:rPr>
                        <a:t>Socios con relación de confianza que buscan pocas formalidades y gestión simplificada. Usual empresas familiares, profesionales y servicios</a:t>
                      </a:r>
                    </a:p>
                    <a:p>
                      <a:pPr algn="just" fontAlgn="base"/>
                      <a:r>
                        <a:rPr lang="es-CL" sz="800" b="0" i="0" kern="1200" noProof="0" dirty="0">
                          <a:solidFill>
                            <a:schemeClr val="dk1"/>
                          </a:solidFill>
                          <a:effectLst/>
                          <a:latin typeface="+mn-lt"/>
                          <a:ea typeface="+mn-ea"/>
                          <a:cs typeface="+mn-cs"/>
                        </a:rPr>
                        <a:t>Mínimo dos (2) socios</a:t>
                      </a:r>
                    </a:p>
                    <a:p>
                      <a:pPr algn="just"/>
                      <a:endParaRPr lang="es-CL" sz="14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Es Preferida por </a:t>
                      </a:r>
                      <a:r>
                        <a:rPr lang="es-CL" sz="800" b="0" i="0" kern="1200" noProof="0" dirty="0">
                          <a:solidFill>
                            <a:schemeClr val="dk1"/>
                          </a:solidFill>
                          <a:effectLst/>
                          <a:latin typeface="+mn-lt"/>
                          <a:ea typeface="+mn-ea"/>
                          <a:cs typeface="+mn-cs"/>
                        </a:rPr>
                        <a:t>Accionistas que buscan protección de sus inversiones y control de administración. Tipo convertido en un estándar para negocios de alto capital. Mínimo dos (2) accionistas</a:t>
                      </a:r>
                    </a:p>
                    <a:p>
                      <a:pPr algn="just"/>
                      <a:endParaRPr lang="es-CL" sz="14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Es Preferida por </a:t>
                      </a:r>
                      <a:r>
                        <a:rPr lang="es-CL" sz="800" b="0" i="0" kern="1200" noProof="0" dirty="0">
                          <a:solidFill>
                            <a:schemeClr val="dk1"/>
                          </a:solidFill>
                          <a:effectLst/>
                          <a:latin typeface="+mn-lt"/>
                          <a:ea typeface="+mn-ea"/>
                          <a:cs typeface="+mn-cs"/>
                        </a:rPr>
                        <a:t>Emprendedores que buscan gestión flexible (adaptable a SRL o S.A.) y capital dividido en acciones de fácil venta. Usual innovación y </a:t>
                      </a:r>
                      <a:r>
                        <a:rPr lang="es-CL" sz="800" b="0" i="0" kern="1200" noProof="0" dirty="0" err="1">
                          <a:solidFill>
                            <a:schemeClr val="dk1"/>
                          </a:solidFill>
                          <a:effectLst/>
                          <a:latin typeface="+mn-lt"/>
                          <a:ea typeface="+mn-ea"/>
                          <a:cs typeface="+mn-cs"/>
                        </a:rPr>
                        <a:t>StartUPs</a:t>
                      </a:r>
                      <a:r>
                        <a:rPr lang="es-CL" sz="800" b="0" i="0" kern="1200" noProof="0" dirty="0">
                          <a:solidFill>
                            <a:schemeClr val="dk1"/>
                          </a:solidFill>
                          <a:effectLst/>
                          <a:latin typeface="+mn-lt"/>
                          <a:ea typeface="+mn-ea"/>
                          <a:cs typeface="+mn-cs"/>
                        </a:rPr>
                        <a:t>. Mínimo un (1) accionista.</a:t>
                      </a:r>
                    </a:p>
                    <a:p>
                      <a:pPr algn="just"/>
                      <a:endParaRPr lang="es-CL" sz="1400" noProof="0" dirty="0"/>
                    </a:p>
                  </a:txBody>
                  <a:tcPr marL="68580" marR="68580" marT="34290" marB="34290"/>
                </a:tc>
                <a:extLst>
                  <a:ext uri="{0D108BD9-81ED-4DB2-BD59-A6C34878D82A}">
                    <a16:rowId xmlns:a16="http://schemas.microsoft.com/office/drawing/2014/main" val="10001"/>
                  </a:ext>
                </a:extLst>
              </a:tr>
              <a:tr h="588385">
                <a:tc>
                  <a:txBody>
                    <a:bodyPr/>
                    <a:lstStyle/>
                    <a:p>
                      <a:pPr algn="just" fontAlgn="base"/>
                      <a:r>
                        <a:rPr lang="es-CL" sz="800" b="1" i="0" kern="1200" noProof="0" dirty="0">
                          <a:solidFill>
                            <a:schemeClr val="dk1"/>
                          </a:solidFill>
                          <a:effectLst/>
                          <a:latin typeface="+mn-lt"/>
                          <a:ea typeface="+mn-ea"/>
                          <a:cs typeface="+mn-cs"/>
                        </a:rPr>
                        <a:t>Cantidad Objetos Sociales</a:t>
                      </a:r>
                      <a:endParaRPr lang="es-CL" sz="800" b="0" i="0" kern="1200" noProof="0" dirty="0">
                        <a:solidFill>
                          <a:schemeClr val="dk1"/>
                        </a:solidFill>
                        <a:effectLst/>
                        <a:latin typeface="+mn-lt"/>
                        <a:ea typeface="+mn-ea"/>
                        <a:cs typeface="+mn-cs"/>
                      </a:endParaRPr>
                    </a:p>
                    <a:p>
                      <a:pPr algn="just" fontAlgn="base"/>
                      <a:r>
                        <a:rPr lang="es-CL" sz="800" b="0" i="0" kern="1200" noProof="0" dirty="0">
                          <a:solidFill>
                            <a:schemeClr val="dk1"/>
                          </a:solidFill>
                          <a:effectLst/>
                          <a:latin typeface="+mn-lt"/>
                          <a:ea typeface="+mn-ea"/>
                          <a:cs typeface="+mn-cs"/>
                        </a:rPr>
                        <a:t>La EIRL puede tener sólo un (1) giro Legal </a:t>
                      </a:r>
                      <a:r>
                        <a:rPr lang="es-CL" sz="800" b="0" i="0" kern="1200" noProof="0" dirty="0" err="1">
                          <a:solidFill>
                            <a:schemeClr val="dk1"/>
                          </a:solidFill>
                          <a:effectLst/>
                          <a:latin typeface="+mn-lt"/>
                          <a:ea typeface="+mn-ea"/>
                          <a:cs typeface="+mn-cs"/>
                        </a:rPr>
                        <a:t>Prom</a:t>
                      </a:r>
                      <a:r>
                        <a:rPr lang="es-CL" sz="800" b="0" i="0" kern="1200" noProof="0" dirty="0">
                          <a:solidFill>
                            <a:schemeClr val="dk1"/>
                          </a:solidFill>
                          <a:effectLst/>
                          <a:latin typeface="+mn-lt"/>
                          <a:ea typeface="+mn-ea"/>
                          <a:cs typeface="+mn-cs"/>
                        </a:rPr>
                        <a:t> dará amplitud a su giro</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Cantidad Objetos Sociales</a:t>
                      </a:r>
                      <a:endParaRPr lang="es-CL" sz="800" b="0" i="0" kern="1200" noProof="0" dirty="0">
                        <a:solidFill>
                          <a:schemeClr val="dk1"/>
                        </a:solidFill>
                        <a:effectLst/>
                        <a:latin typeface="+mn-lt"/>
                        <a:ea typeface="+mn-ea"/>
                        <a:cs typeface="+mn-cs"/>
                      </a:endParaRPr>
                    </a:p>
                    <a:p>
                      <a:pPr algn="just" fontAlgn="base"/>
                      <a:r>
                        <a:rPr lang="es-CL" sz="800" b="0" i="0" kern="1200" noProof="0" dirty="0">
                          <a:solidFill>
                            <a:schemeClr val="dk1"/>
                          </a:solidFill>
                          <a:effectLst/>
                          <a:latin typeface="+mn-lt"/>
                          <a:ea typeface="+mn-ea"/>
                          <a:cs typeface="+mn-cs"/>
                        </a:rPr>
                        <a:t>La SRL puede tener varios giros o actividades</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Cantidad Objetos Sociales</a:t>
                      </a:r>
                      <a:endParaRPr lang="es-CL" sz="800" b="0" i="0" kern="1200" noProof="0" dirty="0">
                        <a:solidFill>
                          <a:schemeClr val="dk1"/>
                        </a:solidFill>
                        <a:effectLst/>
                        <a:latin typeface="+mn-lt"/>
                        <a:ea typeface="+mn-ea"/>
                        <a:cs typeface="+mn-cs"/>
                      </a:endParaRPr>
                    </a:p>
                    <a:p>
                      <a:pPr algn="just" fontAlgn="base"/>
                      <a:r>
                        <a:rPr lang="es-CL" sz="800" b="0" i="0" kern="1200" noProof="0" dirty="0">
                          <a:solidFill>
                            <a:schemeClr val="dk1"/>
                          </a:solidFill>
                          <a:effectLst/>
                          <a:latin typeface="+mn-lt"/>
                          <a:ea typeface="+mn-ea"/>
                          <a:cs typeface="+mn-cs"/>
                        </a:rPr>
                        <a:t>La S.A. puede tener varios giros o actividades</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Cantidad Objetos Sociales</a:t>
                      </a:r>
                      <a:endParaRPr lang="es-CL" sz="800" b="0" i="0" kern="1200" noProof="0" dirty="0">
                        <a:solidFill>
                          <a:schemeClr val="dk1"/>
                        </a:solidFill>
                        <a:effectLst/>
                        <a:latin typeface="+mn-lt"/>
                        <a:ea typeface="+mn-ea"/>
                        <a:cs typeface="+mn-cs"/>
                      </a:endParaRPr>
                    </a:p>
                    <a:p>
                      <a:pPr algn="just" fontAlgn="base"/>
                      <a:r>
                        <a:rPr lang="es-CL" sz="800" b="0" i="0" kern="1200" noProof="0" dirty="0">
                          <a:solidFill>
                            <a:schemeClr val="dk1"/>
                          </a:solidFill>
                          <a:effectLst/>
                          <a:latin typeface="+mn-lt"/>
                          <a:ea typeface="+mn-ea"/>
                          <a:cs typeface="+mn-cs"/>
                        </a:rPr>
                        <a:t>La </a:t>
                      </a:r>
                      <a:r>
                        <a:rPr lang="es-CL" sz="800" b="0" i="0" kern="1200" noProof="0" dirty="0" err="1">
                          <a:solidFill>
                            <a:schemeClr val="dk1"/>
                          </a:solidFill>
                          <a:effectLst/>
                          <a:latin typeface="+mn-lt"/>
                          <a:ea typeface="+mn-ea"/>
                          <a:cs typeface="+mn-cs"/>
                        </a:rPr>
                        <a:t>SpA</a:t>
                      </a:r>
                      <a:r>
                        <a:rPr lang="es-CL" sz="800" b="0" i="0" kern="1200" noProof="0" dirty="0">
                          <a:solidFill>
                            <a:schemeClr val="dk1"/>
                          </a:solidFill>
                          <a:effectLst/>
                          <a:latin typeface="+mn-lt"/>
                          <a:ea typeface="+mn-ea"/>
                          <a:cs typeface="+mn-cs"/>
                        </a:rPr>
                        <a:t> puede tener varios giros o actividades</a:t>
                      </a:r>
                    </a:p>
                    <a:p>
                      <a:pPr algn="just"/>
                      <a:endParaRPr lang="es-CL" sz="800" noProof="0" dirty="0"/>
                    </a:p>
                  </a:txBody>
                  <a:tcPr marL="68580" marR="68580" marT="34290" marB="34290"/>
                </a:tc>
                <a:extLst>
                  <a:ext uri="{0D108BD9-81ED-4DB2-BD59-A6C34878D82A}">
                    <a16:rowId xmlns:a16="http://schemas.microsoft.com/office/drawing/2014/main" val="10002"/>
                  </a:ext>
                </a:extLst>
              </a:tr>
              <a:tr h="1074442">
                <a:tc>
                  <a:txBody>
                    <a:bodyPr/>
                    <a:lstStyle/>
                    <a:p>
                      <a:pPr algn="just" fontAlgn="base"/>
                      <a:r>
                        <a:rPr lang="es-CL" sz="800" b="1" i="0" kern="1200" noProof="0" dirty="0" err="1">
                          <a:solidFill>
                            <a:schemeClr val="dk1"/>
                          </a:solidFill>
                          <a:effectLst/>
                          <a:latin typeface="+mn-lt"/>
                          <a:ea typeface="+mn-ea"/>
                          <a:cs typeface="+mn-cs"/>
                        </a:rPr>
                        <a:t>Resp</a:t>
                      </a:r>
                      <a:r>
                        <a:rPr lang="es-CL" sz="800" b="1" i="0" kern="1200" noProof="0" dirty="0">
                          <a:solidFill>
                            <a:schemeClr val="dk1"/>
                          </a:solidFill>
                          <a:effectLst/>
                          <a:latin typeface="+mn-lt"/>
                          <a:ea typeface="+mn-ea"/>
                          <a:cs typeface="+mn-cs"/>
                        </a:rPr>
                        <a:t>. por Deudas EIRL, </a:t>
                      </a:r>
                      <a:r>
                        <a:rPr lang="es-CL" sz="800" b="0" i="0" kern="1200" noProof="0" dirty="0">
                          <a:solidFill>
                            <a:schemeClr val="dk1"/>
                          </a:solidFill>
                          <a:effectLst/>
                          <a:latin typeface="+mn-lt"/>
                          <a:ea typeface="+mn-ea"/>
                          <a:cs typeface="+mn-cs"/>
                        </a:rPr>
                        <a:t>Empresario responde hasta monto de su aporte. No con su patrimonio personal. Salvo responsabilidad penal y obligaciones contraídas fuera del giro</a:t>
                      </a:r>
                    </a:p>
                    <a:p>
                      <a:pPr algn="just"/>
                      <a:endParaRPr lang="es-CL" sz="1400" noProof="0" dirty="0"/>
                    </a:p>
                  </a:txBody>
                  <a:tcPr marL="68580" marR="68580" marT="34290" marB="34290"/>
                </a:tc>
                <a:tc>
                  <a:txBody>
                    <a:bodyPr/>
                    <a:lstStyle/>
                    <a:p>
                      <a:pPr algn="just" fontAlgn="base"/>
                      <a:r>
                        <a:rPr lang="es-CL" sz="800" b="1" i="0" kern="1200" noProof="0" dirty="0" err="1">
                          <a:solidFill>
                            <a:schemeClr val="dk1"/>
                          </a:solidFill>
                          <a:effectLst/>
                          <a:latin typeface="+mn-lt"/>
                          <a:ea typeface="+mn-ea"/>
                          <a:cs typeface="+mn-cs"/>
                        </a:rPr>
                        <a:t>Resp</a:t>
                      </a:r>
                      <a:r>
                        <a:rPr lang="es-CL" sz="800" b="1" i="0" kern="1200" noProof="0" dirty="0">
                          <a:solidFill>
                            <a:schemeClr val="dk1"/>
                          </a:solidFill>
                          <a:effectLst/>
                          <a:latin typeface="+mn-lt"/>
                          <a:ea typeface="+mn-ea"/>
                          <a:cs typeface="+mn-cs"/>
                        </a:rPr>
                        <a:t>. por Deudas SRL, </a:t>
                      </a:r>
                      <a:r>
                        <a:rPr lang="es-CL" sz="800" b="0" i="0" kern="1200" noProof="0" dirty="0">
                          <a:solidFill>
                            <a:schemeClr val="dk1"/>
                          </a:solidFill>
                          <a:effectLst/>
                          <a:latin typeface="+mn-lt"/>
                          <a:ea typeface="+mn-ea"/>
                          <a:cs typeface="+mn-cs"/>
                        </a:rPr>
                        <a:t>Socios SRL responden hasta el monto de sus aportes. No con su patrimonio personal. Ello salvo responsabilidad penal.</a:t>
                      </a:r>
                    </a:p>
                    <a:p>
                      <a:pPr algn="just"/>
                      <a:endParaRPr lang="es-CL" sz="1400" noProof="0" dirty="0"/>
                    </a:p>
                  </a:txBody>
                  <a:tcPr marL="68580" marR="68580" marT="34290" marB="34290"/>
                </a:tc>
                <a:tc>
                  <a:txBody>
                    <a:bodyPr/>
                    <a:lstStyle/>
                    <a:p>
                      <a:pPr algn="just" fontAlgn="base"/>
                      <a:r>
                        <a:rPr lang="es-CL" sz="800" b="1" i="0" kern="1200" noProof="0" dirty="0" err="1">
                          <a:solidFill>
                            <a:schemeClr val="dk1"/>
                          </a:solidFill>
                          <a:effectLst/>
                          <a:latin typeface="+mn-lt"/>
                          <a:ea typeface="+mn-ea"/>
                          <a:cs typeface="+mn-cs"/>
                        </a:rPr>
                        <a:t>Resp</a:t>
                      </a:r>
                      <a:r>
                        <a:rPr lang="es-CL" sz="800" b="1" i="0" kern="1200" noProof="0" dirty="0">
                          <a:solidFill>
                            <a:schemeClr val="dk1"/>
                          </a:solidFill>
                          <a:effectLst/>
                          <a:latin typeface="+mn-lt"/>
                          <a:ea typeface="+mn-ea"/>
                          <a:cs typeface="+mn-cs"/>
                        </a:rPr>
                        <a:t>. por Deudas S.A., </a:t>
                      </a:r>
                      <a:r>
                        <a:rPr lang="es-CL" sz="800" b="0" i="0" kern="1200" noProof="0" dirty="0">
                          <a:solidFill>
                            <a:schemeClr val="dk1"/>
                          </a:solidFill>
                          <a:effectLst/>
                          <a:latin typeface="+mn-lt"/>
                          <a:ea typeface="+mn-ea"/>
                          <a:cs typeface="+mn-cs"/>
                        </a:rPr>
                        <a:t>Accionistas S.A. responden hasta el monto de sus aportes. No con su patrimonio personal. Ello salvo responsabilidad penal.</a:t>
                      </a:r>
                    </a:p>
                    <a:p>
                      <a:pPr algn="just"/>
                      <a:endParaRPr lang="es-CL" sz="1400" noProof="0" dirty="0"/>
                    </a:p>
                  </a:txBody>
                  <a:tcPr marL="68580" marR="68580" marT="34290" marB="34290"/>
                </a:tc>
                <a:tc>
                  <a:txBody>
                    <a:bodyPr/>
                    <a:lstStyle/>
                    <a:p>
                      <a:pPr algn="just" fontAlgn="base"/>
                      <a:r>
                        <a:rPr lang="es-CL" sz="800" b="1" i="0" kern="1200" noProof="0" dirty="0" err="1">
                          <a:solidFill>
                            <a:schemeClr val="dk1"/>
                          </a:solidFill>
                          <a:effectLst/>
                          <a:latin typeface="+mn-lt"/>
                          <a:ea typeface="+mn-ea"/>
                          <a:cs typeface="+mn-cs"/>
                        </a:rPr>
                        <a:t>Resp</a:t>
                      </a:r>
                      <a:r>
                        <a:rPr lang="es-CL" sz="800" b="1" i="0" kern="1200" noProof="0" dirty="0">
                          <a:solidFill>
                            <a:schemeClr val="dk1"/>
                          </a:solidFill>
                          <a:effectLst/>
                          <a:latin typeface="+mn-lt"/>
                          <a:ea typeface="+mn-ea"/>
                          <a:cs typeface="+mn-cs"/>
                        </a:rPr>
                        <a:t>. por Deudas </a:t>
                      </a:r>
                      <a:r>
                        <a:rPr lang="es-CL" sz="800" b="1" i="0" kern="1200" noProof="0" dirty="0" err="1">
                          <a:solidFill>
                            <a:schemeClr val="dk1"/>
                          </a:solidFill>
                          <a:effectLst/>
                          <a:latin typeface="+mn-lt"/>
                          <a:ea typeface="+mn-ea"/>
                          <a:cs typeface="+mn-cs"/>
                        </a:rPr>
                        <a:t>SpA</a:t>
                      </a:r>
                      <a:r>
                        <a:rPr lang="es-CL" sz="800" b="1" i="0" kern="1200" noProof="0" dirty="0">
                          <a:solidFill>
                            <a:schemeClr val="dk1"/>
                          </a:solidFill>
                          <a:effectLst/>
                          <a:latin typeface="+mn-lt"/>
                          <a:ea typeface="+mn-ea"/>
                          <a:cs typeface="+mn-cs"/>
                        </a:rPr>
                        <a:t>, </a:t>
                      </a:r>
                      <a:r>
                        <a:rPr lang="es-CL" sz="800" b="0" i="0" kern="1200" noProof="0" dirty="0">
                          <a:solidFill>
                            <a:schemeClr val="dk1"/>
                          </a:solidFill>
                          <a:effectLst/>
                          <a:latin typeface="+mn-lt"/>
                          <a:ea typeface="+mn-ea"/>
                          <a:cs typeface="+mn-cs"/>
                        </a:rPr>
                        <a:t>Accionistas responden hasta el monto de sus aportes. No con su patrimonio personal. Ello salvo responsabilidad penal.</a:t>
                      </a:r>
                    </a:p>
                    <a:p>
                      <a:pPr algn="just"/>
                      <a:endParaRPr lang="es-CL" sz="1400" noProof="0" dirty="0"/>
                    </a:p>
                  </a:txBody>
                  <a:tcPr marL="68580" marR="68580" marT="34290" marB="34290"/>
                </a:tc>
                <a:extLst>
                  <a:ext uri="{0D108BD9-81ED-4DB2-BD59-A6C34878D82A}">
                    <a16:rowId xmlns:a16="http://schemas.microsoft.com/office/drawing/2014/main" val="10003"/>
                  </a:ext>
                </a:extLst>
              </a:tr>
              <a:tr h="1100024">
                <a:tc>
                  <a:txBody>
                    <a:bodyPr/>
                    <a:lstStyle/>
                    <a:p>
                      <a:pPr algn="just" fontAlgn="base"/>
                      <a:r>
                        <a:rPr lang="es-CL" sz="800" b="1" i="0" kern="1200" noProof="0" dirty="0">
                          <a:solidFill>
                            <a:schemeClr val="dk1"/>
                          </a:solidFill>
                          <a:effectLst/>
                          <a:latin typeface="+mn-lt"/>
                          <a:ea typeface="+mn-ea"/>
                          <a:cs typeface="+mn-cs"/>
                        </a:rPr>
                        <a:t>Tributación de la EIRL, </a:t>
                      </a:r>
                      <a:r>
                        <a:rPr lang="es-CL" sz="800" b="0" i="0" kern="1200" noProof="0" dirty="0">
                          <a:solidFill>
                            <a:schemeClr val="dk1"/>
                          </a:solidFill>
                          <a:effectLst/>
                          <a:latin typeface="+mn-lt"/>
                          <a:ea typeface="+mn-ea"/>
                          <a:cs typeface="+mn-cs"/>
                        </a:rPr>
                        <a:t>Tributa Impuesto Anual de 1ª Categoría Tasa 20%. Diferencia con personas naturales que tributan escala progresiva de hasta 40%. La </a:t>
                      </a:r>
                      <a:r>
                        <a:rPr lang="es-CL" sz="800" b="0" i="0" kern="1200" noProof="0" dirty="0" err="1">
                          <a:solidFill>
                            <a:schemeClr val="dk1"/>
                          </a:solidFill>
                          <a:effectLst/>
                          <a:latin typeface="+mn-lt"/>
                          <a:ea typeface="+mn-ea"/>
                          <a:cs typeface="+mn-cs"/>
                        </a:rPr>
                        <a:t>EIRl</a:t>
                      </a:r>
                      <a:r>
                        <a:rPr lang="es-CL" sz="800" b="0" i="0" kern="1200" noProof="0" dirty="0">
                          <a:solidFill>
                            <a:schemeClr val="dk1"/>
                          </a:solidFill>
                          <a:effectLst/>
                          <a:latin typeface="+mn-lt"/>
                          <a:ea typeface="+mn-ea"/>
                          <a:cs typeface="+mn-cs"/>
                        </a:rPr>
                        <a:t> tiene ventaja de contabilidad simplificada.</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Tributación de la SRL, </a:t>
                      </a:r>
                      <a:r>
                        <a:rPr lang="es-CL" sz="800" b="0" i="0" kern="1200" noProof="0" dirty="0">
                          <a:solidFill>
                            <a:schemeClr val="dk1"/>
                          </a:solidFill>
                          <a:effectLst/>
                          <a:latin typeface="+mn-lt"/>
                          <a:ea typeface="+mn-ea"/>
                          <a:cs typeface="+mn-cs"/>
                        </a:rPr>
                        <a:t>Tributa Impuesto Anual , de 1ª Categoría Tasa 20%. Diferencia con personas naturales que tributan escala progresiva hasta 40%. Tasa se calcula sobre renta imponible y contabilidad completa.</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Tributación de la S.A., </a:t>
                      </a:r>
                      <a:r>
                        <a:rPr lang="es-CL" sz="800" b="0" i="0" kern="1200" noProof="0" dirty="0">
                          <a:solidFill>
                            <a:schemeClr val="dk1"/>
                          </a:solidFill>
                          <a:effectLst/>
                          <a:latin typeface="+mn-lt"/>
                          <a:ea typeface="+mn-ea"/>
                          <a:cs typeface="+mn-cs"/>
                        </a:rPr>
                        <a:t>Tributa Impuesto 1ª Categoría Tasa 20%. Diferencia con personas naturales que tributan escala progresiva de hasta 40%. Tasa se calcula sobre renta imponible y contabilidad completa.</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Tributación de la </a:t>
                      </a:r>
                      <a:r>
                        <a:rPr lang="es-CL" sz="800" b="1" i="0" kern="1200" noProof="0" dirty="0" err="1">
                          <a:solidFill>
                            <a:schemeClr val="dk1"/>
                          </a:solidFill>
                          <a:effectLst/>
                          <a:latin typeface="+mn-lt"/>
                          <a:ea typeface="+mn-ea"/>
                          <a:cs typeface="+mn-cs"/>
                        </a:rPr>
                        <a:t>SpA</a:t>
                      </a:r>
                      <a:r>
                        <a:rPr lang="es-CL" sz="800" b="1" i="0" kern="1200" noProof="0" dirty="0">
                          <a:solidFill>
                            <a:schemeClr val="dk1"/>
                          </a:solidFill>
                          <a:effectLst/>
                          <a:latin typeface="+mn-lt"/>
                          <a:ea typeface="+mn-ea"/>
                          <a:cs typeface="+mn-cs"/>
                        </a:rPr>
                        <a:t>, </a:t>
                      </a:r>
                      <a:r>
                        <a:rPr lang="es-CL" sz="800" b="0" i="0" kern="1200" noProof="0" dirty="0">
                          <a:solidFill>
                            <a:schemeClr val="dk1"/>
                          </a:solidFill>
                          <a:effectLst/>
                          <a:latin typeface="+mn-lt"/>
                          <a:ea typeface="+mn-ea"/>
                          <a:cs typeface="+mn-cs"/>
                        </a:rPr>
                        <a:t>Tributa Impuesto 1ª Categoría Tasa 20%. Diferencia con personas naturales que tributan escala progresiva de hasta 40%. Tasa se calcula sobre renta imponible y contabilidad completa.</a:t>
                      </a:r>
                    </a:p>
                    <a:p>
                      <a:pPr algn="just"/>
                      <a:endParaRPr lang="es-CL" sz="800" noProof="0" dirty="0"/>
                    </a:p>
                  </a:txBody>
                  <a:tcPr marL="68580" marR="68580" marT="34290" marB="34290"/>
                </a:tc>
                <a:extLst>
                  <a:ext uri="{0D108BD9-81ED-4DB2-BD59-A6C34878D82A}">
                    <a16:rowId xmlns:a16="http://schemas.microsoft.com/office/drawing/2014/main" val="10004"/>
                  </a:ext>
                </a:extLst>
              </a:tr>
            </a:tbl>
          </a:graphicData>
        </a:graphic>
      </p:graphicFrame>
      <p:pic>
        <p:nvPicPr>
          <p:cNvPr id="3" name="Imagen 2"/>
          <p:cNvPicPr>
            <a:picLocks noChangeAspect="1"/>
          </p:cNvPicPr>
          <p:nvPr/>
        </p:nvPicPr>
        <p:blipFill>
          <a:blip r:embed="rId2"/>
          <a:stretch>
            <a:fillRect/>
          </a:stretch>
        </p:blipFill>
        <p:spPr>
          <a:xfrm>
            <a:off x="8936331" y="1010407"/>
            <a:ext cx="1264052" cy="840742"/>
          </a:xfrm>
          <a:prstGeom prst="rect">
            <a:avLst/>
          </a:prstGeom>
        </p:spPr>
      </p:pic>
      <p:pic>
        <p:nvPicPr>
          <p:cNvPr id="5" name="Imagen 4"/>
          <p:cNvPicPr>
            <a:picLocks noChangeAspect="1"/>
          </p:cNvPicPr>
          <p:nvPr/>
        </p:nvPicPr>
        <p:blipFill>
          <a:blip r:embed="rId3"/>
          <a:stretch>
            <a:fillRect/>
          </a:stretch>
        </p:blipFill>
        <p:spPr>
          <a:xfrm>
            <a:off x="9273711" y="6089729"/>
            <a:ext cx="926672" cy="249958"/>
          </a:xfrm>
          <a:prstGeom prst="rect">
            <a:avLst/>
          </a:prstGeom>
        </p:spPr>
      </p:pic>
    </p:spTree>
    <p:extLst>
      <p:ext uri="{BB962C8B-B14F-4D97-AF65-F5344CB8AC3E}">
        <p14:creationId xmlns:p14="http://schemas.microsoft.com/office/powerpoint/2010/main" val="1366319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09900" y="992184"/>
            <a:ext cx="6172200" cy="36755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s-CL" sz="2100" dirty="0"/>
              <a:t>Cuadro Comparativo de Empresas (continuación 1)</a:t>
            </a:r>
          </a:p>
        </p:txBody>
      </p:sp>
      <p:graphicFrame>
        <p:nvGraphicFramePr>
          <p:cNvPr id="4" name="3 Marcador de contenido"/>
          <p:cNvGraphicFramePr>
            <a:graphicFrameLocks noGrp="1"/>
          </p:cNvGraphicFramePr>
          <p:nvPr>
            <p:ph idx="1"/>
          </p:nvPr>
        </p:nvGraphicFramePr>
        <p:xfrm>
          <a:off x="3009900" y="1437007"/>
          <a:ext cx="6172200" cy="5189220"/>
        </p:xfrm>
        <a:graphic>
          <a:graphicData uri="http://schemas.openxmlformats.org/drawingml/2006/table">
            <a:tbl>
              <a:tblPr firstRow="1" bandRow="1">
                <a:tableStyleId>{5C22544A-7EE6-4342-B048-85BDC9FD1C3A}</a:tableStyleId>
              </a:tblPr>
              <a:tblGrid>
                <a:gridCol w="1543050">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1543050">
                  <a:extLst>
                    <a:ext uri="{9D8B030D-6E8A-4147-A177-3AD203B41FA5}">
                      <a16:colId xmlns:a16="http://schemas.microsoft.com/office/drawing/2014/main" val="20003"/>
                    </a:ext>
                  </a:extLst>
                </a:gridCol>
              </a:tblGrid>
              <a:tr h="275492">
                <a:tc>
                  <a:txBody>
                    <a:bodyPr/>
                    <a:lstStyle/>
                    <a:p>
                      <a:r>
                        <a:rPr lang="es-CL" sz="1400" noProof="0" dirty="0"/>
                        <a:t>E.I.R.L.</a:t>
                      </a:r>
                    </a:p>
                  </a:txBody>
                  <a:tcPr marL="68580" marR="68580" marT="34290" marB="34290"/>
                </a:tc>
                <a:tc>
                  <a:txBody>
                    <a:bodyPr/>
                    <a:lstStyle/>
                    <a:p>
                      <a:r>
                        <a:rPr lang="es-CL" sz="1400" noProof="0" dirty="0"/>
                        <a:t>S.R.L.</a:t>
                      </a:r>
                    </a:p>
                  </a:txBody>
                  <a:tcPr marL="68580" marR="68580" marT="34290" marB="34290"/>
                </a:tc>
                <a:tc>
                  <a:txBody>
                    <a:bodyPr/>
                    <a:lstStyle/>
                    <a:p>
                      <a:r>
                        <a:rPr lang="es-CL" sz="1400" noProof="0" dirty="0"/>
                        <a:t>S.A.</a:t>
                      </a:r>
                    </a:p>
                  </a:txBody>
                  <a:tcPr marL="68580" marR="68580" marT="34290" marB="34290"/>
                </a:tc>
                <a:tc>
                  <a:txBody>
                    <a:bodyPr/>
                    <a:lstStyle/>
                    <a:p>
                      <a:r>
                        <a:rPr lang="es-CL" sz="1400" noProof="0" dirty="0"/>
                        <a:t>S.P.A.</a:t>
                      </a:r>
                    </a:p>
                  </a:txBody>
                  <a:tcPr marL="68580" marR="68580" marT="34290" marB="34290"/>
                </a:tc>
                <a:extLst>
                  <a:ext uri="{0D108BD9-81ED-4DB2-BD59-A6C34878D82A}">
                    <a16:rowId xmlns:a16="http://schemas.microsoft.com/office/drawing/2014/main" val="10000"/>
                  </a:ext>
                </a:extLst>
              </a:tr>
              <a:tr h="1446332">
                <a:tc>
                  <a:txBody>
                    <a:bodyPr/>
                    <a:lstStyle/>
                    <a:p>
                      <a:pPr algn="just" fontAlgn="base"/>
                      <a:r>
                        <a:rPr lang="es-CL" sz="800" b="1" i="0" kern="1200" noProof="0" dirty="0" err="1">
                          <a:solidFill>
                            <a:schemeClr val="dk1"/>
                          </a:solidFill>
                          <a:effectLst/>
                          <a:latin typeface="+mn-lt"/>
                          <a:ea typeface="+mn-ea"/>
                          <a:cs typeface="+mn-cs"/>
                        </a:rPr>
                        <a:t>Tribut</a:t>
                      </a:r>
                      <a:r>
                        <a:rPr lang="es-CL" sz="800" b="1" i="0" kern="1200" noProof="0" dirty="0">
                          <a:solidFill>
                            <a:schemeClr val="dk1"/>
                          </a:solidFill>
                          <a:effectLst/>
                          <a:latin typeface="+mn-lt"/>
                          <a:ea typeface="+mn-ea"/>
                          <a:cs typeface="+mn-cs"/>
                        </a:rPr>
                        <a:t>. Empresario EIRL, </a:t>
                      </a:r>
                      <a:r>
                        <a:rPr lang="es-CL" sz="800" b="0" i="0" kern="1200" noProof="0" dirty="0">
                          <a:solidFill>
                            <a:schemeClr val="dk1"/>
                          </a:solidFill>
                          <a:effectLst/>
                          <a:latin typeface="+mn-lt"/>
                          <a:ea typeface="+mn-ea"/>
                          <a:cs typeface="+mn-cs"/>
                        </a:rPr>
                        <a:t>Domiciliado o residente en Chile tributa Impuesto Global Complementario. Tabla Progresiva de 0 a 40%. menos el 20% tributado por la EIRL (Crédito Fiscal)</a:t>
                      </a:r>
                    </a:p>
                    <a:p>
                      <a:pPr algn="just" fontAlgn="base"/>
                      <a:r>
                        <a:rPr lang="es-CL" sz="800" b="0" i="0" kern="1200" noProof="0" dirty="0">
                          <a:solidFill>
                            <a:schemeClr val="dk1"/>
                          </a:solidFill>
                          <a:effectLst/>
                          <a:latin typeface="+mn-lt"/>
                          <a:ea typeface="+mn-ea"/>
                          <a:cs typeface="+mn-cs"/>
                        </a:rPr>
                        <a:t>Extranjero Tributa Impuesto Adicional. Tasa </a:t>
                      </a:r>
                      <a:r>
                        <a:rPr lang="es-CL" sz="800" b="0" i="0" kern="1200" noProof="0" dirty="0" err="1">
                          <a:solidFill>
                            <a:schemeClr val="dk1"/>
                          </a:solidFill>
                          <a:effectLst/>
                          <a:latin typeface="+mn-lt"/>
                          <a:ea typeface="+mn-ea"/>
                          <a:cs typeface="+mn-cs"/>
                        </a:rPr>
                        <a:t>Unica</a:t>
                      </a:r>
                      <a:r>
                        <a:rPr lang="es-CL" sz="800" b="0" i="0" kern="1200" noProof="0" dirty="0">
                          <a:solidFill>
                            <a:schemeClr val="dk1"/>
                          </a:solidFill>
                          <a:effectLst/>
                          <a:latin typeface="+mn-lt"/>
                          <a:ea typeface="+mn-ea"/>
                          <a:cs typeface="+mn-cs"/>
                        </a:rPr>
                        <a:t> 35%. MENOS 20% tributado por la EIRL (Crédito Fiscal)</a:t>
                      </a:r>
                    </a:p>
                    <a:p>
                      <a:pPr algn="just"/>
                      <a:endParaRPr lang="es-CL" sz="800" noProof="0" dirty="0"/>
                    </a:p>
                  </a:txBody>
                  <a:tcPr marL="68580" marR="68580" marT="34290" marB="34290"/>
                </a:tc>
                <a:tc>
                  <a:txBody>
                    <a:bodyPr/>
                    <a:lstStyle/>
                    <a:p>
                      <a:pPr algn="just" fontAlgn="base"/>
                      <a:r>
                        <a:rPr lang="es-CL" sz="800" b="1" i="0" kern="1200" noProof="0" dirty="0" err="1">
                          <a:solidFill>
                            <a:schemeClr val="dk1"/>
                          </a:solidFill>
                          <a:effectLst/>
                          <a:latin typeface="+mn-lt"/>
                          <a:ea typeface="+mn-ea"/>
                          <a:cs typeface="+mn-cs"/>
                        </a:rPr>
                        <a:t>Tribut</a:t>
                      </a:r>
                      <a:r>
                        <a:rPr lang="es-CL" sz="800" b="1" i="0" kern="1200" noProof="0" dirty="0">
                          <a:solidFill>
                            <a:schemeClr val="dk1"/>
                          </a:solidFill>
                          <a:effectLst/>
                          <a:latin typeface="+mn-lt"/>
                          <a:ea typeface="+mn-ea"/>
                          <a:cs typeface="+mn-cs"/>
                        </a:rPr>
                        <a:t>. Socios SRL</a:t>
                      </a:r>
                      <a:endParaRPr lang="es-CL" sz="800" b="0" i="0" kern="1200" noProof="0" dirty="0">
                        <a:solidFill>
                          <a:schemeClr val="dk1"/>
                        </a:solidFill>
                        <a:effectLst/>
                        <a:latin typeface="+mn-lt"/>
                        <a:ea typeface="+mn-ea"/>
                        <a:cs typeface="+mn-cs"/>
                      </a:endParaRPr>
                    </a:p>
                    <a:p>
                      <a:pPr algn="just" fontAlgn="base"/>
                      <a:r>
                        <a:rPr lang="es-CL" sz="800" b="0" i="0" kern="1200" noProof="0" dirty="0">
                          <a:solidFill>
                            <a:schemeClr val="dk1"/>
                          </a:solidFill>
                          <a:effectLst/>
                          <a:latin typeface="+mn-lt"/>
                          <a:ea typeface="+mn-ea"/>
                          <a:cs typeface="+mn-cs"/>
                        </a:rPr>
                        <a:t>Domiciliado o residente en Chile Tributa Impuesto Global Complementario. Tabla Progresiva 0 a 40%. MENOS el 20% tributado por la SRL (Crédito Fiscal)</a:t>
                      </a:r>
                    </a:p>
                    <a:p>
                      <a:pPr algn="just" fontAlgn="base"/>
                      <a:r>
                        <a:rPr lang="es-CL" sz="800" b="0" i="0" kern="1200" noProof="0" dirty="0">
                          <a:solidFill>
                            <a:schemeClr val="dk1"/>
                          </a:solidFill>
                          <a:effectLst/>
                          <a:latin typeface="+mn-lt"/>
                          <a:ea typeface="+mn-ea"/>
                          <a:cs typeface="+mn-cs"/>
                        </a:rPr>
                        <a:t>Extranjero Tributa Impuesto Adicional. Tasa Única 35%. MENOS el 20% con que haya tributado la SRL (Crédito Fiscal)</a:t>
                      </a:r>
                    </a:p>
                    <a:p>
                      <a:pPr algn="just"/>
                      <a:endParaRPr lang="es-CL" sz="800" noProof="0" dirty="0"/>
                    </a:p>
                  </a:txBody>
                  <a:tcPr marL="68580" marR="68580" marT="34290" marB="34290"/>
                </a:tc>
                <a:tc>
                  <a:txBody>
                    <a:bodyPr/>
                    <a:lstStyle/>
                    <a:p>
                      <a:pPr algn="just" fontAlgn="base"/>
                      <a:r>
                        <a:rPr lang="es-CL" sz="800" b="1" i="0" kern="1200" noProof="0" dirty="0" err="1">
                          <a:solidFill>
                            <a:schemeClr val="dk1"/>
                          </a:solidFill>
                          <a:effectLst/>
                          <a:latin typeface="+mn-lt"/>
                          <a:ea typeface="+mn-ea"/>
                          <a:cs typeface="+mn-cs"/>
                        </a:rPr>
                        <a:t>Tribut</a:t>
                      </a:r>
                      <a:r>
                        <a:rPr lang="es-CL" sz="800" b="1" i="0" kern="1200" noProof="0" dirty="0">
                          <a:solidFill>
                            <a:schemeClr val="dk1"/>
                          </a:solidFill>
                          <a:effectLst/>
                          <a:latin typeface="+mn-lt"/>
                          <a:ea typeface="+mn-ea"/>
                          <a:cs typeface="+mn-cs"/>
                        </a:rPr>
                        <a:t>. Accionistas S.A.</a:t>
                      </a:r>
                      <a:endParaRPr lang="es-CL" sz="800" b="0" i="0" kern="1200" noProof="0" dirty="0">
                        <a:solidFill>
                          <a:schemeClr val="dk1"/>
                        </a:solidFill>
                        <a:effectLst/>
                        <a:latin typeface="+mn-lt"/>
                        <a:ea typeface="+mn-ea"/>
                        <a:cs typeface="+mn-cs"/>
                      </a:endParaRPr>
                    </a:p>
                    <a:p>
                      <a:pPr algn="just" fontAlgn="base"/>
                      <a:r>
                        <a:rPr lang="es-CL" sz="800" b="0" i="0" kern="1200" noProof="0" dirty="0">
                          <a:solidFill>
                            <a:schemeClr val="dk1"/>
                          </a:solidFill>
                          <a:effectLst/>
                          <a:latin typeface="+mn-lt"/>
                          <a:ea typeface="+mn-ea"/>
                          <a:cs typeface="+mn-cs"/>
                        </a:rPr>
                        <a:t>Domiciliado o residente en Chile Tributa Impuesto Global Complementario. Tabla Progresiva 0 a 40%. MENOS el 20% con que haya tributado la S.A. (Crédito Fiscal)</a:t>
                      </a:r>
                    </a:p>
                    <a:p>
                      <a:pPr algn="just" fontAlgn="base"/>
                      <a:r>
                        <a:rPr lang="es-CL" sz="800" b="0" i="0" kern="1200" noProof="0" dirty="0">
                          <a:solidFill>
                            <a:schemeClr val="dk1"/>
                          </a:solidFill>
                          <a:effectLst/>
                          <a:latin typeface="+mn-lt"/>
                          <a:ea typeface="+mn-ea"/>
                          <a:cs typeface="+mn-cs"/>
                        </a:rPr>
                        <a:t>Extranjero Tributa Impuesto Adicional. Tasa Única 35%. MENOS el 20% tributado por la S.A. (Crédito Fiscal)</a:t>
                      </a:r>
                    </a:p>
                    <a:p>
                      <a:pPr algn="just"/>
                      <a:endParaRPr lang="es-CL" sz="800" noProof="0" dirty="0"/>
                    </a:p>
                  </a:txBody>
                  <a:tcPr marL="68580" marR="68580" marT="34290" marB="34290"/>
                </a:tc>
                <a:tc>
                  <a:txBody>
                    <a:bodyPr/>
                    <a:lstStyle/>
                    <a:p>
                      <a:pPr algn="just" fontAlgn="base"/>
                      <a:r>
                        <a:rPr lang="es-CL" sz="800" b="1" i="0" kern="1200" noProof="0" dirty="0" err="1">
                          <a:solidFill>
                            <a:schemeClr val="dk1"/>
                          </a:solidFill>
                          <a:effectLst/>
                          <a:latin typeface="+mn-lt"/>
                          <a:ea typeface="+mn-ea"/>
                          <a:cs typeface="+mn-cs"/>
                        </a:rPr>
                        <a:t>Tribut</a:t>
                      </a:r>
                      <a:r>
                        <a:rPr lang="es-CL" sz="800" b="1" i="0" kern="1200" noProof="0" dirty="0">
                          <a:solidFill>
                            <a:schemeClr val="dk1"/>
                          </a:solidFill>
                          <a:effectLst/>
                          <a:latin typeface="+mn-lt"/>
                          <a:ea typeface="+mn-ea"/>
                          <a:cs typeface="+mn-cs"/>
                        </a:rPr>
                        <a:t>. Accionistas Spa</a:t>
                      </a:r>
                      <a:endParaRPr lang="es-CL" sz="800" b="0" i="0" kern="1200" noProof="0" dirty="0">
                        <a:solidFill>
                          <a:schemeClr val="dk1"/>
                        </a:solidFill>
                        <a:effectLst/>
                        <a:latin typeface="+mn-lt"/>
                        <a:ea typeface="+mn-ea"/>
                        <a:cs typeface="+mn-cs"/>
                      </a:endParaRPr>
                    </a:p>
                    <a:p>
                      <a:pPr algn="just" fontAlgn="base"/>
                      <a:r>
                        <a:rPr lang="es-CL" sz="800" b="0" i="0" kern="1200" noProof="0" dirty="0">
                          <a:solidFill>
                            <a:schemeClr val="dk1"/>
                          </a:solidFill>
                          <a:effectLst/>
                          <a:latin typeface="+mn-lt"/>
                          <a:ea typeface="+mn-ea"/>
                          <a:cs typeface="+mn-cs"/>
                        </a:rPr>
                        <a:t>Domiciliado o residente en Chile Tributa Impuesto Global Complementario. Tabla Progresiva 0 a 40%. MENOS el 20% con que haya tributado la S.A. (Crédito Fiscal)</a:t>
                      </a:r>
                    </a:p>
                    <a:p>
                      <a:pPr algn="just" fontAlgn="base"/>
                      <a:r>
                        <a:rPr lang="es-CL" sz="800" b="0" i="0" kern="1200" noProof="0" dirty="0">
                          <a:solidFill>
                            <a:schemeClr val="dk1"/>
                          </a:solidFill>
                          <a:effectLst/>
                          <a:latin typeface="+mn-lt"/>
                          <a:ea typeface="+mn-ea"/>
                          <a:cs typeface="+mn-cs"/>
                        </a:rPr>
                        <a:t>Extranjero Tributa Impuesto Adicional. Tasa Única 35%. MENOS el 20% tributado por la S.A. (Crédito Fiscal)</a:t>
                      </a:r>
                    </a:p>
                    <a:p>
                      <a:pPr algn="just"/>
                      <a:endParaRPr lang="es-CL" sz="800" noProof="0" dirty="0"/>
                    </a:p>
                  </a:txBody>
                  <a:tcPr marL="68580" marR="68580" marT="34290" marB="34290"/>
                </a:tc>
                <a:extLst>
                  <a:ext uri="{0D108BD9-81ED-4DB2-BD59-A6C34878D82A}">
                    <a16:rowId xmlns:a16="http://schemas.microsoft.com/office/drawing/2014/main" val="10001"/>
                  </a:ext>
                </a:extLst>
              </a:tr>
              <a:tr h="872391">
                <a:tc>
                  <a:txBody>
                    <a:bodyPr/>
                    <a:lstStyle/>
                    <a:p>
                      <a:pPr algn="just" fontAlgn="base"/>
                      <a:r>
                        <a:rPr lang="es-CL" sz="800" b="1" i="0" kern="1200" noProof="0" dirty="0">
                          <a:solidFill>
                            <a:schemeClr val="dk1"/>
                          </a:solidFill>
                          <a:effectLst/>
                          <a:latin typeface="+mn-lt"/>
                          <a:ea typeface="+mn-ea"/>
                          <a:cs typeface="+mn-cs"/>
                        </a:rPr>
                        <a:t>Ventaja Tributaria EIRL, </a:t>
                      </a:r>
                      <a:r>
                        <a:rPr lang="es-CL" sz="800" b="0" i="0" kern="1200" noProof="0" dirty="0">
                          <a:solidFill>
                            <a:schemeClr val="dk1"/>
                          </a:solidFill>
                          <a:effectLst/>
                          <a:latin typeface="+mn-lt"/>
                          <a:ea typeface="+mn-ea"/>
                          <a:cs typeface="+mn-cs"/>
                        </a:rPr>
                        <a:t>Utilidades retiradas por Empresario de la EIRL reinvertidas en otras sociedades en forma y plazos legales, no tributan mientras estén reinvertidas.</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Ventaja Tributaria SRL, </a:t>
                      </a:r>
                      <a:r>
                        <a:rPr lang="es-CL" sz="800" b="0" i="0" kern="1200" noProof="0" dirty="0">
                          <a:solidFill>
                            <a:schemeClr val="dk1"/>
                          </a:solidFill>
                          <a:effectLst/>
                          <a:latin typeface="+mn-lt"/>
                          <a:ea typeface="+mn-ea"/>
                          <a:cs typeface="+mn-cs"/>
                        </a:rPr>
                        <a:t>Utilidades retiradas por socio persona natural de SRL reinvertidas en otras sociedades en forma y plazos legales, no tributan mientras estén reinvertidas.</a:t>
                      </a:r>
                    </a:p>
                    <a:p>
                      <a:pPr algn="just"/>
                      <a:endParaRPr lang="es-CL" sz="800" noProof="0" dirty="0"/>
                    </a:p>
                  </a:txBody>
                  <a:tcPr marL="68580" marR="68580" marT="34290" marB="34290"/>
                </a:tc>
                <a:tc>
                  <a:txBody>
                    <a:bodyPr/>
                    <a:lstStyle/>
                    <a:p>
                      <a:pPr algn="just" fontAlgn="base"/>
                      <a:r>
                        <a:rPr lang="es-CL" sz="800" b="1" i="0" kern="1200" noProof="0" dirty="0" err="1">
                          <a:solidFill>
                            <a:schemeClr val="dk1"/>
                          </a:solidFill>
                          <a:effectLst/>
                          <a:latin typeface="+mn-lt"/>
                          <a:ea typeface="+mn-ea"/>
                          <a:cs typeface="+mn-cs"/>
                        </a:rPr>
                        <a:t>Desvent</a:t>
                      </a:r>
                      <a:r>
                        <a:rPr lang="es-CL" sz="800" b="1" i="0" kern="1200" noProof="0" dirty="0">
                          <a:solidFill>
                            <a:schemeClr val="dk1"/>
                          </a:solidFill>
                          <a:effectLst/>
                          <a:latin typeface="+mn-lt"/>
                          <a:ea typeface="+mn-ea"/>
                          <a:cs typeface="+mn-cs"/>
                        </a:rPr>
                        <a:t>. Tributaria S.A., </a:t>
                      </a:r>
                      <a:r>
                        <a:rPr lang="es-CL" sz="800" b="0" i="0" kern="1200" noProof="0" dirty="0">
                          <a:solidFill>
                            <a:schemeClr val="dk1"/>
                          </a:solidFill>
                          <a:effectLst/>
                          <a:latin typeface="+mn-lt"/>
                          <a:ea typeface="+mn-ea"/>
                          <a:cs typeface="+mn-cs"/>
                        </a:rPr>
                        <a:t>NO tiene beneficio para accionista de suspender tributación mientras sus utilidades estén reinvertidas en otra sociedad.</a:t>
                      </a:r>
                    </a:p>
                    <a:p>
                      <a:pPr algn="just"/>
                      <a:endParaRPr lang="es-CL" sz="800" noProof="0" dirty="0"/>
                    </a:p>
                  </a:txBody>
                  <a:tcPr marL="68580" marR="68580" marT="34290" marB="34290"/>
                </a:tc>
                <a:tc>
                  <a:txBody>
                    <a:bodyPr/>
                    <a:lstStyle/>
                    <a:p>
                      <a:pPr algn="just" fontAlgn="base"/>
                      <a:r>
                        <a:rPr lang="es-CL" sz="800" b="1" i="0" kern="1200" noProof="0" dirty="0" err="1">
                          <a:solidFill>
                            <a:schemeClr val="dk1"/>
                          </a:solidFill>
                          <a:effectLst/>
                          <a:latin typeface="+mn-lt"/>
                          <a:ea typeface="+mn-ea"/>
                          <a:cs typeface="+mn-cs"/>
                        </a:rPr>
                        <a:t>Desvent</a:t>
                      </a:r>
                      <a:r>
                        <a:rPr lang="es-CL" sz="800" b="1" i="0" kern="1200" noProof="0" dirty="0">
                          <a:solidFill>
                            <a:schemeClr val="dk1"/>
                          </a:solidFill>
                          <a:effectLst/>
                          <a:latin typeface="+mn-lt"/>
                          <a:ea typeface="+mn-ea"/>
                          <a:cs typeface="+mn-cs"/>
                        </a:rPr>
                        <a:t>. Tributaria </a:t>
                      </a:r>
                      <a:r>
                        <a:rPr lang="es-CL" sz="800" b="1" i="0" kern="1200" noProof="0" dirty="0" err="1">
                          <a:solidFill>
                            <a:schemeClr val="dk1"/>
                          </a:solidFill>
                          <a:effectLst/>
                          <a:latin typeface="+mn-lt"/>
                          <a:ea typeface="+mn-ea"/>
                          <a:cs typeface="+mn-cs"/>
                        </a:rPr>
                        <a:t>SpA</a:t>
                      </a:r>
                      <a:r>
                        <a:rPr lang="es-CL" sz="800" b="1" i="0" kern="1200" noProof="0" dirty="0">
                          <a:solidFill>
                            <a:schemeClr val="dk1"/>
                          </a:solidFill>
                          <a:effectLst/>
                          <a:latin typeface="+mn-lt"/>
                          <a:ea typeface="+mn-ea"/>
                          <a:cs typeface="+mn-cs"/>
                        </a:rPr>
                        <a:t>,</a:t>
                      </a:r>
                      <a:r>
                        <a:rPr lang="es-CL" sz="800" b="1" i="0" kern="1200" baseline="0" noProof="0" dirty="0">
                          <a:solidFill>
                            <a:schemeClr val="dk1"/>
                          </a:solidFill>
                          <a:effectLst/>
                          <a:latin typeface="+mn-lt"/>
                          <a:ea typeface="+mn-ea"/>
                          <a:cs typeface="+mn-cs"/>
                        </a:rPr>
                        <a:t> </a:t>
                      </a:r>
                      <a:r>
                        <a:rPr lang="es-CL" sz="800" b="0" i="0" kern="1200" noProof="0" dirty="0">
                          <a:solidFill>
                            <a:schemeClr val="dk1"/>
                          </a:solidFill>
                          <a:effectLst/>
                          <a:latin typeface="+mn-lt"/>
                          <a:ea typeface="+mn-ea"/>
                          <a:cs typeface="+mn-cs"/>
                        </a:rPr>
                        <a:t>NO tiene beneficio para el accionista de suspender tributación mientras sus utilidades estén reinvertidas en otra sociedad</a:t>
                      </a:r>
                    </a:p>
                    <a:p>
                      <a:pPr algn="just"/>
                      <a:endParaRPr lang="es-CL" sz="800" noProof="0" dirty="0"/>
                    </a:p>
                  </a:txBody>
                  <a:tcPr marL="68580" marR="68580" marT="34290" marB="34290"/>
                </a:tc>
                <a:extLst>
                  <a:ext uri="{0D108BD9-81ED-4DB2-BD59-A6C34878D82A}">
                    <a16:rowId xmlns:a16="http://schemas.microsoft.com/office/drawing/2014/main" val="10002"/>
                  </a:ext>
                </a:extLst>
              </a:tr>
              <a:tr h="872391">
                <a:tc>
                  <a:txBody>
                    <a:bodyPr/>
                    <a:lstStyle/>
                    <a:p>
                      <a:pPr fontAlgn="base"/>
                      <a:r>
                        <a:rPr lang="es-CL" sz="800" b="1" i="0" kern="1200" noProof="0" dirty="0">
                          <a:solidFill>
                            <a:schemeClr val="dk1"/>
                          </a:solidFill>
                          <a:effectLst/>
                          <a:latin typeface="+mn-lt"/>
                          <a:ea typeface="+mn-ea"/>
                          <a:cs typeface="+mn-cs"/>
                        </a:rPr>
                        <a:t>Constitución EIRL, </a:t>
                      </a:r>
                      <a:r>
                        <a:rPr lang="es-CL" sz="800" b="0" i="0" kern="1200" noProof="0" dirty="0">
                          <a:solidFill>
                            <a:schemeClr val="dk1"/>
                          </a:solidFill>
                          <a:effectLst/>
                          <a:latin typeface="+mn-lt"/>
                          <a:ea typeface="+mn-ea"/>
                          <a:cs typeface="+mn-cs"/>
                        </a:rPr>
                        <a:t>Sólo 1 persona natural. No admite mas socios.</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La constitución de una EIRL puede ser por Sistema 24Hrs. o escritura pública</a:t>
                      </a:r>
                    </a:p>
                    <a:p>
                      <a:endParaRPr lang="es-CL" sz="800" noProof="0" dirty="0"/>
                    </a:p>
                  </a:txBody>
                  <a:tcPr marL="68580" marR="68580" marT="34290" marB="34290"/>
                </a:tc>
                <a:tc>
                  <a:txBody>
                    <a:bodyPr/>
                    <a:lstStyle/>
                    <a:p>
                      <a:pPr fontAlgn="base"/>
                      <a:r>
                        <a:rPr lang="es-CL" sz="800" b="1" i="0" kern="1200" noProof="0" dirty="0">
                          <a:solidFill>
                            <a:schemeClr val="dk1"/>
                          </a:solidFill>
                          <a:effectLst/>
                          <a:latin typeface="+mn-lt"/>
                          <a:ea typeface="+mn-ea"/>
                          <a:cs typeface="+mn-cs"/>
                        </a:rPr>
                        <a:t>Constitución SRL, </a:t>
                      </a:r>
                      <a:r>
                        <a:rPr lang="es-CL" sz="800" b="0" i="0" kern="1200" noProof="0" dirty="0">
                          <a:solidFill>
                            <a:schemeClr val="dk1"/>
                          </a:solidFill>
                          <a:effectLst/>
                          <a:latin typeface="+mn-lt"/>
                          <a:ea typeface="+mn-ea"/>
                          <a:cs typeface="+mn-cs"/>
                        </a:rPr>
                        <a:t>2 o más personas naturales o jurídicas. Máximo 50 socios.</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Constitución por Sistema 24Hrs. o escritura pública</a:t>
                      </a:r>
                    </a:p>
                    <a:p>
                      <a:endParaRPr lang="es-CL" sz="800" noProof="0" dirty="0"/>
                    </a:p>
                  </a:txBody>
                  <a:tcPr marL="68580" marR="68580" marT="34290" marB="34290"/>
                </a:tc>
                <a:tc>
                  <a:txBody>
                    <a:bodyPr/>
                    <a:lstStyle/>
                    <a:p>
                      <a:pPr fontAlgn="base"/>
                      <a:r>
                        <a:rPr lang="es-CL" sz="800" b="1" i="0" kern="1200" noProof="0" dirty="0">
                          <a:solidFill>
                            <a:schemeClr val="dk1"/>
                          </a:solidFill>
                          <a:effectLst/>
                          <a:latin typeface="+mn-lt"/>
                          <a:ea typeface="+mn-ea"/>
                          <a:cs typeface="+mn-cs"/>
                        </a:rPr>
                        <a:t>Constitución S.A., </a:t>
                      </a:r>
                      <a:r>
                        <a:rPr lang="es-CL" sz="800" b="0" i="0" kern="1200" noProof="0" dirty="0">
                          <a:solidFill>
                            <a:schemeClr val="dk1"/>
                          </a:solidFill>
                          <a:effectLst/>
                          <a:latin typeface="+mn-lt"/>
                          <a:ea typeface="+mn-ea"/>
                          <a:cs typeface="+mn-cs"/>
                        </a:rPr>
                        <a:t>2 o más personas naturales o jurídicas. Constitución sólo por escritura pública.</a:t>
                      </a:r>
                    </a:p>
                    <a:p>
                      <a:endParaRPr lang="es-CL" sz="800" noProof="0" dirty="0"/>
                    </a:p>
                  </a:txBody>
                  <a:tcPr marL="68580" marR="68580" marT="34290" marB="34290"/>
                </a:tc>
                <a:tc>
                  <a:txBody>
                    <a:bodyPr/>
                    <a:lstStyle/>
                    <a:p>
                      <a:pPr fontAlgn="base"/>
                      <a:r>
                        <a:rPr lang="es-CL" sz="800" b="1" i="0" kern="1200" noProof="0" dirty="0">
                          <a:solidFill>
                            <a:schemeClr val="dk1"/>
                          </a:solidFill>
                          <a:effectLst/>
                          <a:latin typeface="+mn-lt"/>
                          <a:ea typeface="+mn-ea"/>
                          <a:cs typeface="+mn-cs"/>
                        </a:rPr>
                        <a:t>Constitución </a:t>
                      </a:r>
                      <a:r>
                        <a:rPr lang="es-CL" sz="800" b="1" i="0" kern="1200" noProof="0" dirty="0" err="1">
                          <a:solidFill>
                            <a:schemeClr val="dk1"/>
                          </a:solidFill>
                          <a:effectLst/>
                          <a:latin typeface="+mn-lt"/>
                          <a:ea typeface="+mn-ea"/>
                          <a:cs typeface="+mn-cs"/>
                        </a:rPr>
                        <a:t>SpA</a:t>
                      </a:r>
                      <a:r>
                        <a:rPr lang="es-CL" sz="800" b="1" i="0" kern="1200" noProof="0" dirty="0">
                          <a:solidFill>
                            <a:schemeClr val="dk1"/>
                          </a:solidFill>
                          <a:effectLst/>
                          <a:latin typeface="+mn-lt"/>
                          <a:ea typeface="+mn-ea"/>
                          <a:cs typeface="+mn-cs"/>
                        </a:rPr>
                        <a:t>, </a:t>
                      </a:r>
                      <a:r>
                        <a:rPr lang="es-CL" sz="800" b="0" i="0" kern="1200" noProof="0" dirty="0">
                          <a:solidFill>
                            <a:schemeClr val="dk1"/>
                          </a:solidFill>
                          <a:effectLst/>
                          <a:latin typeface="+mn-lt"/>
                          <a:ea typeface="+mn-ea"/>
                          <a:cs typeface="+mn-cs"/>
                        </a:rPr>
                        <a:t>1 o más personas naturales o jurídicas. Máximo 499 </a:t>
                      </a:r>
                      <a:r>
                        <a:rPr lang="es-CL" sz="800" b="0" i="0" kern="1200" noProof="0" dirty="0" err="1">
                          <a:solidFill>
                            <a:schemeClr val="dk1"/>
                          </a:solidFill>
                          <a:effectLst/>
                          <a:latin typeface="+mn-lt"/>
                          <a:ea typeface="+mn-ea"/>
                          <a:cs typeface="+mn-cs"/>
                        </a:rPr>
                        <a:t>ó</a:t>
                      </a:r>
                      <a:r>
                        <a:rPr lang="es-CL" sz="800" b="0" i="0" kern="1200" noProof="0" dirty="0">
                          <a:solidFill>
                            <a:schemeClr val="dk1"/>
                          </a:solidFill>
                          <a:effectLst/>
                          <a:latin typeface="+mn-lt"/>
                          <a:ea typeface="+mn-ea"/>
                          <a:cs typeface="+mn-cs"/>
                        </a:rPr>
                        <a:t> 99 con 10% del capital.</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Escritura pública o privada con firmas autorizadas por Notario</a:t>
                      </a:r>
                    </a:p>
                    <a:p>
                      <a:endParaRPr lang="es-CL" sz="800" noProof="0" dirty="0"/>
                    </a:p>
                  </a:txBody>
                  <a:tcPr marL="68580" marR="68580" marT="34290" marB="34290"/>
                </a:tc>
                <a:extLst>
                  <a:ext uri="{0D108BD9-81ED-4DB2-BD59-A6C34878D82A}">
                    <a16:rowId xmlns:a16="http://schemas.microsoft.com/office/drawing/2014/main" val="10003"/>
                  </a:ext>
                </a:extLst>
              </a:tr>
              <a:tr h="1101968">
                <a:tc>
                  <a:txBody>
                    <a:bodyPr/>
                    <a:lstStyle/>
                    <a:p>
                      <a:pPr fontAlgn="base"/>
                      <a:r>
                        <a:rPr lang="es-CL" sz="800" b="1" i="0" kern="1200" noProof="0" dirty="0">
                          <a:solidFill>
                            <a:schemeClr val="dk1"/>
                          </a:solidFill>
                          <a:effectLst/>
                          <a:latin typeface="+mn-lt"/>
                          <a:ea typeface="+mn-ea"/>
                          <a:cs typeface="+mn-cs"/>
                        </a:rPr>
                        <a:t>Administración EIRL, </a:t>
                      </a:r>
                      <a:r>
                        <a:rPr lang="es-CL" sz="800" b="0" i="0" kern="1200" noProof="0" dirty="0">
                          <a:solidFill>
                            <a:schemeClr val="dk1"/>
                          </a:solidFill>
                          <a:effectLst/>
                          <a:latin typeface="+mn-lt"/>
                          <a:ea typeface="+mn-ea"/>
                          <a:cs typeface="+mn-cs"/>
                        </a:rPr>
                        <a:t>Por Empresario EIRL o gerente (s) designado (s) por éste</a:t>
                      </a:r>
                    </a:p>
                    <a:p>
                      <a:endParaRPr lang="es-CL" sz="800" noProof="0" dirty="0"/>
                    </a:p>
                  </a:txBody>
                  <a:tcPr marL="68580" marR="68580" marT="34290" marB="34290"/>
                </a:tc>
                <a:tc>
                  <a:txBody>
                    <a:bodyPr/>
                    <a:lstStyle/>
                    <a:p>
                      <a:pPr fontAlgn="base"/>
                      <a:r>
                        <a:rPr lang="es-CL" sz="800" b="1" i="0" kern="1200" noProof="0" dirty="0">
                          <a:solidFill>
                            <a:schemeClr val="dk1"/>
                          </a:solidFill>
                          <a:effectLst/>
                          <a:latin typeface="+mn-lt"/>
                          <a:ea typeface="+mn-ea"/>
                          <a:cs typeface="+mn-cs"/>
                        </a:rPr>
                        <a:t>Administración SRL, </a:t>
                      </a:r>
                      <a:r>
                        <a:rPr lang="es-CL" sz="800" b="0" i="0" kern="1200" noProof="0" dirty="0">
                          <a:solidFill>
                            <a:schemeClr val="dk1"/>
                          </a:solidFill>
                          <a:effectLst/>
                          <a:latin typeface="+mn-lt"/>
                          <a:ea typeface="+mn-ea"/>
                          <a:cs typeface="+mn-cs"/>
                        </a:rPr>
                        <a:t>Uno o más socios de la SRL o tercero (s) administrador (s) designado (s) en constitución.</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Decisiones no delegadas en administrador (s) deben ser tomadas por unanimidad de socios.</a:t>
                      </a:r>
                    </a:p>
                    <a:p>
                      <a:endParaRPr lang="es-CL" sz="800" noProof="0" dirty="0"/>
                    </a:p>
                  </a:txBody>
                  <a:tcPr marL="68580" marR="68580" marT="34290" marB="34290"/>
                </a:tc>
                <a:tc>
                  <a:txBody>
                    <a:bodyPr/>
                    <a:lstStyle/>
                    <a:p>
                      <a:pPr fontAlgn="base"/>
                      <a:r>
                        <a:rPr lang="es-CL" sz="800" b="1" i="0" kern="1200" noProof="0" dirty="0">
                          <a:solidFill>
                            <a:schemeClr val="dk1"/>
                          </a:solidFill>
                          <a:effectLst/>
                          <a:latin typeface="+mn-lt"/>
                          <a:ea typeface="+mn-ea"/>
                          <a:cs typeface="+mn-cs"/>
                        </a:rPr>
                        <a:t>Administración S.A., </a:t>
                      </a:r>
                      <a:r>
                        <a:rPr lang="es-CL" sz="800" b="0" i="0" kern="1200" noProof="0" dirty="0">
                          <a:solidFill>
                            <a:schemeClr val="dk1"/>
                          </a:solidFill>
                          <a:effectLst/>
                          <a:latin typeface="+mn-lt"/>
                          <a:ea typeface="+mn-ea"/>
                          <a:cs typeface="+mn-cs"/>
                        </a:rPr>
                        <a:t>Directorio S.A. elegidos por Junta de Accionistas.</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Gerente (s) designado (s) por Directorio.</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Decisiones importantes conforme a la Ley de S.A. son tomadas por mayoría accionistas en junta.</a:t>
                      </a:r>
                    </a:p>
                    <a:p>
                      <a:endParaRPr lang="es-CL" sz="800" noProof="0" dirty="0"/>
                    </a:p>
                  </a:txBody>
                  <a:tcPr marL="68580" marR="68580" marT="34290" marB="34290"/>
                </a:tc>
                <a:tc>
                  <a:txBody>
                    <a:bodyPr/>
                    <a:lstStyle/>
                    <a:p>
                      <a:pPr fontAlgn="base"/>
                      <a:r>
                        <a:rPr lang="es-CL" sz="800" b="1" i="0" kern="1200" noProof="0" dirty="0">
                          <a:solidFill>
                            <a:schemeClr val="dk1"/>
                          </a:solidFill>
                          <a:effectLst/>
                          <a:latin typeface="+mn-lt"/>
                          <a:ea typeface="+mn-ea"/>
                          <a:cs typeface="+mn-cs"/>
                        </a:rPr>
                        <a:t>Administración </a:t>
                      </a:r>
                      <a:r>
                        <a:rPr lang="es-CL" sz="800" b="1" i="0" kern="1200" noProof="0" dirty="0" err="1">
                          <a:solidFill>
                            <a:schemeClr val="dk1"/>
                          </a:solidFill>
                          <a:effectLst/>
                          <a:latin typeface="+mn-lt"/>
                          <a:ea typeface="+mn-ea"/>
                          <a:cs typeface="+mn-cs"/>
                        </a:rPr>
                        <a:t>SpA</a:t>
                      </a:r>
                      <a:r>
                        <a:rPr lang="es-CL" sz="800" b="1" i="0" kern="1200" noProof="0" dirty="0">
                          <a:solidFill>
                            <a:schemeClr val="dk1"/>
                          </a:solidFill>
                          <a:effectLst/>
                          <a:latin typeface="+mn-lt"/>
                          <a:ea typeface="+mn-ea"/>
                          <a:cs typeface="+mn-cs"/>
                        </a:rPr>
                        <a:t>, </a:t>
                      </a:r>
                      <a:r>
                        <a:rPr lang="es-CL" sz="800" b="0" i="0" kern="1200" noProof="0" dirty="0">
                          <a:solidFill>
                            <a:schemeClr val="dk1"/>
                          </a:solidFill>
                          <a:effectLst/>
                          <a:latin typeface="+mn-lt"/>
                          <a:ea typeface="+mn-ea"/>
                          <a:cs typeface="+mn-cs"/>
                        </a:rPr>
                        <a:t>Uno o más administradores (como una SRL) o directorio (como en una S.A.)</a:t>
                      </a:r>
                    </a:p>
                    <a:p>
                      <a:endParaRPr lang="es-CL" sz="800" noProof="0" dirty="0"/>
                    </a:p>
                  </a:txBody>
                  <a:tcPr marL="68580" marR="68580" marT="34290" marB="34290"/>
                </a:tc>
                <a:extLst>
                  <a:ext uri="{0D108BD9-81ED-4DB2-BD59-A6C34878D82A}">
                    <a16:rowId xmlns:a16="http://schemas.microsoft.com/office/drawing/2014/main" val="10004"/>
                  </a:ext>
                </a:extLst>
              </a:tr>
            </a:tbl>
          </a:graphicData>
        </a:graphic>
      </p:graphicFrame>
      <p:pic>
        <p:nvPicPr>
          <p:cNvPr id="3" name="Imagen 2"/>
          <p:cNvPicPr>
            <a:picLocks noChangeAspect="1"/>
          </p:cNvPicPr>
          <p:nvPr/>
        </p:nvPicPr>
        <p:blipFill>
          <a:blip r:embed="rId2"/>
          <a:stretch>
            <a:fillRect/>
          </a:stretch>
        </p:blipFill>
        <p:spPr>
          <a:xfrm>
            <a:off x="9388236" y="6132429"/>
            <a:ext cx="926672" cy="249958"/>
          </a:xfrm>
          <a:prstGeom prst="rect">
            <a:avLst/>
          </a:prstGeom>
        </p:spPr>
      </p:pic>
    </p:spTree>
    <p:extLst>
      <p:ext uri="{BB962C8B-B14F-4D97-AF65-F5344CB8AC3E}">
        <p14:creationId xmlns:p14="http://schemas.microsoft.com/office/powerpoint/2010/main" val="714504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09900" y="1063228"/>
            <a:ext cx="6172200" cy="36755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s-CL" sz="2100" dirty="0"/>
              <a:t>Cuadro Comparativo de Empresas (continuación 2)</a:t>
            </a:r>
          </a:p>
        </p:txBody>
      </p:sp>
      <p:graphicFrame>
        <p:nvGraphicFramePr>
          <p:cNvPr id="4" name="3 Marcador de contenido"/>
          <p:cNvGraphicFramePr>
            <a:graphicFrameLocks noGrp="1"/>
          </p:cNvGraphicFramePr>
          <p:nvPr>
            <p:ph idx="1"/>
          </p:nvPr>
        </p:nvGraphicFramePr>
        <p:xfrm>
          <a:off x="3009900" y="1538288"/>
          <a:ext cx="6172200" cy="2735580"/>
        </p:xfrm>
        <a:graphic>
          <a:graphicData uri="http://schemas.openxmlformats.org/drawingml/2006/table">
            <a:tbl>
              <a:tblPr firstRow="1" bandRow="1">
                <a:tableStyleId>{5C22544A-7EE6-4342-B048-85BDC9FD1C3A}</a:tableStyleId>
              </a:tblPr>
              <a:tblGrid>
                <a:gridCol w="1543050">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1543050">
                  <a:extLst>
                    <a:ext uri="{9D8B030D-6E8A-4147-A177-3AD203B41FA5}">
                      <a16:colId xmlns:a16="http://schemas.microsoft.com/office/drawing/2014/main" val="20003"/>
                    </a:ext>
                  </a:extLst>
                </a:gridCol>
              </a:tblGrid>
              <a:tr h="274320">
                <a:tc>
                  <a:txBody>
                    <a:bodyPr/>
                    <a:lstStyle/>
                    <a:p>
                      <a:r>
                        <a:rPr lang="es-CL" sz="1400" noProof="0" dirty="0"/>
                        <a:t>E.I.R.L.</a:t>
                      </a:r>
                    </a:p>
                  </a:txBody>
                  <a:tcPr marL="68580" marR="68580" marT="34290" marB="34290"/>
                </a:tc>
                <a:tc>
                  <a:txBody>
                    <a:bodyPr/>
                    <a:lstStyle/>
                    <a:p>
                      <a:r>
                        <a:rPr lang="es-CL" sz="1400" noProof="0" dirty="0"/>
                        <a:t>S.R.L.</a:t>
                      </a:r>
                    </a:p>
                  </a:txBody>
                  <a:tcPr marL="68580" marR="68580" marT="34290" marB="34290"/>
                </a:tc>
                <a:tc>
                  <a:txBody>
                    <a:bodyPr/>
                    <a:lstStyle/>
                    <a:p>
                      <a:r>
                        <a:rPr lang="es-CL" sz="1400" noProof="0" dirty="0"/>
                        <a:t>S.A.</a:t>
                      </a:r>
                    </a:p>
                  </a:txBody>
                  <a:tcPr marL="68580" marR="68580" marT="34290" marB="34290"/>
                </a:tc>
                <a:tc>
                  <a:txBody>
                    <a:bodyPr/>
                    <a:lstStyle/>
                    <a:p>
                      <a:r>
                        <a:rPr lang="es-CL" sz="1400" noProof="0" dirty="0"/>
                        <a:t>S.P.A.</a:t>
                      </a:r>
                    </a:p>
                  </a:txBody>
                  <a:tcPr marL="68580" marR="68580" marT="34290" marB="34290"/>
                </a:tc>
                <a:extLst>
                  <a:ext uri="{0D108BD9-81ED-4DB2-BD59-A6C34878D82A}">
                    <a16:rowId xmlns:a16="http://schemas.microsoft.com/office/drawing/2014/main" val="10000"/>
                  </a:ext>
                </a:extLst>
              </a:tr>
              <a:tr h="982980">
                <a:tc>
                  <a:txBody>
                    <a:bodyPr/>
                    <a:lstStyle/>
                    <a:p>
                      <a:pPr algn="just" fontAlgn="base"/>
                      <a:r>
                        <a:rPr lang="es-CL" sz="800" b="1" i="0" kern="1200" noProof="0" dirty="0">
                          <a:solidFill>
                            <a:schemeClr val="dk1"/>
                          </a:solidFill>
                          <a:effectLst/>
                          <a:latin typeface="+mn-lt"/>
                          <a:ea typeface="+mn-ea"/>
                          <a:cs typeface="+mn-cs"/>
                        </a:rPr>
                        <a:t>Mantenimiento EIRL, </a:t>
                      </a:r>
                      <a:r>
                        <a:rPr lang="es-CL" sz="800" b="0" i="0" kern="1200" noProof="0" dirty="0">
                          <a:solidFill>
                            <a:schemeClr val="dk1"/>
                          </a:solidFill>
                          <a:effectLst/>
                          <a:latin typeface="+mn-lt"/>
                          <a:ea typeface="+mn-ea"/>
                          <a:cs typeface="+mn-cs"/>
                        </a:rPr>
                        <a:t>Documentación contable y tributaria. Ventaja contabilidad simplificada</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Mantenimiento SRL, </a:t>
                      </a:r>
                      <a:r>
                        <a:rPr lang="es-CL" sz="800" b="0" i="0" kern="1200" noProof="0" dirty="0">
                          <a:solidFill>
                            <a:schemeClr val="dk1"/>
                          </a:solidFill>
                          <a:effectLst/>
                          <a:latin typeface="+mn-lt"/>
                          <a:ea typeface="+mn-ea"/>
                          <a:cs typeface="+mn-cs"/>
                        </a:rPr>
                        <a:t>Documentación contable y tributaria de la SRL</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Mantenimiento S.A., </a:t>
                      </a:r>
                      <a:r>
                        <a:rPr lang="es-CL" sz="800" b="0" i="0" kern="1200" noProof="0" dirty="0">
                          <a:solidFill>
                            <a:schemeClr val="dk1"/>
                          </a:solidFill>
                          <a:effectLst/>
                          <a:latin typeface="+mn-lt"/>
                          <a:ea typeface="+mn-ea"/>
                          <a:cs typeface="+mn-cs"/>
                        </a:rPr>
                        <a:t>Documentación contable y tributaria de la S.A.</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Sesiones Directorio.</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Juntas de Accionistas.</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Registro de Accionistas.</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Mantenimiento </a:t>
                      </a:r>
                      <a:r>
                        <a:rPr lang="es-CL" sz="800" b="1" i="0" kern="1200" noProof="0" dirty="0" err="1">
                          <a:solidFill>
                            <a:schemeClr val="dk1"/>
                          </a:solidFill>
                          <a:effectLst/>
                          <a:latin typeface="+mn-lt"/>
                          <a:ea typeface="+mn-ea"/>
                          <a:cs typeface="+mn-cs"/>
                        </a:rPr>
                        <a:t>SpA</a:t>
                      </a:r>
                      <a:r>
                        <a:rPr lang="es-CL" sz="800" b="1" i="0" kern="1200" noProof="0" dirty="0">
                          <a:solidFill>
                            <a:schemeClr val="dk1"/>
                          </a:solidFill>
                          <a:effectLst/>
                          <a:latin typeface="+mn-lt"/>
                          <a:ea typeface="+mn-ea"/>
                          <a:cs typeface="+mn-cs"/>
                        </a:rPr>
                        <a:t>, </a:t>
                      </a:r>
                      <a:r>
                        <a:rPr lang="es-CL" sz="800" b="0" i="0" kern="1200" noProof="0" dirty="0">
                          <a:solidFill>
                            <a:schemeClr val="dk1"/>
                          </a:solidFill>
                          <a:effectLst/>
                          <a:latin typeface="+mn-lt"/>
                          <a:ea typeface="+mn-ea"/>
                          <a:cs typeface="+mn-cs"/>
                        </a:rPr>
                        <a:t>Documentación contable y tributaria de la </a:t>
                      </a:r>
                      <a:r>
                        <a:rPr lang="es-CL" sz="800" b="0" i="0" kern="1200" noProof="0" dirty="0" err="1">
                          <a:solidFill>
                            <a:schemeClr val="dk1"/>
                          </a:solidFill>
                          <a:effectLst/>
                          <a:latin typeface="+mn-lt"/>
                          <a:ea typeface="+mn-ea"/>
                          <a:cs typeface="+mn-cs"/>
                        </a:rPr>
                        <a:t>SpA</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Registro de Accionistas.</a:t>
                      </a:r>
                      <a:br>
                        <a:rPr lang="es-CL" sz="800" b="0" i="0" kern="1200" noProof="0" dirty="0">
                          <a:solidFill>
                            <a:schemeClr val="dk1"/>
                          </a:solidFill>
                          <a:effectLst/>
                          <a:latin typeface="+mn-lt"/>
                          <a:ea typeface="+mn-ea"/>
                          <a:cs typeface="+mn-cs"/>
                        </a:rPr>
                      </a:br>
                      <a:r>
                        <a:rPr lang="es-CL" sz="800" b="0" i="0" kern="1200" noProof="0" dirty="0">
                          <a:solidFill>
                            <a:schemeClr val="dk1"/>
                          </a:solidFill>
                          <a:effectLst/>
                          <a:latin typeface="+mn-lt"/>
                          <a:ea typeface="+mn-ea"/>
                          <a:cs typeface="+mn-cs"/>
                        </a:rPr>
                        <a:t>Al menos 1 junta de accionistas al año. Si se ha elegido directorio debe dejarse acta de sesiones.</a:t>
                      </a:r>
                    </a:p>
                    <a:p>
                      <a:pPr algn="just"/>
                      <a:endParaRPr lang="es-CL" sz="800" noProof="0" dirty="0"/>
                    </a:p>
                  </a:txBody>
                  <a:tcPr marL="68580" marR="68580" marT="34290" marB="34290"/>
                </a:tc>
                <a:extLst>
                  <a:ext uri="{0D108BD9-81ED-4DB2-BD59-A6C34878D82A}">
                    <a16:rowId xmlns:a16="http://schemas.microsoft.com/office/drawing/2014/main" val="10001"/>
                  </a:ext>
                </a:extLst>
              </a:tr>
              <a:tr h="982980">
                <a:tc>
                  <a:txBody>
                    <a:bodyPr/>
                    <a:lstStyle/>
                    <a:p>
                      <a:pPr algn="just" fontAlgn="base"/>
                      <a:r>
                        <a:rPr lang="es-CL" sz="800" b="1" i="0" kern="1200" noProof="0" dirty="0">
                          <a:solidFill>
                            <a:schemeClr val="dk1"/>
                          </a:solidFill>
                          <a:effectLst/>
                          <a:latin typeface="+mn-lt"/>
                          <a:ea typeface="+mn-ea"/>
                          <a:cs typeface="+mn-cs"/>
                        </a:rPr>
                        <a:t>Venta Derechos EIRL</a:t>
                      </a:r>
                      <a:endParaRPr lang="es-CL" sz="800" b="0" i="0" kern="1200" noProof="0" dirty="0">
                        <a:solidFill>
                          <a:schemeClr val="dk1"/>
                        </a:solidFill>
                        <a:effectLst/>
                        <a:latin typeface="+mn-lt"/>
                        <a:ea typeface="+mn-ea"/>
                        <a:cs typeface="+mn-cs"/>
                      </a:endParaRPr>
                    </a:p>
                    <a:p>
                      <a:pPr algn="just" fontAlgn="base"/>
                      <a:r>
                        <a:rPr lang="es-CL" sz="800" b="0" i="0" kern="1200" noProof="0" dirty="0">
                          <a:solidFill>
                            <a:schemeClr val="dk1"/>
                          </a:solidFill>
                          <a:effectLst/>
                          <a:latin typeface="+mn-lt"/>
                          <a:ea typeface="+mn-ea"/>
                          <a:cs typeface="+mn-cs"/>
                        </a:rPr>
                        <a:t>No permite el ingreso de socios</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Venta derechos SRL, </a:t>
                      </a:r>
                      <a:r>
                        <a:rPr lang="es-CL" sz="800" b="0" i="0" kern="1200" noProof="0" dirty="0">
                          <a:solidFill>
                            <a:schemeClr val="dk1"/>
                          </a:solidFill>
                          <a:effectLst/>
                          <a:latin typeface="+mn-lt"/>
                          <a:ea typeface="+mn-ea"/>
                          <a:cs typeface="+mn-cs"/>
                        </a:rPr>
                        <a:t>Venta de derechos requiere acuerdo unánime de todos los socios. Transferencia de derechos limitada. El socio que quiere salir de la SRL vendiendo su parte no es enteramente libre de hacerlo.</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Venta Acciones S.A., </a:t>
                      </a:r>
                      <a:r>
                        <a:rPr lang="es-CL" sz="800" b="0" i="0" kern="1200" noProof="0" dirty="0">
                          <a:solidFill>
                            <a:schemeClr val="dk1"/>
                          </a:solidFill>
                          <a:effectLst/>
                          <a:latin typeface="+mn-lt"/>
                          <a:ea typeface="+mn-ea"/>
                          <a:cs typeface="+mn-cs"/>
                        </a:rPr>
                        <a:t>Venta de acciones no requiere autorización del resto de accionistas. El accionista que quiera vender sus acciones es libre de hacerlo, salvo que suscriba un pacto de accionistas que limite estas transferencias.</a:t>
                      </a:r>
                    </a:p>
                    <a:p>
                      <a:pPr algn="just"/>
                      <a:endParaRPr lang="es-CL" sz="800" noProof="0" dirty="0"/>
                    </a:p>
                  </a:txBody>
                  <a:tcPr marL="68580" marR="68580" marT="34290" marB="34290"/>
                </a:tc>
                <a:tc>
                  <a:txBody>
                    <a:bodyPr/>
                    <a:lstStyle/>
                    <a:p>
                      <a:pPr algn="just" fontAlgn="base"/>
                      <a:r>
                        <a:rPr lang="es-CL" sz="800" b="1" i="0" kern="1200" noProof="0" dirty="0">
                          <a:solidFill>
                            <a:schemeClr val="dk1"/>
                          </a:solidFill>
                          <a:effectLst/>
                          <a:latin typeface="+mn-lt"/>
                          <a:ea typeface="+mn-ea"/>
                          <a:cs typeface="+mn-cs"/>
                        </a:rPr>
                        <a:t>Venta Acciones </a:t>
                      </a:r>
                      <a:r>
                        <a:rPr lang="es-CL" sz="800" b="1" i="0" kern="1200" noProof="0" dirty="0" err="1">
                          <a:solidFill>
                            <a:schemeClr val="dk1"/>
                          </a:solidFill>
                          <a:effectLst/>
                          <a:latin typeface="+mn-lt"/>
                          <a:ea typeface="+mn-ea"/>
                          <a:cs typeface="+mn-cs"/>
                        </a:rPr>
                        <a:t>SpA</a:t>
                      </a:r>
                      <a:r>
                        <a:rPr lang="es-CL" sz="800" b="1" i="0" kern="1200" noProof="0" dirty="0">
                          <a:solidFill>
                            <a:schemeClr val="dk1"/>
                          </a:solidFill>
                          <a:effectLst/>
                          <a:latin typeface="+mn-lt"/>
                          <a:ea typeface="+mn-ea"/>
                          <a:cs typeface="+mn-cs"/>
                        </a:rPr>
                        <a:t>, </a:t>
                      </a:r>
                      <a:r>
                        <a:rPr lang="es-CL" sz="800" b="0" i="0" kern="1200" noProof="0" dirty="0">
                          <a:solidFill>
                            <a:schemeClr val="dk1"/>
                          </a:solidFill>
                          <a:effectLst/>
                          <a:latin typeface="+mn-lt"/>
                          <a:ea typeface="+mn-ea"/>
                          <a:cs typeface="+mn-cs"/>
                        </a:rPr>
                        <a:t>Venta de acciones no requiere autorización del resto de los accionistas. El accionista que quiera vender es libre de hacerlo, salvo que suscriba un pacto de accionistas que limite estas transferencias.</a:t>
                      </a:r>
                    </a:p>
                    <a:p>
                      <a:pPr algn="just"/>
                      <a:endParaRPr lang="es-CL" sz="800" noProof="0" dirty="0"/>
                    </a:p>
                  </a:txBody>
                  <a:tcPr marL="68580" marR="68580" marT="34290" marB="34290"/>
                </a:tc>
                <a:extLst>
                  <a:ext uri="{0D108BD9-81ED-4DB2-BD59-A6C34878D82A}">
                    <a16:rowId xmlns:a16="http://schemas.microsoft.com/office/drawing/2014/main" val="10002"/>
                  </a:ext>
                </a:extLst>
              </a:tr>
            </a:tbl>
          </a:graphicData>
        </a:graphic>
      </p:graphicFrame>
      <p:pic>
        <p:nvPicPr>
          <p:cNvPr id="3" name="Imagen 2"/>
          <p:cNvPicPr>
            <a:picLocks noChangeAspect="1"/>
          </p:cNvPicPr>
          <p:nvPr/>
        </p:nvPicPr>
        <p:blipFill>
          <a:blip r:embed="rId2"/>
          <a:stretch>
            <a:fillRect/>
          </a:stretch>
        </p:blipFill>
        <p:spPr>
          <a:xfrm>
            <a:off x="9182100" y="6145193"/>
            <a:ext cx="926672" cy="249958"/>
          </a:xfrm>
          <a:prstGeom prst="rect">
            <a:avLst/>
          </a:prstGeom>
        </p:spPr>
      </p:pic>
    </p:spTree>
    <p:extLst>
      <p:ext uri="{BB962C8B-B14F-4D97-AF65-F5344CB8AC3E}">
        <p14:creationId xmlns:p14="http://schemas.microsoft.com/office/powerpoint/2010/main" val="1459163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normAutofit/>
          </a:bodyPr>
          <a:lstStyle/>
          <a:p>
            <a:r>
              <a:rPr lang="es-CL" noProof="0" dirty="0"/>
              <a:t>¿Qué son las finanzas?</a:t>
            </a:r>
          </a:p>
        </p:txBody>
      </p:sp>
      <p:pic>
        <p:nvPicPr>
          <p:cNvPr id="4" name="Imagen 3"/>
          <p:cNvPicPr>
            <a:picLocks noChangeAspect="1"/>
          </p:cNvPicPr>
          <p:nvPr/>
        </p:nvPicPr>
        <p:blipFill>
          <a:blip r:embed="rId2"/>
          <a:stretch>
            <a:fillRect/>
          </a:stretch>
        </p:blipFill>
        <p:spPr>
          <a:xfrm>
            <a:off x="5183188" y="1112643"/>
            <a:ext cx="6172200" cy="4623192"/>
          </a:xfrm>
          <a:prstGeom prst="rect">
            <a:avLst/>
          </a:prstGeom>
          <a:noFill/>
        </p:spPr>
      </p:pic>
      <p:sp>
        <p:nvSpPr>
          <p:cNvPr id="3" name="Marcador de contenido 2"/>
          <p:cNvSpPr>
            <a:spLocks noGrp="1"/>
          </p:cNvSpPr>
          <p:nvPr>
            <p:ph type="body" sz="half" idx="2"/>
          </p:nvPr>
        </p:nvSpPr>
        <p:spPr>
          <a:xfrm>
            <a:off x="839788" y="2101850"/>
            <a:ext cx="3932237" cy="3759200"/>
          </a:xfrm>
        </p:spPr>
        <p:txBody>
          <a:bodyPr>
            <a:normAutofit/>
          </a:bodyPr>
          <a:lstStyle/>
          <a:p>
            <a:r>
              <a:rPr lang="es-CL" noProof="0" dirty="0"/>
              <a:t>Las finanzas corresponden a un área de la </a:t>
            </a:r>
            <a:r>
              <a:rPr lang="es-CL" b="1" noProof="0" dirty="0">
                <a:hlinkClick r:id="rId3"/>
              </a:rPr>
              <a:t>economía</a:t>
            </a:r>
            <a:r>
              <a:rPr lang="es-CL" noProof="0" dirty="0"/>
              <a:t> que estudia la obtención y administración del dinero y el capital, es decir, los recursos financieros. </a:t>
            </a:r>
          </a:p>
          <a:p>
            <a:endParaRPr lang="es-CL" noProof="0" dirty="0"/>
          </a:p>
          <a:p>
            <a:r>
              <a:rPr lang="es-CL" noProof="0" dirty="0"/>
              <a:t>Estudia tanto la obtención de esos recursos (financiación), así como la inversión y el ahorro de los mismos.</a:t>
            </a:r>
          </a:p>
          <a:p>
            <a:endParaRPr lang="es-CL" noProof="0" dirty="0"/>
          </a:p>
          <a:p>
            <a:endParaRPr lang="es-CL" noProof="0" dirty="0"/>
          </a:p>
          <a:p>
            <a:r>
              <a:rPr lang="es-CL" noProof="0" dirty="0"/>
              <a:t>Fuente: Economipedia</a:t>
            </a:r>
          </a:p>
        </p:txBody>
      </p:sp>
    </p:spTree>
    <p:extLst>
      <p:ext uri="{BB962C8B-B14F-4D97-AF65-F5344CB8AC3E}">
        <p14:creationId xmlns:p14="http://schemas.microsoft.com/office/powerpoint/2010/main" val="107089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Por lo tanto, la responsabilidad de las finanzas es:</a:t>
            </a:r>
          </a:p>
        </p:txBody>
      </p:sp>
      <p:sp>
        <p:nvSpPr>
          <p:cNvPr id="3" name="Marcador de contenido 2"/>
          <p:cNvSpPr>
            <a:spLocks noGrp="1"/>
          </p:cNvSpPr>
          <p:nvPr>
            <p:ph idx="1"/>
          </p:nvPr>
        </p:nvSpPr>
        <p:spPr/>
        <p:txBody>
          <a:bodyPr>
            <a:normAutofit/>
          </a:bodyPr>
          <a:lstStyle/>
          <a:p>
            <a:pPr marL="285750" indent="-285750">
              <a:buFont typeface="Arial" panose="020B0604020202020204" pitchFamily="34" charset="0"/>
              <a:buChar char="•"/>
            </a:pPr>
            <a:r>
              <a:rPr lang="es-CL" sz="1800" noProof="0" dirty="0">
                <a:solidFill>
                  <a:schemeClr val="tx1"/>
                </a:solidFill>
              </a:rPr>
              <a:t>Inversión.</a:t>
            </a:r>
          </a:p>
          <a:p>
            <a:pPr marL="285750" indent="-285750">
              <a:buFont typeface="Arial" panose="020B0604020202020204" pitchFamily="34" charset="0"/>
              <a:buChar char="•"/>
            </a:pPr>
            <a:r>
              <a:rPr lang="es-CL" sz="1800" noProof="0" dirty="0">
                <a:solidFill>
                  <a:schemeClr val="tx1"/>
                </a:solidFill>
              </a:rPr>
              <a:t>Financiamiento.</a:t>
            </a:r>
          </a:p>
          <a:p>
            <a:pPr marL="285750" indent="-285750">
              <a:buFont typeface="Arial" panose="020B0604020202020204" pitchFamily="34" charset="0"/>
              <a:buChar char="•"/>
            </a:pPr>
            <a:r>
              <a:rPr lang="es-CL" sz="1800" noProof="0" dirty="0">
                <a:solidFill>
                  <a:schemeClr val="tx1"/>
                </a:solidFill>
              </a:rPr>
              <a:t>Rentabilidad (reparto de utilidades)</a:t>
            </a:r>
          </a:p>
        </p:txBody>
      </p:sp>
      <p:pic>
        <p:nvPicPr>
          <p:cNvPr id="5" name="Imagen 4"/>
          <p:cNvPicPr>
            <a:picLocks noChangeAspect="1"/>
          </p:cNvPicPr>
          <p:nvPr/>
        </p:nvPicPr>
        <p:blipFill rotWithShape="1">
          <a:blip r:embed="rId2"/>
          <a:srcRect l="270" t="8530" r="-127" b="9625"/>
          <a:stretch/>
        </p:blipFill>
        <p:spPr>
          <a:xfrm>
            <a:off x="5236336" y="1947114"/>
            <a:ext cx="6220496" cy="4108360"/>
          </a:xfrm>
          <a:prstGeom prst="rect">
            <a:avLst/>
          </a:prstGeom>
        </p:spPr>
      </p:pic>
    </p:spTree>
    <p:extLst>
      <p:ext uri="{BB962C8B-B14F-4D97-AF65-F5344CB8AC3E}">
        <p14:creationId xmlns:p14="http://schemas.microsoft.com/office/powerpoint/2010/main" val="1584574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4434" y="0"/>
            <a:ext cx="10749367" cy="1208867"/>
          </a:xfrm>
        </p:spPr>
        <p:txBody>
          <a:bodyPr>
            <a:normAutofit/>
          </a:bodyPr>
          <a:lstStyle/>
          <a:p>
            <a:r>
              <a:rPr lang="es-CL" noProof="0" dirty="0"/>
              <a:t>¿Qué es la contabilidad?, </a:t>
            </a:r>
            <a:br>
              <a:rPr lang="es-CL" noProof="0" dirty="0"/>
            </a:br>
            <a:r>
              <a:rPr lang="es-CL" noProof="0" dirty="0"/>
              <a:t>¿Cuál es su objetivo?</a:t>
            </a:r>
          </a:p>
        </p:txBody>
      </p:sp>
      <p:sp>
        <p:nvSpPr>
          <p:cNvPr id="3" name="Marcador de contenido 2"/>
          <p:cNvSpPr>
            <a:spLocks noGrp="1"/>
          </p:cNvSpPr>
          <p:nvPr>
            <p:ph idx="1"/>
          </p:nvPr>
        </p:nvSpPr>
        <p:spPr/>
        <p:txBody>
          <a:bodyPr>
            <a:normAutofit fontScale="92500"/>
          </a:bodyPr>
          <a:lstStyle/>
          <a:p>
            <a:r>
              <a:rPr lang="es-CL" noProof="0" dirty="0"/>
              <a:t>La contabilidad es la disciplina que permite reflejar la actividad económica de un negocio. Se basa en un conjunto de procedimientos estandarizados.</a:t>
            </a:r>
          </a:p>
          <a:p>
            <a:r>
              <a:rPr lang="es-CL" noProof="0" dirty="0"/>
              <a:t>El objetivo de la contabilidad es proporcionar información de confianza sobre los resultados de una empresa obtenidos en un periodo de tiempo determinado. Asimismo, sirve para que aquellos que administran el negocio puedan tomar decisiones de acuerdo a esta información.</a:t>
            </a:r>
          </a:p>
        </p:txBody>
      </p:sp>
      <p:pic>
        <p:nvPicPr>
          <p:cNvPr id="4" name="Imagen 3"/>
          <p:cNvPicPr>
            <a:picLocks noChangeAspect="1"/>
          </p:cNvPicPr>
          <p:nvPr/>
        </p:nvPicPr>
        <p:blipFill>
          <a:blip r:embed="rId2"/>
          <a:stretch>
            <a:fillRect/>
          </a:stretch>
        </p:blipFill>
        <p:spPr>
          <a:xfrm>
            <a:off x="7070501" y="154546"/>
            <a:ext cx="3694089" cy="6703454"/>
          </a:xfrm>
          <a:prstGeom prst="rect">
            <a:avLst/>
          </a:prstGeom>
        </p:spPr>
      </p:pic>
    </p:spTree>
    <p:extLst>
      <p:ext uri="{BB962C8B-B14F-4D97-AF65-F5344CB8AC3E}">
        <p14:creationId xmlns:p14="http://schemas.microsoft.com/office/powerpoint/2010/main" val="3150234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D3B82546-B569-8C06-082D-DDD398DEC2E1}"/>
              </a:ext>
            </a:extLst>
          </p:cNvPr>
          <p:cNvPicPr>
            <a:picLocks noChangeAspect="1"/>
          </p:cNvPicPr>
          <p:nvPr/>
        </p:nvPicPr>
        <p:blipFill>
          <a:blip r:embed="rId2"/>
          <a:srcRect l="33023" t="22279" r="33489" b="9751"/>
          <a:stretch>
            <a:fillRect/>
          </a:stretch>
        </p:blipFill>
        <p:spPr>
          <a:xfrm>
            <a:off x="3508744" y="425303"/>
            <a:ext cx="5103628" cy="5826642"/>
          </a:xfrm>
          <a:prstGeom prst="rect">
            <a:avLst/>
          </a:prstGeom>
        </p:spPr>
      </p:pic>
    </p:spTree>
    <p:extLst>
      <p:ext uri="{BB962C8B-B14F-4D97-AF65-F5344CB8AC3E}">
        <p14:creationId xmlns:p14="http://schemas.microsoft.com/office/powerpoint/2010/main" val="1631725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6672" y="400051"/>
            <a:ext cx="5576552" cy="5619750"/>
          </a:xfrm>
        </p:spPr>
        <p:txBody>
          <a:bodyPr>
            <a:noAutofit/>
          </a:bodyPr>
          <a:lstStyle/>
          <a:p>
            <a:pPr marL="0" indent="0">
              <a:buNone/>
            </a:pPr>
            <a:r>
              <a:rPr lang="es-CL" sz="2400" b="1" noProof="0" dirty="0">
                <a:solidFill>
                  <a:schemeClr val="bg1"/>
                </a:solidFill>
              </a:rPr>
              <a:t>Balance General: </a:t>
            </a:r>
          </a:p>
          <a:p>
            <a:pPr marL="0" indent="0">
              <a:buNone/>
            </a:pPr>
            <a:endParaRPr lang="es-CL" b="1" noProof="0" dirty="0"/>
          </a:p>
          <a:p>
            <a:r>
              <a:rPr lang="es-CL" sz="1800" noProof="0" dirty="0">
                <a:solidFill>
                  <a:schemeClr val="tx1"/>
                </a:solidFill>
              </a:rPr>
              <a:t>Es un estado que refleja la situación financiera de la empresa en un momento determinado. </a:t>
            </a:r>
          </a:p>
          <a:p>
            <a:r>
              <a:rPr lang="es-CL" sz="1800" noProof="0" dirty="0">
                <a:solidFill>
                  <a:schemeClr val="tx1"/>
                </a:solidFill>
              </a:rPr>
              <a:t>Su estructura está compuesta por los </a:t>
            </a:r>
            <a:r>
              <a:rPr lang="es-CL" sz="1800" b="1" noProof="0" dirty="0">
                <a:solidFill>
                  <a:schemeClr val="tx1"/>
                </a:solidFill>
              </a:rPr>
              <a:t>Activos</a:t>
            </a:r>
            <a:r>
              <a:rPr lang="es-CL" sz="1800" noProof="0" dirty="0">
                <a:solidFill>
                  <a:schemeClr val="tx1"/>
                </a:solidFill>
              </a:rPr>
              <a:t>, los </a:t>
            </a:r>
            <a:r>
              <a:rPr lang="es-CL" sz="1800" b="1" noProof="0" dirty="0">
                <a:solidFill>
                  <a:schemeClr val="tx1"/>
                </a:solidFill>
              </a:rPr>
              <a:t>Pasivos</a:t>
            </a:r>
            <a:r>
              <a:rPr lang="es-CL" sz="1800" noProof="0" dirty="0">
                <a:solidFill>
                  <a:schemeClr val="tx1"/>
                </a:solidFill>
              </a:rPr>
              <a:t> y el </a:t>
            </a:r>
            <a:r>
              <a:rPr lang="es-CL" sz="1800" b="1" noProof="0" dirty="0">
                <a:solidFill>
                  <a:schemeClr val="tx1"/>
                </a:solidFill>
              </a:rPr>
              <a:t>Patrimonio</a:t>
            </a:r>
            <a:r>
              <a:rPr lang="es-CL" sz="1800" noProof="0" dirty="0">
                <a:solidFill>
                  <a:schemeClr val="tx1"/>
                </a:solidFill>
              </a:rPr>
              <a:t>.</a:t>
            </a:r>
          </a:p>
          <a:p>
            <a:r>
              <a:rPr lang="es-CL" sz="1800" noProof="0" dirty="0">
                <a:solidFill>
                  <a:schemeClr val="tx1"/>
                </a:solidFill>
              </a:rPr>
              <a:t>Es una foto de la empresa en un momento. Es estática.</a:t>
            </a:r>
          </a:p>
          <a:p>
            <a:r>
              <a:rPr lang="es-CL" sz="1800" noProof="0" dirty="0">
                <a:solidFill>
                  <a:schemeClr val="tx1"/>
                </a:solidFill>
              </a:rPr>
              <a:t>Se realiza en un formato predeterminado.</a:t>
            </a:r>
          </a:p>
          <a:p>
            <a:pPr lvl="1"/>
            <a:endParaRPr lang="es-CL" noProof="0" dirty="0"/>
          </a:p>
        </p:txBody>
      </p:sp>
      <p:pic>
        <p:nvPicPr>
          <p:cNvPr id="2" name="Imagen 1"/>
          <p:cNvPicPr>
            <a:picLocks noChangeAspect="1"/>
          </p:cNvPicPr>
          <p:nvPr/>
        </p:nvPicPr>
        <p:blipFill>
          <a:blip r:embed="rId2"/>
          <a:stretch>
            <a:fillRect/>
          </a:stretch>
        </p:blipFill>
        <p:spPr>
          <a:xfrm>
            <a:off x="6143224" y="2469745"/>
            <a:ext cx="5753570" cy="3448097"/>
          </a:xfrm>
          <a:prstGeom prst="rect">
            <a:avLst/>
          </a:prstGeom>
        </p:spPr>
      </p:pic>
    </p:spTree>
    <p:extLst>
      <p:ext uri="{BB962C8B-B14F-4D97-AF65-F5344CB8AC3E}">
        <p14:creationId xmlns:p14="http://schemas.microsoft.com/office/powerpoint/2010/main" val="3784846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5059" y="1709882"/>
            <a:ext cx="10947041" cy="3707148"/>
          </a:xfrm>
        </p:spPr>
        <p:txBody>
          <a:bodyPr>
            <a:normAutofit/>
          </a:bodyPr>
          <a:lstStyle/>
          <a:p>
            <a:r>
              <a:rPr lang="es-CL" sz="1800" b="1" i="1" u="sng" noProof="0" dirty="0">
                <a:solidFill>
                  <a:schemeClr val="tx1"/>
                </a:solidFill>
              </a:rPr>
              <a:t>Activos</a:t>
            </a:r>
            <a:r>
              <a:rPr lang="es-CL" sz="1800" noProof="0" dirty="0">
                <a:solidFill>
                  <a:schemeClr val="tx1"/>
                </a:solidFill>
              </a:rPr>
              <a:t>: son los derechos que posee la empresa, es lo que tiene: Bienes físicos e intangibles. Y se clasifican según su liquidez: </a:t>
            </a:r>
          </a:p>
          <a:p>
            <a:pPr lvl="2">
              <a:buFont typeface="Wingdings" panose="05000000000000000000" pitchFamily="2" charset="2"/>
              <a:buChar char="§"/>
            </a:pPr>
            <a:r>
              <a:rPr lang="es-CL" sz="1400" b="1" noProof="0" dirty="0">
                <a:solidFill>
                  <a:schemeClr val="tx1"/>
                </a:solidFill>
              </a:rPr>
              <a:t>Activos Corrientes o Circulante o de corto plazo ( a 1 año plazo) :  se registran en cuentas contables como: Caja; Banco; Mercaderías o Inventarios; Cuentas por Cobrar; Impuestos por cobrar.</a:t>
            </a:r>
          </a:p>
          <a:p>
            <a:pPr lvl="2">
              <a:buFont typeface="Wingdings" panose="05000000000000000000" pitchFamily="2" charset="2"/>
              <a:buChar char="§"/>
            </a:pPr>
            <a:r>
              <a:rPr lang="es-CL" sz="1400" b="1" noProof="0" dirty="0">
                <a:solidFill>
                  <a:schemeClr val="tx1"/>
                </a:solidFill>
              </a:rPr>
              <a:t>Activos No Corrientes o Fijo (permanentes): se registran en cuentas contables como: Edificios; galpones; oficinas; vehículos; maquinarias; otros activos (intangibles)</a:t>
            </a:r>
          </a:p>
          <a:p>
            <a:pPr marL="914400" lvl="2" indent="0">
              <a:buNone/>
            </a:pPr>
            <a:endParaRPr lang="es-CL" noProof="0" dirty="0"/>
          </a:p>
          <a:p>
            <a:endParaRPr lang="es-CL" noProof="0" dirty="0"/>
          </a:p>
        </p:txBody>
      </p:sp>
      <p:sp>
        <p:nvSpPr>
          <p:cNvPr id="4" name="Rectángulo 3"/>
          <p:cNvSpPr/>
          <p:nvPr/>
        </p:nvSpPr>
        <p:spPr>
          <a:xfrm>
            <a:off x="2169285" y="448092"/>
            <a:ext cx="7031865" cy="584775"/>
          </a:xfrm>
          <a:prstGeom prst="rect">
            <a:avLst/>
          </a:prstGeom>
        </p:spPr>
        <p:txBody>
          <a:bodyPr wrap="square">
            <a:spAutoFit/>
          </a:bodyPr>
          <a:lstStyle/>
          <a:p>
            <a:pPr marL="0" lvl="2"/>
            <a:r>
              <a:rPr lang="es-CL" sz="3200" noProof="0" dirty="0">
                <a:solidFill>
                  <a:schemeClr val="bg1"/>
                </a:solidFill>
              </a:rPr>
              <a:t>Clasificación del Balance</a:t>
            </a:r>
          </a:p>
        </p:txBody>
      </p:sp>
      <p:pic>
        <p:nvPicPr>
          <p:cNvPr id="2" name="Imagen 1"/>
          <p:cNvPicPr>
            <a:picLocks noChangeAspect="1"/>
          </p:cNvPicPr>
          <p:nvPr/>
        </p:nvPicPr>
        <p:blipFill>
          <a:blip r:embed="rId2"/>
          <a:stretch>
            <a:fillRect/>
          </a:stretch>
        </p:blipFill>
        <p:spPr>
          <a:xfrm>
            <a:off x="5016212" y="3978197"/>
            <a:ext cx="5769552" cy="2115848"/>
          </a:xfrm>
          <a:prstGeom prst="rect">
            <a:avLst/>
          </a:prstGeom>
        </p:spPr>
      </p:pic>
    </p:spTree>
    <p:extLst>
      <p:ext uri="{BB962C8B-B14F-4D97-AF65-F5344CB8AC3E}">
        <p14:creationId xmlns:p14="http://schemas.microsoft.com/office/powerpoint/2010/main" val="1512446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CL" noProof="0" dirty="0"/>
          </a:p>
        </p:txBody>
      </p:sp>
      <p:pic>
        <p:nvPicPr>
          <p:cNvPr id="4" name="Imagen 3"/>
          <p:cNvPicPr>
            <a:picLocks noChangeAspect="1"/>
          </p:cNvPicPr>
          <p:nvPr/>
        </p:nvPicPr>
        <p:blipFill>
          <a:blip r:embed="rId2"/>
          <a:stretch>
            <a:fillRect/>
          </a:stretch>
        </p:blipFill>
        <p:spPr>
          <a:xfrm>
            <a:off x="-1640883" y="-1985630"/>
            <a:ext cx="15240000" cy="8572500"/>
          </a:xfrm>
          <a:prstGeom prst="rect">
            <a:avLst/>
          </a:prstGeom>
        </p:spPr>
      </p:pic>
    </p:spTree>
    <p:extLst>
      <p:ext uri="{BB962C8B-B14F-4D97-AF65-F5344CB8AC3E}">
        <p14:creationId xmlns:p14="http://schemas.microsoft.com/office/powerpoint/2010/main" val="289757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04433" y="2490282"/>
            <a:ext cx="11106121" cy="1877437"/>
          </a:xfrm>
          <a:prstGeom prst="rect">
            <a:avLst/>
          </a:prstGeom>
        </p:spPr>
        <p:txBody>
          <a:bodyPr wrap="square">
            <a:spAutoFit/>
          </a:bodyPr>
          <a:lstStyle/>
          <a:p>
            <a:r>
              <a:rPr lang="es-CL" b="1" i="1" u="sng" noProof="0" dirty="0"/>
              <a:t>Pasivos</a:t>
            </a:r>
            <a:r>
              <a:rPr lang="es-CL" noProof="0" dirty="0"/>
              <a:t>: son las obligaciones que tiene la empresa, es lo que debe, también se clasifican según su liquidez:</a:t>
            </a:r>
          </a:p>
          <a:p>
            <a:endParaRPr lang="es-CL" noProof="0" dirty="0"/>
          </a:p>
          <a:p>
            <a:pPr lvl="2">
              <a:buFont typeface="Wingdings" panose="05000000000000000000" pitchFamily="2" charset="2"/>
              <a:buChar char="§"/>
            </a:pPr>
            <a:r>
              <a:rPr lang="es-CL" sz="1600" b="1" noProof="0" dirty="0"/>
              <a:t>Corrientes o Circulante o de corto plazo. ( a 1 año plazo): se registran en cuentas contables como: Proveedores; Cuentas por pagar; Banco Corto plazo;    impuestos por pagar.</a:t>
            </a:r>
          </a:p>
          <a:p>
            <a:pPr lvl="2"/>
            <a:endParaRPr lang="es-CL" sz="1600" b="1" noProof="0" dirty="0"/>
          </a:p>
          <a:p>
            <a:pPr lvl="2">
              <a:buFont typeface="Wingdings" panose="05000000000000000000" pitchFamily="2" charset="2"/>
              <a:buChar char="§"/>
            </a:pPr>
            <a:r>
              <a:rPr lang="es-CL" sz="1600" b="1" noProof="0" dirty="0"/>
              <a:t>No Corrientes o Largo plazo ( más de 1 año): se registran en cuentas contables como: Bancos Largo plazo; Otras deudas de largo plazo.</a:t>
            </a:r>
          </a:p>
        </p:txBody>
      </p:sp>
      <p:pic>
        <p:nvPicPr>
          <p:cNvPr id="5" name="Imagen 4"/>
          <p:cNvPicPr>
            <a:picLocks noChangeAspect="1"/>
          </p:cNvPicPr>
          <p:nvPr/>
        </p:nvPicPr>
        <p:blipFill>
          <a:blip r:embed="rId2"/>
          <a:stretch>
            <a:fillRect/>
          </a:stretch>
        </p:blipFill>
        <p:spPr>
          <a:xfrm>
            <a:off x="7079673" y="4257250"/>
            <a:ext cx="3810000" cy="2857500"/>
          </a:xfrm>
          <a:prstGeom prst="rect">
            <a:avLst/>
          </a:prstGeom>
        </p:spPr>
      </p:pic>
    </p:spTree>
    <p:extLst>
      <p:ext uri="{BB962C8B-B14F-4D97-AF65-F5344CB8AC3E}">
        <p14:creationId xmlns:p14="http://schemas.microsoft.com/office/powerpoint/2010/main" val="3905431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CL" noProof="0" dirty="0"/>
          </a:p>
        </p:txBody>
      </p:sp>
      <p:pic>
        <p:nvPicPr>
          <p:cNvPr id="4" name="Imagen 3"/>
          <p:cNvPicPr>
            <a:picLocks noChangeAspect="1"/>
          </p:cNvPicPr>
          <p:nvPr/>
        </p:nvPicPr>
        <p:blipFill>
          <a:blip r:embed="rId2"/>
          <a:stretch>
            <a:fillRect/>
          </a:stretch>
        </p:blipFill>
        <p:spPr>
          <a:xfrm>
            <a:off x="-1464094" y="-1617260"/>
            <a:ext cx="15240000" cy="8572500"/>
          </a:xfrm>
          <a:prstGeom prst="rect">
            <a:avLst/>
          </a:prstGeom>
        </p:spPr>
      </p:pic>
    </p:spTree>
    <p:extLst>
      <p:ext uri="{BB962C8B-B14F-4D97-AF65-F5344CB8AC3E}">
        <p14:creationId xmlns:p14="http://schemas.microsoft.com/office/powerpoint/2010/main" val="4221746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1" y="1465118"/>
            <a:ext cx="10425544" cy="4711845"/>
          </a:xfrm>
        </p:spPr>
        <p:txBody>
          <a:bodyPr/>
          <a:lstStyle/>
          <a:p>
            <a:r>
              <a:rPr lang="es-CL" b="1" i="1" u="sng" noProof="0" dirty="0">
                <a:solidFill>
                  <a:schemeClr val="tx1"/>
                </a:solidFill>
              </a:rPr>
              <a:t>Patrimonio</a:t>
            </a:r>
            <a:r>
              <a:rPr lang="es-CL" i="1" u="sng" noProof="0" dirty="0">
                <a:solidFill>
                  <a:schemeClr val="tx1"/>
                </a:solidFill>
              </a:rPr>
              <a:t>:</a:t>
            </a:r>
            <a:r>
              <a:rPr lang="es-CL" noProof="0" dirty="0">
                <a:solidFill>
                  <a:schemeClr val="tx1"/>
                </a:solidFill>
              </a:rPr>
              <a:t> Es lo que pertenece a los dueños. Corresponde a los activos menos los pasivos. Lo que es de la empresa menos lo que se debe. Incluye las cuentas de: Capital; reservas; utilidades retenidas; pérdidas acumuladas; utilidades o pérdida del ejercicio.</a:t>
            </a:r>
          </a:p>
          <a:p>
            <a:endParaRPr lang="es-CL" noProof="0" dirty="0"/>
          </a:p>
        </p:txBody>
      </p:sp>
      <p:pic>
        <p:nvPicPr>
          <p:cNvPr id="4" name="Imagen 3"/>
          <p:cNvPicPr>
            <a:picLocks noChangeAspect="1"/>
          </p:cNvPicPr>
          <p:nvPr/>
        </p:nvPicPr>
        <p:blipFill>
          <a:blip r:embed="rId2"/>
          <a:stretch>
            <a:fillRect/>
          </a:stretch>
        </p:blipFill>
        <p:spPr>
          <a:xfrm>
            <a:off x="5237017" y="2416073"/>
            <a:ext cx="5009285" cy="3760890"/>
          </a:xfrm>
          <a:prstGeom prst="rect">
            <a:avLst/>
          </a:prstGeom>
        </p:spPr>
      </p:pic>
    </p:spTree>
    <p:extLst>
      <p:ext uri="{BB962C8B-B14F-4D97-AF65-F5344CB8AC3E}">
        <p14:creationId xmlns:p14="http://schemas.microsoft.com/office/powerpoint/2010/main" val="2995526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Ecuación del Inventario</a:t>
            </a:r>
          </a:p>
        </p:txBody>
      </p:sp>
      <p:sp>
        <p:nvSpPr>
          <p:cNvPr id="3" name="Marcador de contenido 2"/>
          <p:cNvSpPr>
            <a:spLocks noGrp="1"/>
          </p:cNvSpPr>
          <p:nvPr>
            <p:ph idx="1"/>
          </p:nvPr>
        </p:nvSpPr>
        <p:spPr>
          <a:xfrm>
            <a:off x="838201" y="1825624"/>
            <a:ext cx="10515600" cy="4906479"/>
          </a:xfrm>
        </p:spPr>
        <p:txBody>
          <a:bodyPr/>
          <a:lstStyle/>
          <a:p>
            <a:r>
              <a:rPr lang="es-CL" noProof="0" dirty="0">
                <a:solidFill>
                  <a:schemeClr val="tx1"/>
                </a:solidFill>
              </a:rPr>
              <a:t>No olvidar nunca que el patrimonio es lo que queda de restar al activo el pasivo exigible:</a:t>
            </a:r>
          </a:p>
          <a:p>
            <a:pPr lvl="1"/>
            <a:r>
              <a:rPr lang="es-CL" sz="2400" b="1" noProof="0" dirty="0">
                <a:solidFill>
                  <a:schemeClr val="tx1"/>
                </a:solidFill>
              </a:rPr>
              <a:t>ACTIVO – PASIVO = PATRIMONIO</a:t>
            </a:r>
          </a:p>
        </p:txBody>
      </p:sp>
      <p:pic>
        <p:nvPicPr>
          <p:cNvPr id="4" name="Imagen 3"/>
          <p:cNvPicPr>
            <a:picLocks noChangeAspect="1"/>
          </p:cNvPicPr>
          <p:nvPr/>
        </p:nvPicPr>
        <p:blipFill>
          <a:blip r:embed="rId2"/>
          <a:stretch>
            <a:fillRect/>
          </a:stretch>
        </p:blipFill>
        <p:spPr>
          <a:xfrm>
            <a:off x="5102087" y="2945823"/>
            <a:ext cx="6093685" cy="3903428"/>
          </a:xfrm>
          <a:prstGeom prst="rect">
            <a:avLst/>
          </a:prstGeom>
        </p:spPr>
      </p:pic>
    </p:spTree>
    <p:extLst>
      <p:ext uri="{BB962C8B-B14F-4D97-AF65-F5344CB8AC3E}">
        <p14:creationId xmlns:p14="http://schemas.microsoft.com/office/powerpoint/2010/main" val="1209867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EA091F-4430-1FFB-58FD-53314BA31706}"/>
              </a:ext>
            </a:extLst>
          </p:cNvPr>
          <p:cNvSpPr>
            <a:spLocks noGrp="1"/>
          </p:cNvSpPr>
          <p:nvPr>
            <p:ph type="title"/>
          </p:nvPr>
        </p:nvSpPr>
        <p:spPr/>
        <p:txBody>
          <a:bodyPr/>
          <a:lstStyle/>
          <a:p>
            <a:r>
              <a:rPr lang="es-CL" noProof="0" dirty="0"/>
              <a:t>Es decir, el balance representa:</a:t>
            </a:r>
            <a:br>
              <a:rPr lang="es-CL" noProof="0" dirty="0"/>
            </a:br>
            <a:endParaRPr lang="es-CL" noProof="0" dirty="0"/>
          </a:p>
        </p:txBody>
      </p:sp>
      <p:graphicFrame>
        <p:nvGraphicFramePr>
          <p:cNvPr id="4" name="Marcador de contenido 3">
            <a:extLst>
              <a:ext uri="{FF2B5EF4-FFF2-40B4-BE49-F238E27FC236}">
                <a16:creationId xmlns:a16="http://schemas.microsoft.com/office/drawing/2014/main" id="{ACD8186D-F893-3B17-B264-56875505CF77}"/>
              </a:ext>
            </a:extLst>
          </p:cNvPr>
          <p:cNvGraphicFramePr>
            <a:graphicFrameLocks noGrp="1"/>
          </p:cNvGraphicFramePr>
          <p:nvPr>
            <p:ph idx="1"/>
            <p:extLst>
              <p:ext uri="{D42A27DB-BD31-4B8C-83A1-F6EECF244321}">
                <p14:modId xmlns:p14="http://schemas.microsoft.com/office/powerpoint/2010/main" val="1818790394"/>
              </p:ext>
            </p:extLst>
          </p:nvPr>
        </p:nvGraphicFramePr>
        <p:xfrm>
          <a:off x="838200" y="1825625"/>
          <a:ext cx="110998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igno menos 4">
            <a:extLst>
              <a:ext uri="{FF2B5EF4-FFF2-40B4-BE49-F238E27FC236}">
                <a16:creationId xmlns:a16="http://schemas.microsoft.com/office/drawing/2014/main" id="{8916F212-53A9-4FB7-7EC6-94300D00C771}"/>
              </a:ext>
            </a:extLst>
          </p:cNvPr>
          <p:cNvSpPr/>
          <p:nvPr/>
        </p:nvSpPr>
        <p:spPr>
          <a:xfrm>
            <a:off x="3791775" y="2758452"/>
            <a:ext cx="1345308" cy="1163308"/>
          </a:xfrm>
          <a:prstGeom prst="mathMinus">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r>
              <a:rPr lang="es-CL" noProof="0" dirty="0"/>
              <a:t>Menos</a:t>
            </a:r>
          </a:p>
        </p:txBody>
      </p:sp>
      <p:sp>
        <p:nvSpPr>
          <p:cNvPr id="6" name="Signo menos 5">
            <a:extLst>
              <a:ext uri="{FF2B5EF4-FFF2-40B4-BE49-F238E27FC236}">
                <a16:creationId xmlns:a16="http://schemas.microsoft.com/office/drawing/2014/main" id="{B8F00D32-EF6C-55BD-5C0F-2F9C26456988}"/>
              </a:ext>
            </a:extLst>
          </p:cNvPr>
          <p:cNvSpPr/>
          <p:nvPr/>
        </p:nvSpPr>
        <p:spPr>
          <a:xfrm>
            <a:off x="7625972" y="3009918"/>
            <a:ext cx="1345308" cy="1163308"/>
          </a:xfrm>
          <a:prstGeom prst="mathMinus">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r>
              <a:rPr lang="es-CL" noProof="0" dirty="0"/>
              <a:t>Igual</a:t>
            </a:r>
          </a:p>
        </p:txBody>
      </p:sp>
    </p:spTree>
    <p:extLst>
      <p:ext uri="{BB962C8B-B14F-4D97-AF65-F5344CB8AC3E}">
        <p14:creationId xmlns:p14="http://schemas.microsoft.com/office/powerpoint/2010/main" val="253049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E8F0BD-BB95-367C-B2A5-239883AE6FE5}"/>
              </a:ext>
            </a:extLst>
          </p:cNvPr>
          <p:cNvSpPr>
            <a:spLocks noGrp="1"/>
          </p:cNvSpPr>
          <p:nvPr>
            <p:ph type="title"/>
          </p:nvPr>
        </p:nvSpPr>
        <p:spPr>
          <a:xfrm>
            <a:off x="604433" y="91440"/>
            <a:ext cx="10749367" cy="1554307"/>
          </a:xfrm>
        </p:spPr>
        <p:txBody>
          <a:bodyPr>
            <a:normAutofit fontScale="90000"/>
          </a:bodyPr>
          <a:lstStyle/>
          <a:p>
            <a:r>
              <a:rPr lang="es-CL" noProof="0" dirty="0"/>
              <a:t>¿Cómo construir un balance?, Supongamos que hacemos un negocio y lo formamos así:</a:t>
            </a:r>
            <a:br>
              <a:rPr lang="es-CL" noProof="0" dirty="0"/>
            </a:br>
            <a:endParaRPr lang="es-CL" noProof="0" dirty="0"/>
          </a:p>
        </p:txBody>
      </p:sp>
      <p:sp>
        <p:nvSpPr>
          <p:cNvPr id="3" name="Marcador de contenido 2">
            <a:extLst>
              <a:ext uri="{FF2B5EF4-FFF2-40B4-BE49-F238E27FC236}">
                <a16:creationId xmlns:a16="http://schemas.microsoft.com/office/drawing/2014/main" id="{1AA7FE0B-82C3-96A4-846F-2F348E4E6D0E}"/>
              </a:ext>
            </a:extLst>
          </p:cNvPr>
          <p:cNvSpPr>
            <a:spLocks noGrp="1"/>
          </p:cNvSpPr>
          <p:nvPr>
            <p:ph idx="1"/>
          </p:nvPr>
        </p:nvSpPr>
        <p:spPr>
          <a:xfrm>
            <a:off x="838201" y="1825624"/>
            <a:ext cx="4831079" cy="4707255"/>
          </a:xfrm>
          <a:ln>
            <a:solidFill>
              <a:schemeClr val="accent2">
                <a:lumMod val="60000"/>
                <a:lumOff val="40000"/>
              </a:schemeClr>
            </a:solidFill>
          </a:ln>
        </p:spPr>
        <p:txBody>
          <a:bodyPr/>
          <a:lstStyle/>
          <a:p>
            <a:pPr marL="285750" indent="-285750">
              <a:buFont typeface="Arial" panose="020B0604020202020204" pitchFamily="34" charset="0"/>
              <a:buChar char="•"/>
            </a:pPr>
            <a:r>
              <a:rPr lang="es-CL" noProof="0" dirty="0"/>
              <a:t>Invertimos los siguiente:</a:t>
            </a:r>
          </a:p>
          <a:p>
            <a:pPr marL="971550" lvl="1" indent="-285750"/>
            <a:r>
              <a:rPr lang="es-CL" noProof="0" dirty="0"/>
              <a:t>Dinero en efectivo $ 500.000</a:t>
            </a:r>
          </a:p>
          <a:p>
            <a:pPr marL="971550" lvl="1" indent="-285750"/>
            <a:r>
              <a:rPr lang="es-CL" noProof="0" dirty="0"/>
              <a:t>Materias primas $ 800.000</a:t>
            </a:r>
          </a:p>
          <a:p>
            <a:pPr marL="971550" lvl="1" indent="-285750"/>
            <a:r>
              <a:rPr lang="es-CL" noProof="0" dirty="0"/>
              <a:t>Maquinaria $ 1.200.000</a:t>
            </a:r>
          </a:p>
          <a:p>
            <a:pPr marL="971550" lvl="1" indent="-285750"/>
            <a:r>
              <a:rPr lang="es-CL" noProof="0" dirty="0"/>
              <a:t>Vehículo $ 5.000.000</a:t>
            </a:r>
          </a:p>
          <a:p>
            <a:pPr marL="971550" lvl="1" indent="-285750"/>
            <a:endParaRPr lang="es-CL" noProof="0" dirty="0"/>
          </a:p>
        </p:txBody>
      </p:sp>
      <p:sp>
        <p:nvSpPr>
          <p:cNvPr id="4" name="Marcador de contenido 2">
            <a:extLst>
              <a:ext uri="{FF2B5EF4-FFF2-40B4-BE49-F238E27FC236}">
                <a16:creationId xmlns:a16="http://schemas.microsoft.com/office/drawing/2014/main" id="{BFFFA217-8CF8-2BB0-2E86-D453EDDE5662}"/>
              </a:ext>
            </a:extLst>
          </p:cNvPr>
          <p:cNvSpPr txBox="1">
            <a:spLocks/>
          </p:cNvSpPr>
          <p:nvPr/>
        </p:nvSpPr>
        <p:spPr>
          <a:xfrm>
            <a:off x="5979117" y="1825624"/>
            <a:ext cx="4831079" cy="4707255"/>
          </a:xfrm>
          <a:prstGeom prst="rect">
            <a:avLst/>
          </a:prstGeom>
          <a:ln>
            <a:solidFill>
              <a:schemeClr val="accent2">
                <a:lumMod val="60000"/>
                <a:lumOff val="40000"/>
              </a:schemeClr>
            </a:solidFill>
          </a:ln>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s-CL" noProof="0" dirty="0"/>
              <a:t>Lo financiamos con:</a:t>
            </a:r>
          </a:p>
          <a:p>
            <a:pPr marL="971550" lvl="1" indent="-285750"/>
            <a:r>
              <a:rPr lang="es-CL" noProof="0" dirty="0"/>
              <a:t>Deuda con proveedores $ 500.000</a:t>
            </a:r>
          </a:p>
          <a:p>
            <a:pPr marL="971550" lvl="1" indent="-285750"/>
            <a:r>
              <a:rPr lang="es-CL" noProof="0" dirty="0"/>
              <a:t>Crédito banco a 8 meses $ 1.000.000</a:t>
            </a:r>
          </a:p>
          <a:p>
            <a:pPr marL="971550" lvl="1" indent="-285750"/>
            <a:r>
              <a:rPr lang="es-CL" noProof="0" dirty="0"/>
              <a:t>Crédito CORFO  a 3 años $ 2.000.000</a:t>
            </a:r>
          </a:p>
          <a:p>
            <a:pPr marL="971550" lvl="1" indent="-285750"/>
            <a:r>
              <a:rPr lang="es-CL" noProof="0" dirty="0"/>
              <a:t>Aporte de los socios $ 4.000.000</a:t>
            </a:r>
          </a:p>
          <a:p>
            <a:pPr marL="971550" lvl="1" indent="-285750"/>
            <a:endParaRPr lang="es-CL" noProof="0" dirty="0"/>
          </a:p>
        </p:txBody>
      </p:sp>
    </p:spTree>
    <p:extLst>
      <p:ext uri="{BB962C8B-B14F-4D97-AF65-F5344CB8AC3E}">
        <p14:creationId xmlns:p14="http://schemas.microsoft.com/office/powerpoint/2010/main" val="217914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34887-AD0F-BDB5-F8D1-3965A5772F2A}"/>
              </a:ext>
            </a:extLst>
          </p:cNvPr>
          <p:cNvSpPr>
            <a:spLocks noGrp="1"/>
          </p:cNvSpPr>
          <p:nvPr>
            <p:ph type="title"/>
          </p:nvPr>
        </p:nvSpPr>
        <p:spPr/>
        <p:txBody>
          <a:bodyPr/>
          <a:lstStyle/>
          <a:p>
            <a:r>
              <a:rPr lang="es-CL" noProof="0" dirty="0"/>
              <a:t>El Balance quedaría así:</a:t>
            </a:r>
          </a:p>
        </p:txBody>
      </p:sp>
      <p:graphicFrame>
        <p:nvGraphicFramePr>
          <p:cNvPr id="4" name="Tabla 3">
            <a:extLst>
              <a:ext uri="{FF2B5EF4-FFF2-40B4-BE49-F238E27FC236}">
                <a16:creationId xmlns:a16="http://schemas.microsoft.com/office/drawing/2014/main" id="{F5BB91BA-D1CC-2E4A-DD9F-883B2D82325E}"/>
              </a:ext>
            </a:extLst>
          </p:cNvPr>
          <p:cNvGraphicFramePr>
            <a:graphicFrameLocks noGrp="1"/>
          </p:cNvGraphicFramePr>
          <p:nvPr>
            <p:extLst>
              <p:ext uri="{D42A27DB-BD31-4B8C-83A1-F6EECF244321}">
                <p14:modId xmlns:p14="http://schemas.microsoft.com/office/powerpoint/2010/main" val="4046976834"/>
              </p:ext>
            </p:extLst>
          </p:nvPr>
        </p:nvGraphicFramePr>
        <p:xfrm>
          <a:off x="1780674" y="1828800"/>
          <a:ext cx="8919412" cy="3673638"/>
        </p:xfrm>
        <a:graphic>
          <a:graphicData uri="http://schemas.openxmlformats.org/drawingml/2006/table">
            <a:tbl>
              <a:tblPr/>
              <a:tblGrid>
                <a:gridCol w="3084283">
                  <a:extLst>
                    <a:ext uri="{9D8B030D-6E8A-4147-A177-3AD203B41FA5}">
                      <a16:colId xmlns:a16="http://schemas.microsoft.com/office/drawing/2014/main" val="986593702"/>
                    </a:ext>
                  </a:extLst>
                </a:gridCol>
                <a:gridCol w="1292064">
                  <a:extLst>
                    <a:ext uri="{9D8B030D-6E8A-4147-A177-3AD203B41FA5}">
                      <a16:colId xmlns:a16="http://schemas.microsoft.com/office/drawing/2014/main" val="3280795883"/>
                    </a:ext>
                  </a:extLst>
                </a:gridCol>
                <a:gridCol w="166718">
                  <a:extLst>
                    <a:ext uri="{9D8B030D-6E8A-4147-A177-3AD203B41FA5}">
                      <a16:colId xmlns:a16="http://schemas.microsoft.com/office/drawing/2014/main" val="2312370271"/>
                    </a:ext>
                  </a:extLst>
                </a:gridCol>
                <a:gridCol w="3084283">
                  <a:extLst>
                    <a:ext uri="{9D8B030D-6E8A-4147-A177-3AD203B41FA5}">
                      <a16:colId xmlns:a16="http://schemas.microsoft.com/office/drawing/2014/main" val="2274126619"/>
                    </a:ext>
                  </a:extLst>
                </a:gridCol>
                <a:gridCol w="1292064">
                  <a:extLst>
                    <a:ext uri="{9D8B030D-6E8A-4147-A177-3AD203B41FA5}">
                      <a16:colId xmlns:a16="http://schemas.microsoft.com/office/drawing/2014/main" val="1741220357"/>
                    </a:ext>
                  </a:extLst>
                </a:gridCol>
              </a:tblGrid>
              <a:tr h="413698">
                <a:tc>
                  <a:txBody>
                    <a:bodyPr/>
                    <a:lstStyle/>
                    <a:p>
                      <a:pPr algn="ctr" fontAlgn="b">
                        <a:buNone/>
                      </a:pPr>
                      <a:r>
                        <a:rPr lang="es-CL" sz="1600" b="1" i="0" u="none" strike="noStrike" noProof="0" dirty="0">
                          <a:solidFill>
                            <a:srgbClr val="000000"/>
                          </a:solidFill>
                          <a:effectLst/>
                          <a:latin typeface="Aptos Narrow" panose="020B0004020202020204" pitchFamily="34" charset="0"/>
                        </a:rPr>
                        <a:t>ACTIVOS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s-CL" sz="1600" b="1" i="0" u="none" strike="noStrike" noProof="0" dirty="0">
                          <a:solidFill>
                            <a:srgbClr val="000000"/>
                          </a:solidFill>
                          <a:effectLst/>
                          <a:latin typeface="Aptos Narrow" panose="020B0004020202020204" pitchFamily="34" charset="0"/>
                        </a:rPr>
                        <a:t>PASIVOS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7625381"/>
                  </a:ext>
                </a:extLst>
              </a:tr>
              <a:tr h="397150">
                <a:tc>
                  <a:txBody>
                    <a:bodyPr/>
                    <a:lstStyle/>
                    <a:p>
                      <a:pPr algn="l" fontAlgn="b">
                        <a:buNone/>
                      </a:pPr>
                      <a:r>
                        <a:rPr lang="es-CL" sz="1600" b="0" i="0" u="none" strike="noStrike" noProof="0" dirty="0">
                          <a:solidFill>
                            <a:srgbClr val="000000"/>
                          </a:solidFill>
                          <a:effectLst/>
                          <a:latin typeface="Aptos Narrow" panose="020B0004020202020204" pitchFamily="34" charset="0"/>
                        </a:rPr>
                        <a:t>Caja (Efectivo)</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500.000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Deuda Proveedores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500.000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4593346"/>
                  </a:ext>
                </a:extLst>
              </a:tr>
              <a:tr h="397150">
                <a:tc>
                  <a:txBody>
                    <a:bodyPr/>
                    <a:lstStyle/>
                    <a:p>
                      <a:pPr algn="l" fontAlgn="b">
                        <a:buNone/>
                      </a:pPr>
                      <a:r>
                        <a:rPr lang="es-CL" sz="1600" b="0" i="0" u="none" strike="noStrike" noProof="0" dirty="0">
                          <a:solidFill>
                            <a:srgbClr val="000000"/>
                          </a:solidFill>
                          <a:effectLst/>
                          <a:latin typeface="Aptos Narrow" panose="020B0004020202020204" pitchFamily="34" charset="0"/>
                        </a:rPr>
                        <a:t>Materias primas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800.000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Deuda banco Corto Plazo</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7610288"/>
                  </a:ext>
                </a:extLst>
              </a:tr>
              <a:tr h="413698">
                <a:tc>
                  <a:txBody>
                    <a:bodyPr/>
                    <a:lstStyle/>
                    <a:p>
                      <a:pPr algn="r" fontAlgn="b">
                        <a:buNone/>
                      </a:pPr>
                      <a:r>
                        <a:rPr lang="es-CL" sz="1600" b="1" i="0" u="none" strike="noStrike" noProof="0" dirty="0">
                          <a:solidFill>
                            <a:srgbClr val="000000"/>
                          </a:solidFill>
                          <a:effectLst/>
                          <a:latin typeface="Aptos Narrow" panose="020B0004020202020204" pitchFamily="34" charset="0"/>
                        </a:rPr>
                        <a:t>Total activos corrientes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1.300.000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1600" b="1" i="0" u="none" strike="noStrike" noProof="0" dirty="0">
                          <a:solidFill>
                            <a:srgbClr val="000000"/>
                          </a:solidFill>
                          <a:effectLst/>
                          <a:latin typeface="Aptos Narrow" panose="020B0004020202020204" pitchFamily="34" charset="0"/>
                        </a:rPr>
                        <a:t>Total pasivo corriente</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1.500.000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0814508"/>
                  </a:ext>
                </a:extLst>
              </a:tr>
              <a:tr h="397150">
                <a:tc>
                  <a:txBody>
                    <a:bodyPr/>
                    <a:lstStyle/>
                    <a:p>
                      <a:pPr algn="l" fontAlgn="b">
                        <a:buNone/>
                      </a:pPr>
                      <a:r>
                        <a:rPr lang="es-CL" sz="1600" b="0" i="0" u="none" strike="noStrike" noProof="0" dirty="0">
                          <a:solidFill>
                            <a:srgbClr val="000000"/>
                          </a:solidFill>
                          <a:effectLst/>
                          <a:latin typeface="Aptos Narrow" panose="020B0004020202020204" pitchFamily="34" charset="0"/>
                        </a:rPr>
                        <a:t>Maquinarias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1.200.000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Crédito CORFO</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2.000.000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6968020"/>
                  </a:ext>
                </a:extLst>
              </a:tr>
              <a:tr h="413698">
                <a:tc>
                  <a:txBody>
                    <a:bodyPr/>
                    <a:lstStyle/>
                    <a:p>
                      <a:pPr algn="l" fontAlgn="b">
                        <a:buNone/>
                      </a:pPr>
                      <a:r>
                        <a:rPr lang="es-CL" sz="1600" b="0" i="0" u="none" strike="noStrike" noProof="0" dirty="0">
                          <a:solidFill>
                            <a:srgbClr val="000000"/>
                          </a:solidFill>
                          <a:effectLst/>
                          <a:latin typeface="Aptos Narrow" panose="020B0004020202020204" pitchFamily="34" charset="0"/>
                        </a:rPr>
                        <a:t>Vehículo</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5.000.000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1600" b="1" i="0" u="none" strike="noStrike" noProof="0" dirty="0">
                          <a:solidFill>
                            <a:srgbClr val="000000"/>
                          </a:solidFill>
                          <a:effectLst/>
                          <a:latin typeface="Aptos Narrow" panose="020B0004020202020204" pitchFamily="34" charset="0"/>
                        </a:rPr>
                        <a:t>Total Pasivo No corriente</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2.000.000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8019267"/>
                  </a:ext>
                </a:extLst>
              </a:tr>
              <a:tr h="413698">
                <a:tc>
                  <a:txBody>
                    <a:bodyPr/>
                    <a:lstStyle/>
                    <a:p>
                      <a:pPr algn="r" fontAlgn="b">
                        <a:buNone/>
                      </a:pPr>
                      <a:r>
                        <a:rPr lang="es-CL" sz="1600" b="1" i="0" u="none" strike="noStrike" noProof="0" dirty="0">
                          <a:solidFill>
                            <a:srgbClr val="000000"/>
                          </a:solidFill>
                          <a:effectLst/>
                          <a:latin typeface="Aptos Narrow" panose="020B0004020202020204" pitchFamily="34" charset="0"/>
                        </a:rPr>
                        <a:t>Total Activos no corrientes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6.200.000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Capital</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4.000.000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9229480"/>
                  </a:ext>
                </a:extLst>
              </a:tr>
              <a:tr h="413698">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s-CL" sz="1600" b="1" i="0" u="none" strike="noStrike" noProof="0" dirty="0">
                          <a:solidFill>
                            <a:srgbClr val="000000"/>
                          </a:solidFill>
                          <a:effectLst/>
                          <a:latin typeface="Aptos Narrow" panose="020B0004020202020204" pitchFamily="34" charset="0"/>
                        </a:rPr>
                        <a:t>Total Patrimonio</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4.000.000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9591680"/>
                  </a:ext>
                </a:extLst>
              </a:tr>
              <a:tr h="413698">
                <a:tc>
                  <a:txBody>
                    <a:bodyPr/>
                    <a:lstStyle/>
                    <a:p>
                      <a:pPr algn="ctr" fontAlgn="b">
                        <a:buNone/>
                      </a:pPr>
                      <a:r>
                        <a:rPr lang="es-CL" sz="1600" b="1" i="0" u="none" strike="noStrike" noProof="0" dirty="0">
                          <a:solidFill>
                            <a:srgbClr val="000000"/>
                          </a:solidFill>
                          <a:effectLst/>
                          <a:latin typeface="Aptos Narrow" panose="020B0004020202020204" pitchFamily="34" charset="0"/>
                        </a:rPr>
                        <a:t>Total de Activos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7.500.000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s-CL" sz="1600" b="1" i="0" u="none" strike="noStrike" noProof="0" dirty="0">
                          <a:solidFill>
                            <a:srgbClr val="000000"/>
                          </a:solidFill>
                          <a:effectLst/>
                          <a:latin typeface="Aptos Narrow" panose="020B0004020202020204" pitchFamily="34" charset="0"/>
                        </a:rPr>
                        <a:t>Total pasivo + Patrimonio</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7.500.000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4217665"/>
                  </a:ext>
                </a:extLst>
              </a:tr>
            </a:tbl>
          </a:graphicData>
        </a:graphic>
      </p:graphicFrame>
    </p:spTree>
    <p:extLst>
      <p:ext uri="{BB962C8B-B14F-4D97-AF65-F5344CB8AC3E}">
        <p14:creationId xmlns:p14="http://schemas.microsoft.com/office/powerpoint/2010/main" val="656743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D57FFC-F20F-4637-91BE-B50BD96E5969}"/>
              </a:ext>
            </a:extLst>
          </p:cNvPr>
          <p:cNvSpPr>
            <a:spLocks noGrp="1"/>
          </p:cNvSpPr>
          <p:nvPr>
            <p:ph type="title"/>
          </p:nvPr>
        </p:nvSpPr>
        <p:spPr>
          <a:xfrm>
            <a:off x="974651" y="321972"/>
            <a:ext cx="9076440" cy="721217"/>
          </a:xfrm>
        </p:spPr>
        <p:txBody>
          <a:bodyPr/>
          <a:lstStyle/>
          <a:p>
            <a:r>
              <a:rPr lang="es-CL" noProof="0" dirty="0"/>
              <a:t>Conceptos que debemos conocer:</a:t>
            </a:r>
          </a:p>
        </p:txBody>
      </p:sp>
      <p:sp>
        <p:nvSpPr>
          <p:cNvPr id="3" name="Marcador de contenido 2">
            <a:extLst>
              <a:ext uri="{FF2B5EF4-FFF2-40B4-BE49-F238E27FC236}">
                <a16:creationId xmlns:a16="http://schemas.microsoft.com/office/drawing/2014/main" id="{CD06BB45-89FD-4FCA-934C-5CFF9B39B747}"/>
              </a:ext>
            </a:extLst>
          </p:cNvPr>
          <p:cNvSpPr>
            <a:spLocks noGrp="1"/>
          </p:cNvSpPr>
          <p:nvPr>
            <p:ph idx="1"/>
          </p:nvPr>
        </p:nvSpPr>
        <p:spPr>
          <a:xfrm>
            <a:off x="1154954" y="2603500"/>
            <a:ext cx="10312115" cy="3416300"/>
          </a:xfrm>
        </p:spPr>
        <p:txBody>
          <a:bodyPr>
            <a:normAutofit/>
          </a:bodyPr>
          <a:lstStyle/>
          <a:p>
            <a:r>
              <a:rPr lang="es-CL" sz="2000" noProof="0" dirty="0">
                <a:solidFill>
                  <a:schemeClr val="tx1"/>
                </a:solidFill>
              </a:rPr>
              <a:t>Cuando efectuamos un negocio o proyecto tendremos distintas salidas e ingresos de dinero que nos afectarán y debemos ser capaces de interpretarlas y conocer el impacto que pueden provocar en el éxito o fracaso de nuestro negocio. </a:t>
            </a:r>
          </a:p>
          <a:p>
            <a:r>
              <a:rPr lang="es-CL" sz="2000" noProof="0" dirty="0">
                <a:solidFill>
                  <a:schemeClr val="tx1"/>
                </a:solidFill>
              </a:rPr>
              <a:t>Para esto nos enfocaremos en conocer los principales conceptos que nos afectarán.  </a:t>
            </a:r>
          </a:p>
        </p:txBody>
      </p:sp>
    </p:spTree>
    <p:extLst>
      <p:ext uri="{BB962C8B-B14F-4D97-AF65-F5344CB8AC3E}">
        <p14:creationId xmlns:p14="http://schemas.microsoft.com/office/powerpoint/2010/main" val="19537103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E2F741-0755-4BB3-AE46-2813AF40071B}"/>
              </a:ext>
            </a:extLst>
          </p:cNvPr>
          <p:cNvSpPr>
            <a:spLocks noGrp="1"/>
          </p:cNvSpPr>
          <p:nvPr>
            <p:ph type="title"/>
          </p:nvPr>
        </p:nvSpPr>
        <p:spPr>
          <a:xfrm>
            <a:off x="1154953" y="973668"/>
            <a:ext cx="9282859" cy="706964"/>
          </a:xfrm>
        </p:spPr>
        <p:txBody>
          <a:bodyPr vert="horz" lIns="91440" tIns="45720" rIns="91440" bIns="45720" rtlCol="0" anchor="ctr">
            <a:normAutofit/>
          </a:bodyPr>
          <a:lstStyle/>
          <a:p>
            <a:pPr marL="742950" indent="-742950">
              <a:buFont typeface="+mj-lt"/>
              <a:buAutoNum type="arabicPeriod"/>
            </a:pPr>
            <a:r>
              <a:rPr lang="es-CL" sz="3600" b="1" noProof="0" dirty="0">
                <a:solidFill>
                  <a:schemeClr val="bg1"/>
                </a:solidFill>
              </a:rPr>
              <a:t>Inversiones o CAPEX (Capital Expenditure)</a:t>
            </a:r>
          </a:p>
        </p:txBody>
      </p:sp>
      <p:pic>
        <p:nvPicPr>
          <p:cNvPr id="4" name="Imagen 3">
            <a:extLst>
              <a:ext uri="{FF2B5EF4-FFF2-40B4-BE49-F238E27FC236}">
                <a16:creationId xmlns:a16="http://schemas.microsoft.com/office/drawing/2014/main" id="{9DA5EE92-AD8B-4E95-8B1E-5B553F2E2658}"/>
              </a:ext>
            </a:extLst>
          </p:cNvPr>
          <p:cNvPicPr>
            <a:picLocks noChangeAspect="1"/>
          </p:cNvPicPr>
          <p:nvPr/>
        </p:nvPicPr>
        <p:blipFill rotWithShape="1">
          <a:blip r:embed="rId2"/>
          <a:srcRect l="5697" r="2" b="2"/>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sp>
        <p:nvSpPr>
          <p:cNvPr id="3" name="Marcador de texto 2">
            <a:extLst>
              <a:ext uri="{FF2B5EF4-FFF2-40B4-BE49-F238E27FC236}">
                <a16:creationId xmlns:a16="http://schemas.microsoft.com/office/drawing/2014/main" id="{6A129B32-8265-4394-9C47-AA0EEF766047}"/>
              </a:ext>
            </a:extLst>
          </p:cNvPr>
          <p:cNvSpPr>
            <a:spLocks noGrp="1"/>
          </p:cNvSpPr>
          <p:nvPr>
            <p:ph type="body" sz="half" idx="2"/>
          </p:nvPr>
        </p:nvSpPr>
        <p:spPr>
          <a:xfrm>
            <a:off x="5956570" y="2971764"/>
            <a:ext cx="5772134" cy="3906795"/>
          </a:xfrm>
        </p:spPr>
        <p:txBody>
          <a:bodyPr vert="horz" lIns="91440" tIns="45720" rIns="91440" bIns="45720" rtlCol="0" anchor="ctr">
            <a:normAutofit/>
          </a:bodyPr>
          <a:lstStyle/>
          <a:p>
            <a:pPr>
              <a:lnSpc>
                <a:spcPct val="90000"/>
              </a:lnSpc>
              <a:buFont typeface="Wingdings 3" charset="2"/>
              <a:buChar char=""/>
            </a:pPr>
            <a:r>
              <a:rPr lang="es-CL" sz="1300" b="1" noProof="0" dirty="0">
                <a:solidFill>
                  <a:schemeClr val="tx1"/>
                </a:solidFill>
              </a:rPr>
              <a:t>Los CAPEX son las inversiones. </a:t>
            </a:r>
          </a:p>
          <a:p>
            <a:pPr>
              <a:lnSpc>
                <a:spcPct val="90000"/>
              </a:lnSpc>
              <a:buFont typeface="Wingdings 3" charset="2"/>
              <a:buChar char=""/>
            </a:pPr>
            <a:r>
              <a:rPr lang="es-CL" sz="1300" b="1" noProof="0" dirty="0">
                <a:solidFill>
                  <a:schemeClr val="tx1"/>
                </a:solidFill>
              </a:rPr>
              <a:t>Los CAPEX son compras de bienes de capital, son las inversiones que se realizan y por las que se espera recibir una utilidad o rentabilidad. Son necesarias para que el negocio o proyecto se pueda llevar a cabo. Son los bienes físicos que se compran o en los que se invierte que apuntan a mejorar la capacidad de producir en una empresa, también, se incluyen los gastos de mantención que permiten que los bienes aumenten su vida útil y sigan funcionando adecuadamente. Se incluyen las maquinarias, equipos, vehículos, propiedades, etc.</a:t>
            </a:r>
          </a:p>
          <a:p>
            <a:pPr>
              <a:lnSpc>
                <a:spcPct val="90000"/>
              </a:lnSpc>
              <a:buFont typeface="Wingdings 3" charset="2"/>
              <a:buChar char=""/>
            </a:pPr>
            <a:r>
              <a:rPr lang="es-CL" sz="1300" b="1" noProof="0" dirty="0">
                <a:solidFill>
                  <a:schemeClr val="tx1"/>
                </a:solidFill>
              </a:rPr>
              <a:t>La inversión en CAPEX se realiza al inicio del negocio o proyecto, se contabiliza como un activo. Por lo tanto, no se reflejan como gasto, sino que se van reflejando el gasto en forma parcial, en los períodos siguientes, a través, de la depreciación y amortización.</a:t>
            </a:r>
          </a:p>
          <a:p>
            <a:pPr>
              <a:lnSpc>
                <a:spcPct val="90000"/>
              </a:lnSpc>
              <a:buFont typeface="Wingdings 3" charset="2"/>
              <a:buChar char=""/>
            </a:pPr>
            <a:r>
              <a:rPr lang="es-CL" sz="1300" b="1" noProof="0" dirty="0">
                <a:solidFill>
                  <a:schemeClr val="tx1"/>
                </a:solidFill>
              </a:rPr>
              <a:t>EJEMPLO: La compra de un camión.</a:t>
            </a:r>
          </a:p>
          <a:p>
            <a:pPr>
              <a:lnSpc>
                <a:spcPct val="90000"/>
              </a:lnSpc>
              <a:buFont typeface="Wingdings 3" charset="2"/>
              <a:buChar char=""/>
            </a:pPr>
            <a:endParaRPr lang="es-CL" sz="1300" b="1" noProof="0" dirty="0">
              <a:solidFill>
                <a:schemeClr val="tx1"/>
              </a:solidFill>
            </a:endParaRPr>
          </a:p>
        </p:txBody>
      </p:sp>
    </p:spTree>
    <p:extLst>
      <p:ext uri="{BB962C8B-B14F-4D97-AF65-F5344CB8AC3E}">
        <p14:creationId xmlns:p14="http://schemas.microsoft.com/office/powerpoint/2010/main" val="847068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49DA3E-27D6-4036-8736-87E40DB8C617}"/>
              </a:ext>
            </a:extLst>
          </p:cNvPr>
          <p:cNvSpPr>
            <a:spLocks noGrp="1"/>
          </p:cNvSpPr>
          <p:nvPr>
            <p:ph type="title"/>
          </p:nvPr>
        </p:nvSpPr>
        <p:spPr/>
        <p:txBody>
          <a:bodyPr/>
          <a:lstStyle/>
          <a:p>
            <a:pPr marL="742950" indent="-742950">
              <a:buFont typeface="+mj-lt"/>
              <a:buAutoNum type="arabicPeriod" startAt="2"/>
            </a:pPr>
            <a:r>
              <a:rPr lang="es-CL" noProof="0" dirty="0"/>
              <a:t>Ingresos por Ventas o Ventas</a:t>
            </a:r>
          </a:p>
        </p:txBody>
      </p:sp>
      <p:sp>
        <p:nvSpPr>
          <p:cNvPr id="3" name="Marcador de contenido 2">
            <a:extLst>
              <a:ext uri="{FF2B5EF4-FFF2-40B4-BE49-F238E27FC236}">
                <a16:creationId xmlns:a16="http://schemas.microsoft.com/office/drawing/2014/main" id="{C908CB75-A9D0-4B49-BE0E-27DF51666B86}"/>
              </a:ext>
            </a:extLst>
          </p:cNvPr>
          <p:cNvSpPr>
            <a:spLocks noGrp="1"/>
          </p:cNvSpPr>
          <p:nvPr>
            <p:ph idx="1"/>
          </p:nvPr>
        </p:nvSpPr>
        <p:spPr>
          <a:xfrm>
            <a:off x="1013288" y="1753493"/>
            <a:ext cx="9949784" cy="4802950"/>
          </a:xfrm>
        </p:spPr>
        <p:txBody>
          <a:bodyPr>
            <a:noAutofit/>
          </a:bodyPr>
          <a:lstStyle/>
          <a:p>
            <a:r>
              <a:rPr lang="es-CL" b="1" noProof="0" dirty="0">
                <a:solidFill>
                  <a:schemeClr val="tx1"/>
                </a:solidFill>
              </a:rPr>
              <a:t>Los ingresos por ventas son:</a:t>
            </a:r>
          </a:p>
          <a:p>
            <a:pPr lvl="1"/>
            <a:r>
              <a:rPr lang="es-CL" b="1" noProof="0" dirty="0">
                <a:solidFill>
                  <a:schemeClr val="tx1"/>
                </a:solidFill>
              </a:rPr>
              <a:t>Producto de la venta de un producto o servicio. </a:t>
            </a:r>
          </a:p>
          <a:p>
            <a:pPr lvl="1"/>
            <a:r>
              <a:rPr lang="es-CL" b="1" noProof="0" dirty="0">
                <a:solidFill>
                  <a:schemeClr val="tx1"/>
                </a:solidFill>
              </a:rPr>
              <a:t>Este se determina multiplicando el precio por las unidades vendidas</a:t>
            </a:r>
          </a:p>
          <a:p>
            <a:pPr lvl="1"/>
            <a:r>
              <a:rPr lang="es-CL" b="1" noProof="0" dirty="0">
                <a:solidFill>
                  <a:schemeClr val="tx1"/>
                </a:solidFill>
              </a:rPr>
              <a:t>Es decir, por ejemplo, si el precio es de $1.500 y se vendieron en el período 80.000 unidades, el ingreso por venta es de $120.000.000</a:t>
            </a:r>
          </a:p>
          <a:p>
            <a:pPr lvl="1"/>
            <a:r>
              <a:rPr lang="es-CL" b="1" noProof="0" dirty="0">
                <a:solidFill>
                  <a:schemeClr val="tx1"/>
                </a:solidFill>
              </a:rPr>
              <a:t>Es decir, corresponde al dinero que ingresa a la empresa producto de su actividad. (Por las ventas de sus productos).</a:t>
            </a:r>
          </a:p>
          <a:p>
            <a:pPr lvl="1"/>
            <a:endParaRPr lang="es-CL" b="1" noProof="0" dirty="0">
              <a:solidFill>
                <a:schemeClr val="tx1"/>
              </a:solidFill>
            </a:endParaRPr>
          </a:p>
          <a:p>
            <a:pPr marL="457200" lvl="1" indent="0">
              <a:buNone/>
            </a:pPr>
            <a:r>
              <a:rPr lang="es-CL" b="1" noProof="0" dirty="0">
                <a:solidFill>
                  <a:schemeClr val="tx1"/>
                </a:solidFill>
              </a:rPr>
              <a:t>Nota: Generalmente se diferencia en el nombre cuando es la venta de un servicio, en este caso se indica solamente “Ingresos”.</a:t>
            </a:r>
          </a:p>
        </p:txBody>
      </p:sp>
    </p:spTree>
    <p:extLst>
      <p:ext uri="{BB962C8B-B14F-4D97-AF65-F5344CB8AC3E}">
        <p14:creationId xmlns:p14="http://schemas.microsoft.com/office/powerpoint/2010/main" val="4258939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4AD9DC-1AF9-493A-9902-5F77547A671C}"/>
              </a:ext>
            </a:extLst>
          </p:cNvPr>
          <p:cNvSpPr>
            <a:spLocks noGrp="1"/>
          </p:cNvSpPr>
          <p:nvPr>
            <p:ph type="title"/>
          </p:nvPr>
        </p:nvSpPr>
        <p:spPr>
          <a:xfrm>
            <a:off x="1154953" y="973668"/>
            <a:ext cx="8761413" cy="706964"/>
          </a:xfrm>
        </p:spPr>
        <p:txBody>
          <a:bodyPr vert="horz" lIns="91440" tIns="45720" rIns="91440" bIns="45720" rtlCol="0" anchor="ctr">
            <a:normAutofit/>
          </a:bodyPr>
          <a:lstStyle/>
          <a:p>
            <a:pPr marL="742950" indent="-742950">
              <a:buFont typeface="+mj-lt"/>
              <a:buAutoNum type="arabicPeriod" startAt="3"/>
            </a:pPr>
            <a:r>
              <a:rPr lang="es-CL" sz="3600" b="1" noProof="0" dirty="0">
                <a:solidFill>
                  <a:schemeClr val="bg1"/>
                </a:solidFill>
              </a:rPr>
              <a:t>OPEX (Operational Expenditure)</a:t>
            </a:r>
          </a:p>
        </p:txBody>
      </p:sp>
      <p:pic>
        <p:nvPicPr>
          <p:cNvPr id="4" name="Imagen 3">
            <a:extLst>
              <a:ext uri="{FF2B5EF4-FFF2-40B4-BE49-F238E27FC236}">
                <a16:creationId xmlns:a16="http://schemas.microsoft.com/office/drawing/2014/main" id="{9907630B-05E3-402C-BDB9-82FFB6AA73AA}"/>
              </a:ext>
            </a:extLst>
          </p:cNvPr>
          <p:cNvPicPr>
            <a:picLocks noChangeAspect="1"/>
          </p:cNvPicPr>
          <p:nvPr/>
        </p:nvPicPr>
        <p:blipFill rotWithShape="1">
          <a:blip r:embed="rId2"/>
          <a:srcRect l="1662" r="1411"/>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sp>
        <p:nvSpPr>
          <p:cNvPr id="3" name="Marcador de texto 2">
            <a:extLst>
              <a:ext uri="{FF2B5EF4-FFF2-40B4-BE49-F238E27FC236}">
                <a16:creationId xmlns:a16="http://schemas.microsoft.com/office/drawing/2014/main" id="{3311DA45-5CCC-4392-84D8-72ABF8E5178E}"/>
              </a:ext>
            </a:extLst>
          </p:cNvPr>
          <p:cNvSpPr>
            <a:spLocks noGrp="1"/>
          </p:cNvSpPr>
          <p:nvPr>
            <p:ph type="body" sz="half" idx="2"/>
          </p:nvPr>
        </p:nvSpPr>
        <p:spPr>
          <a:xfrm>
            <a:off x="6017530" y="3042412"/>
            <a:ext cx="5211979" cy="3416300"/>
          </a:xfrm>
        </p:spPr>
        <p:txBody>
          <a:bodyPr vert="horz" lIns="91440" tIns="45720" rIns="91440" bIns="45720" rtlCol="0" anchor="ctr">
            <a:normAutofit/>
          </a:bodyPr>
          <a:lstStyle/>
          <a:p>
            <a:pPr>
              <a:buFont typeface="Wingdings 3" charset="2"/>
              <a:buChar char=""/>
            </a:pPr>
            <a:r>
              <a:rPr lang="es-CL" b="1" noProof="0" dirty="0">
                <a:solidFill>
                  <a:schemeClr val="tx1"/>
                </a:solidFill>
              </a:rPr>
              <a:t>Los OPEX son los gastos operativos, compra de materia prima, costo de remuneraciones, arriendos, etc. Están, enfocados en los desembolsos que se realizan en los períodos regulares de la operación del negocio. Es decir, no es un desembolso que se realiza al inicio, sino que en cada período.</a:t>
            </a:r>
          </a:p>
          <a:p>
            <a:pPr>
              <a:buFont typeface="Wingdings 3" charset="2"/>
              <a:buChar char=""/>
            </a:pPr>
            <a:endParaRPr lang="es-CL" b="1" noProof="0" dirty="0">
              <a:solidFill>
                <a:schemeClr val="tx1"/>
              </a:solidFill>
            </a:endParaRPr>
          </a:p>
          <a:p>
            <a:pPr>
              <a:buFont typeface="Wingdings 3" charset="2"/>
              <a:buChar char=""/>
            </a:pPr>
            <a:r>
              <a:rPr lang="es-CL" b="1" noProof="0" dirty="0">
                <a:solidFill>
                  <a:schemeClr val="tx1"/>
                </a:solidFill>
              </a:rPr>
              <a:t>EJEMPLO: el consumo de petróleo, aceite para el funcionamiento del camión, internet.</a:t>
            </a:r>
          </a:p>
        </p:txBody>
      </p:sp>
    </p:spTree>
    <p:extLst>
      <p:ext uri="{BB962C8B-B14F-4D97-AF65-F5344CB8AC3E}">
        <p14:creationId xmlns:p14="http://schemas.microsoft.com/office/powerpoint/2010/main" val="1529321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7161" y="103031"/>
            <a:ext cx="10749367" cy="1208868"/>
          </a:xfrm>
        </p:spPr>
        <p:txBody>
          <a:bodyPr>
            <a:normAutofit fontScale="90000"/>
          </a:bodyPr>
          <a:lstStyle/>
          <a:p>
            <a:r>
              <a:rPr lang="es-CL" noProof="0" dirty="0"/>
              <a:t>3.1. Costos: </a:t>
            </a:r>
            <a:r>
              <a:rPr lang="es-CL" sz="2700" noProof="0" dirty="0"/>
              <a:t>Los costos son en los que se incurre para producir un producto o dar un servicio. Están directamente relacionados con la fabricación del producto o la generación del servicio que se entrega</a:t>
            </a:r>
            <a:r>
              <a:rPr lang="es-CL" sz="3100" noProof="0" dirty="0"/>
              <a:t>. </a:t>
            </a:r>
          </a:p>
        </p:txBody>
      </p:sp>
      <p:sp>
        <p:nvSpPr>
          <p:cNvPr id="4" name="Marcador de contenido 2"/>
          <p:cNvSpPr txBox="1">
            <a:spLocks/>
          </p:cNvSpPr>
          <p:nvPr/>
        </p:nvSpPr>
        <p:spPr>
          <a:xfrm>
            <a:off x="6167908" y="1825625"/>
            <a:ext cx="4167753" cy="4351338"/>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endParaRPr lang="es-CL" noProof="0" dirty="0"/>
          </a:p>
        </p:txBody>
      </p:sp>
      <p:graphicFrame>
        <p:nvGraphicFramePr>
          <p:cNvPr id="6" name="Tabla 5"/>
          <p:cNvGraphicFramePr>
            <a:graphicFrameLocks noGrp="1"/>
          </p:cNvGraphicFramePr>
          <p:nvPr>
            <p:extLst>
              <p:ext uri="{D42A27DB-BD31-4B8C-83A1-F6EECF244321}">
                <p14:modId xmlns:p14="http://schemas.microsoft.com/office/powerpoint/2010/main" val="3155192040"/>
              </p:ext>
            </p:extLst>
          </p:nvPr>
        </p:nvGraphicFramePr>
        <p:xfrm>
          <a:off x="527161" y="1682406"/>
          <a:ext cx="4871077" cy="4731743"/>
        </p:xfrm>
        <a:graphic>
          <a:graphicData uri="http://schemas.openxmlformats.org/drawingml/2006/table">
            <a:tbl>
              <a:tblPr firstRow="1" bandRow="1">
                <a:tableStyleId>{5C22544A-7EE6-4342-B048-85BDC9FD1C3A}</a:tableStyleId>
              </a:tblPr>
              <a:tblGrid>
                <a:gridCol w="4871077">
                  <a:extLst>
                    <a:ext uri="{9D8B030D-6E8A-4147-A177-3AD203B41FA5}">
                      <a16:colId xmlns:a16="http://schemas.microsoft.com/office/drawing/2014/main" val="20000"/>
                    </a:ext>
                  </a:extLst>
                </a:gridCol>
              </a:tblGrid>
              <a:tr h="4731743">
                <a:tc>
                  <a:txBody>
                    <a:bodyPr/>
                    <a:lstStyle/>
                    <a:p>
                      <a:endParaRPr lang="es-CL" sz="1800" noProof="0" dirty="0">
                        <a:solidFill>
                          <a:schemeClr val="tx1"/>
                        </a:solidFill>
                      </a:endParaRPr>
                    </a:p>
                    <a:p>
                      <a:r>
                        <a:rPr lang="es-CL" sz="1800" noProof="0" dirty="0">
                          <a:solidFill>
                            <a:schemeClr val="bg1"/>
                          </a:solidFill>
                        </a:rPr>
                        <a:t>Se consideran costos, por ejemplo:</a:t>
                      </a:r>
                    </a:p>
                    <a:p>
                      <a:pPr marL="1200150" lvl="2" indent="-285750">
                        <a:buFont typeface="Arial" panose="020B0604020202020204" pitchFamily="34" charset="0"/>
                        <a:buChar char="•"/>
                      </a:pPr>
                      <a:endParaRPr lang="es-CL" sz="1400" noProof="0" dirty="0">
                        <a:solidFill>
                          <a:schemeClr val="bg1"/>
                        </a:solidFill>
                      </a:endParaRPr>
                    </a:p>
                    <a:p>
                      <a:pPr marL="1200150" lvl="2" indent="-285750">
                        <a:buFont typeface="Arial" panose="020B0604020202020204" pitchFamily="34" charset="0"/>
                        <a:buChar char="•"/>
                      </a:pPr>
                      <a:r>
                        <a:rPr lang="es-CL" sz="1400" noProof="0" dirty="0">
                          <a:solidFill>
                            <a:schemeClr val="bg1"/>
                          </a:solidFill>
                        </a:rPr>
                        <a:t>La Materia prima que se usa para producir el producto.</a:t>
                      </a:r>
                    </a:p>
                    <a:p>
                      <a:pPr marL="1200150" lvl="2" indent="-285750">
                        <a:buFont typeface="Arial" panose="020B0604020202020204" pitchFamily="34" charset="0"/>
                        <a:buChar char="•"/>
                      </a:pPr>
                      <a:endParaRPr lang="es-CL" sz="1400" noProof="0" dirty="0">
                        <a:solidFill>
                          <a:schemeClr val="bg1"/>
                        </a:solidFill>
                      </a:endParaRPr>
                    </a:p>
                    <a:p>
                      <a:pPr marL="1200150" lvl="2" indent="-285750">
                        <a:buFont typeface="Arial" panose="020B0604020202020204" pitchFamily="34" charset="0"/>
                        <a:buChar char="•"/>
                      </a:pPr>
                      <a:r>
                        <a:rPr lang="es-CL" sz="1400" noProof="0" dirty="0">
                          <a:solidFill>
                            <a:schemeClr val="bg1"/>
                          </a:solidFill>
                        </a:rPr>
                        <a:t>La compra del producto que se revenderá.</a:t>
                      </a:r>
                    </a:p>
                    <a:p>
                      <a:pPr marL="1200150" lvl="2" indent="-285750">
                        <a:buFont typeface="Arial" panose="020B0604020202020204" pitchFamily="34" charset="0"/>
                        <a:buChar char="•"/>
                      </a:pPr>
                      <a:endParaRPr lang="es-CL" sz="1400" noProof="0" dirty="0">
                        <a:solidFill>
                          <a:schemeClr val="bg1"/>
                        </a:solidFill>
                      </a:endParaRPr>
                    </a:p>
                    <a:p>
                      <a:pPr marL="1200150" lvl="2" indent="-285750">
                        <a:buFont typeface="Arial" panose="020B0604020202020204" pitchFamily="34" charset="0"/>
                        <a:buChar char="•"/>
                      </a:pPr>
                      <a:r>
                        <a:rPr lang="es-CL" sz="1400" noProof="0" dirty="0">
                          <a:solidFill>
                            <a:schemeClr val="bg1"/>
                          </a:solidFill>
                        </a:rPr>
                        <a:t>La mano de obra directa que se usa para fabricar el producto.</a:t>
                      </a:r>
                    </a:p>
                    <a:p>
                      <a:pPr marL="1200150" lvl="2" indent="-285750">
                        <a:buFont typeface="Arial" panose="020B0604020202020204" pitchFamily="34" charset="0"/>
                        <a:buChar char="•"/>
                      </a:pPr>
                      <a:endParaRPr lang="es-CL" sz="1400" noProof="0" dirty="0">
                        <a:solidFill>
                          <a:schemeClr val="bg1"/>
                        </a:solidFill>
                      </a:endParaRPr>
                    </a:p>
                    <a:p>
                      <a:pPr marL="1200150" lvl="2" indent="-285750">
                        <a:buFont typeface="Arial" panose="020B0604020202020204" pitchFamily="34" charset="0"/>
                        <a:buChar char="•"/>
                      </a:pPr>
                      <a:r>
                        <a:rPr lang="es-CL" sz="1400" noProof="0" dirty="0">
                          <a:solidFill>
                            <a:schemeClr val="bg1"/>
                          </a:solidFill>
                        </a:rPr>
                        <a:t>Se incluyen algunos costo directo de fabricación, que realmente se pueden asignar a la fabricación, como: insumes de energía. Pero deben estar claramente identificados.</a:t>
                      </a:r>
                    </a:p>
                    <a:p>
                      <a:endParaRPr lang="es-CL" noProof="0" dirty="0">
                        <a:solidFill>
                          <a:schemeClr val="bg1"/>
                        </a:solidFill>
                      </a:endParaRPr>
                    </a:p>
                  </a:txBody>
                  <a:tcPr/>
                </a:tc>
                <a:extLst>
                  <a:ext uri="{0D108BD9-81ED-4DB2-BD59-A6C34878D82A}">
                    <a16:rowId xmlns:a16="http://schemas.microsoft.com/office/drawing/2014/main" val="10000"/>
                  </a:ext>
                </a:extLst>
              </a:tr>
            </a:tbl>
          </a:graphicData>
        </a:graphic>
      </p:graphicFrame>
      <p:graphicFrame>
        <p:nvGraphicFramePr>
          <p:cNvPr id="7" name="Tabla 6"/>
          <p:cNvGraphicFramePr>
            <a:graphicFrameLocks noGrp="1"/>
          </p:cNvGraphicFramePr>
          <p:nvPr>
            <p:extLst>
              <p:ext uri="{D42A27DB-BD31-4B8C-83A1-F6EECF244321}">
                <p14:modId xmlns:p14="http://schemas.microsoft.com/office/powerpoint/2010/main" val="1496725876"/>
              </p:ext>
            </p:extLst>
          </p:nvPr>
        </p:nvGraphicFramePr>
        <p:xfrm>
          <a:off x="6246792" y="1682406"/>
          <a:ext cx="4871077" cy="4431792"/>
        </p:xfrm>
        <a:graphic>
          <a:graphicData uri="http://schemas.openxmlformats.org/drawingml/2006/table">
            <a:tbl>
              <a:tblPr firstRow="1" bandRow="1">
                <a:tableStyleId>{5C22544A-7EE6-4342-B048-85BDC9FD1C3A}</a:tableStyleId>
              </a:tblPr>
              <a:tblGrid>
                <a:gridCol w="4871077">
                  <a:extLst>
                    <a:ext uri="{9D8B030D-6E8A-4147-A177-3AD203B41FA5}">
                      <a16:colId xmlns:a16="http://schemas.microsoft.com/office/drawing/2014/main" val="20000"/>
                    </a:ext>
                  </a:extLst>
                </a:gridCol>
              </a:tblGrid>
              <a:tr h="4236979">
                <a:tc>
                  <a:txBody>
                    <a:bodyPr/>
                    <a:lstStyle/>
                    <a:p>
                      <a:pPr>
                        <a:lnSpc>
                          <a:spcPct val="130000"/>
                        </a:lnSpc>
                        <a:spcBef>
                          <a:spcPct val="30000"/>
                        </a:spcBef>
                        <a:spcAft>
                          <a:spcPts val="1200"/>
                        </a:spcAft>
                        <a:buFont typeface="Arial" panose="020B0604020202020204" pitchFamily="34" charset="0"/>
                      </a:pPr>
                      <a:r>
                        <a:rPr lang="es-CL" sz="1400" noProof="0" dirty="0"/>
                        <a:t>Estos costos se van sumando al valor de producción del producto fabricado o del servicio entregado.</a:t>
                      </a:r>
                    </a:p>
                    <a:p>
                      <a:pPr>
                        <a:lnSpc>
                          <a:spcPct val="130000"/>
                        </a:lnSpc>
                        <a:spcBef>
                          <a:spcPct val="30000"/>
                        </a:spcBef>
                        <a:spcAft>
                          <a:spcPts val="1200"/>
                        </a:spcAft>
                        <a:buFont typeface="Arial" panose="020B0604020202020204" pitchFamily="34" charset="0"/>
                      </a:pPr>
                      <a:r>
                        <a:rPr lang="es-CL" sz="1400" noProof="0" dirty="0"/>
                        <a:t>Con estos se determina lo que se denomina costo de producción. </a:t>
                      </a:r>
                    </a:p>
                    <a:p>
                      <a:pPr>
                        <a:lnSpc>
                          <a:spcPct val="130000"/>
                        </a:lnSpc>
                        <a:spcBef>
                          <a:spcPct val="30000"/>
                        </a:spcBef>
                        <a:spcAft>
                          <a:spcPts val="1200"/>
                        </a:spcAft>
                        <a:buFont typeface="Arial" panose="020B0604020202020204" pitchFamily="34" charset="0"/>
                      </a:pPr>
                      <a:r>
                        <a:rPr lang="es-CL" sz="1400" noProof="0" dirty="0"/>
                        <a:t>Son un egreso para la empresa. </a:t>
                      </a:r>
                    </a:p>
                    <a:p>
                      <a:pPr>
                        <a:lnSpc>
                          <a:spcPct val="130000"/>
                        </a:lnSpc>
                        <a:spcBef>
                          <a:spcPct val="30000"/>
                        </a:spcBef>
                        <a:spcAft>
                          <a:spcPts val="1200"/>
                        </a:spcAft>
                        <a:buFont typeface="Arial" panose="020B0604020202020204" pitchFamily="34" charset="0"/>
                      </a:pPr>
                      <a:r>
                        <a:rPr lang="es-CL" sz="1400" noProof="0" dirty="0"/>
                        <a:t>Cuando el producto está terminado pero aún no se vende se contabiliza como: Mercaderías; Existencias; Inventarios o similares.</a:t>
                      </a:r>
                    </a:p>
                    <a:p>
                      <a:pPr>
                        <a:lnSpc>
                          <a:spcPct val="130000"/>
                        </a:lnSpc>
                        <a:spcBef>
                          <a:spcPct val="30000"/>
                        </a:spcBef>
                        <a:spcAft>
                          <a:spcPts val="1200"/>
                        </a:spcAft>
                        <a:buFont typeface="Arial" panose="020B0604020202020204" pitchFamily="34" charset="0"/>
                      </a:pPr>
                      <a:r>
                        <a:rPr lang="es-CL" sz="1400" noProof="0" dirty="0"/>
                        <a:t>Cuando se venden se contabilizan como costo de venta o variable. </a:t>
                      </a:r>
                    </a:p>
                    <a:p>
                      <a:endParaRPr lang="es-CL" sz="1800" noProof="0" dirty="0">
                        <a:solidFill>
                          <a:schemeClr val="tx1"/>
                        </a:solidFill>
                      </a:endParaRPr>
                    </a:p>
                    <a:p>
                      <a:endParaRPr lang="es-CL" noProof="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198099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marL="742950" indent="-742950">
              <a:buFont typeface="+mj-lt"/>
              <a:buAutoNum type="arabicPeriod" startAt="3"/>
            </a:pPr>
            <a:r>
              <a:rPr lang="es-CL" noProof="0" dirty="0"/>
              <a:t>2. Gastos</a:t>
            </a:r>
          </a:p>
        </p:txBody>
      </p:sp>
      <p:graphicFrame>
        <p:nvGraphicFramePr>
          <p:cNvPr id="4" name="Tabla 3"/>
          <p:cNvGraphicFramePr>
            <a:graphicFrameLocks noGrp="1"/>
          </p:cNvGraphicFramePr>
          <p:nvPr>
            <p:extLst>
              <p:ext uri="{D42A27DB-BD31-4B8C-83A1-F6EECF244321}">
                <p14:modId xmlns:p14="http://schemas.microsoft.com/office/powerpoint/2010/main" val="493379615"/>
              </p:ext>
            </p:extLst>
          </p:nvPr>
        </p:nvGraphicFramePr>
        <p:xfrm>
          <a:off x="1606997" y="1720763"/>
          <a:ext cx="8128000" cy="448056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000"/>
                    </a:ext>
                  </a:extLst>
                </a:gridCol>
              </a:tblGrid>
              <a:tr h="4229275">
                <a:tc>
                  <a:txBody>
                    <a:bodyPr/>
                    <a:lstStyle/>
                    <a:p>
                      <a:r>
                        <a:rPr lang="es-CL" noProof="0" dirty="0"/>
                        <a:t>Corresponde a los otros egresos que debe efectuar la empresa para que el negocio funcione, como, por ejemplo:</a:t>
                      </a:r>
                    </a:p>
                    <a:p>
                      <a:pPr lvl="1"/>
                      <a:endParaRPr lang="es-CL" noProof="0" dirty="0"/>
                    </a:p>
                    <a:p>
                      <a:pPr lvl="1"/>
                      <a:r>
                        <a:rPr lang="es-CL" noProof="0" dirty="0"/>
                        <a:t>Sueldos; Arriendo; sueldos, luz, agua, gas, combustible, internet, etc.</a:t>
                      </a:r>
                    </a:p>
                    <a:p>
                      <a:endParaRPr lang="es-CL" noProof="0" dirty="0"/>
                    </a:p>
                    <a:p>
                      <a:r>
                        <a:rPr lang="es-CL" noProof="0" dirty="0"/>
                        <a:t>Son gastos de apoyo para el correcto funcionamiento de la empresa.</a:t>
                      </a:r>
                    </a:p>
                    <a:p>
                      <a:endParaRPr lang="es-CL" noProof="0" dirty="0"/>
                    </a:p>
                    <a:p>
                      <a:r>
                        <a:rPr lang="es-CL" noProof="0" dirty="0"/>
                        <a:t>En general se consideran que son fijos, ya que no dependen de la cantidad producción. </a:t>
                      </a:r>
                    </a:p>
                    <a:p>
                      <a:endParaRPr lang="es-CL" noProof="0" dirty="0"/>
                    </a:p>
                    <a:p>
                      <a:r>
                        <a:rPr lang="es-CL" noProof="0" dirty="0"/>
                        <a:t>Se dice que son fijos a pesar de que pueden variar mes a mes, pero esa variación no depende de la producción.</a:t>
                      </a:r>
                    </a:p>
                    <a:p>
                      <a:endParaRPr lang="es-CL" noProof="0" dirty="0"/>
                    </a:p>
                    <a:p>
                      <a:r>
                        <a:rPr lang="es-CL" noProof="0" dirty="0"/>
                        <a:t>Se deben pagar con o sin producción.</a:t>
                      </a:r>
                    </a:p>
                    <a:p>
                      <a:endParaRPr lang="es-CL" noProof="0" dirty="0"/>
                    </a:p>
                    <a:p>
                      <a:endParaRPr lang="es-CL" noProof="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6820020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Estado de Resultado Integral</a:t>
            </a:r>
          </a:p>
        </p:txBody>
      </p:sp>
      <p:sp>
        <p:nvSpPr>
          <p:cNvPr id="3" name="Marcador de contenido 2"/>
          <p:cNvSpPr>
            <a:spLocks noGrp="1"/>
          </p:cNvSpPr>
          <p:nvPr>
            <p:ph idx="1"/>
          </p:nvPr>
        </p:nvSpPr>
        <p:spPr>
          <a:xfrm>
            <a:off x="3901439" y="1624934"/>
            <a:ext cx="6077273" cy="4410106"/>
          </a:xfrm>
        </p:spPr>
        <p:txBody>
          <a:bodyPr>
            <a:normAutofit fontScale="85000" lnSpcReduction="20000"/>
          </a:bodyPr>
          <a:lstStyle/>
          <a:p>
            <a:r>
              <a:rPr lang="es-CL" sz="2000" noProof="0" dirty="0">
                <a:solidFill>
                  <a:schemeClr val="tx1"/>
                </a:solidFill>
              </a:rPr>
              <a:t>Si el balance es una foto en un momento del tiempo, el estado de resultado es una película, que muestra todo lo sucedido en un período determinado.</a:t>
            </a:r>
          </a:p>
          <a:p>
            <a:pPr marL="0" indent="0">
              <a:buNone/>
            </a:pPr>
            <a:endParaRPr lang="es-CL" sz="2000" noProof="0" dirty="0">
              <a:solidFill>
                <a:schemeClr val="tx1"/>
              </a:solidFill>
            </a:endParaRPr>
          </a:p>
          <a:p>
            <a:r>
              <a:rPr lang="es-CL" sz="2000" noProof="0" dirty="0">
                <a:solidFill>
                  <a:schemeClr val="tx1"/>
                </a:solidFill>
              </a:rPr>
              <a:t>El estado de resultado va acumulando las partidas de resultado de todo el año.</a:t>
            </a:r>
          </a:p>
          <a:p>
            <a:pPr marL="0" indent="0">
              <a:buNone/>
            </a:pPr>
            <a:endParaRPr lang="es-CL" sz="2000" noProof="0" dirty="0">
              <a:solidFill>
                <a:schemeClr val="tx1"/>
              </a:solidFill>
            </a:endParaRPr>
          </a:p>
          <a:p>
            <a:r>
              <a:rPr lang="es-CL" sz="2000" noProof="0" dirty="0">
                <a:solidFill>
                  <a:schemeClr val="tx1"/>
                </a:solidFill>
              </a:rPr>
              <a:t>Las cuentas de resultado representan los: Ingresos, costos y gastos del período, y aportan el resultado del ejercicio, que puede ser ganancia o pérdida.</a:t>
            </a:r>
          </a:p>
        </p:txBody>
      </p:sp>
      <p:pic>
        <p:nvPicPr>
          <p:cNvPr id="4" name="Imagen 3"/>
          <p:cNvPicPr>
            <a:picLocks noChangeAspect="1"/>
          </p:cNvPicPr>
          <p:nvPr/>
        </p:nvPicPr>
        <p:blipFill>
          <a:blip r:embed="rId2"/>
          <a:stretch>
            <a:fillRect/>
          </a:stretch>
        </p:blipFill>
        <p:spPr>
          <a:xfrm>
            <a:off x="604434" y="4430567"/>
            <a:ext cx="3509531" cy="2016385"/>
          </a:xfrm>
          <a:prstGeom prst="rect">
            <a:avLst/>
          </a:prstGeom>
        </p:spPr>
      </p:pic>
      <p:pic>
        <p:nvPicPr>
          <p:cNvPr id="5" name="Imagen 4"/>
          <p:cNvPicPr>
            <a:picLocks noChangeAspect="1"/>
          </p:cNvPicPr>
          <p:nvPr/>
        </p:nvPicPr>
        <p:blipFill>
          <a:blip r:embed="rId3"/>
          <a:stretch>
            <a:fillRect/>
          </a:stretch>
        </p:blipFill>
        <p:spPr>
          <a:xfrm>
            <a:off x="9679577" y="86865"/>
            <a:ext cx="2174410" cy="1637104"/>
          </a:xfrm>
          <a:prstGeom prst="rect">
            <a:avLst/>
          </a:prstGeom>
        </p:spPr>
      </p:pic>
    </p:spTree>
    <p:extLst>
      <p:ext uri="{BB962C8B-B14F-4D97-AF65-F5344CB8AC3E}">
        <p14:creationId xmlns:p14="http://schemas.microsoft.com/office/powerpoint/2010/main" val="1339482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421653" y="152400"/>
            <a:ext cx="8761413" cy="778635"/>
          </a:xfrm>
        </p:spPr>
        <p:txBody>
          <a:bodyPr/>
          <a:lstStyle/>
          <a:p>
            <a:r>
              <a:rPr lang="es-CL" noProof="0" dirty="0"/>
              <a:t>Esquema típico de un estado de resultado.</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655251598"/>
              </p:ext>
            </p:extLst>
          </p:nvPr>
        </p:nvGraphicFramePr>
        <p:xfrm>
          <a:off x="3744910" y="1652742"/>
          <a:ext cx="3747752" cy="4369303"/>
        </p:xfrm>
        <a:graphic>
          <a:graphicData uri="http://schemas.openxmlformats.org/drawingml/2006/table">
            <a:tbl>
              <a:tblPr/>
              <a:tblGrid>
                <a:gridCol w="3747752">
                  <a:extLst>
                    <a:ext uri="{9D8B030D-6E8A-4147-A177-3AD203B41FA5}">
                      <a16:colId xmlns:a16="http://schemas.microsoft.com/office/drawing/2014/main" val="20000"/>
                    </a:ext>
                  </a:extLst>
                </a:gridCol>
              </a:tblGrid>
              <a:tr h="736798">
                <a:tc>
                  <a:txBody>
                    <a:bodyPr/>
                    <a:lstStyle/>
                    <a:p>
                      <a:pPr algn="ctr" fontAlgn="b"/>
                      <a:r>
                        <a:rPr lang="es-CL" sz="2000" b="1" i="0" u="none" strike="noStrike" noProof="0" dirty="0">
                          <a:solidFill>
                            <a:srgbClr val="000000"/>
                          </a:solidFill>
                          <a:effectLst/>
                          <a:latin typeface="Calibri" panose="020F0502020204030204" pitchFamily="34" charset="0"/>
                        </a:rPr>
                        <a:t>Estado de resultado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3530">
                <a:tc>
                  <a:txBody>
                    <a:bodyPr/>
                    <a:lstStyle/>
                    <a:p>
                      <a:pPr algn="ctr" fontAlgn="b"/>
                      <a:r>
                        <a:rPr lang="es-CL" sz="1600" b="0" i="0" u="none" strike="noStrike" noProof="0" dirty="0">
                          <a:solidFill>
                            <a:srgbClr val="000000"/>
                          </a:solidFill>
                          <a:effectLst/>
                          <a:latin typeface="Calibri" panose="020F0502020204030204" pitchFamily="34" charset="0"/>
                        </a:rPr>
                        <a:t>Ventas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3530">
                <a:tc>
                  <a:txBody>
                    <a:bodyPr/>
                    <a:lstStyle/>
                    <a:p>
                      <a:pPr algn="ctr" fontAlgn="b"/>
                      <a:r>
                        <a:rPr lang="es-CL" sz="1600" b="0" i="0" u="none" strike="noStrike" noProof="0" dirty="0">
                          <a:solidFill>
                            <a:srgbClr val="000000"/>
                          </a:solidFill>
                          <a:effectLst/>
                          <a:latin typeface="Calibri" panose="020F0502020204030204" pitchFamily="34" charset="0"/>
                        </a:rPr>
                        <a:t>(Costo de ventas)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3530">
                <a:tc>
                  <a:txBody>
                    <a:bodyPr/>
                    <a:lstStyle/>
                    <a:p>
                      <a:pPr algn="ctr" fontAlgn="b"/>
                      <a:r>
                        <a:rPr lang="es-CL" sz="1600" b="1" i="0" u="none" strike="noStrike" noProof="0" dirty="0">
                          <a:solidFill>
                            <a:srgbClr val="000000"/>
                          </a:solidFill>
                          <a:effectLst/>
                          <a:latin typeface="Calibri" panose="020F0502020204030204" pitchFamily="34" charset="0"/>
                        </a:rPr>
                        <a:t>Margen comercial o bruto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3530">
                <a:tc>
                  <a:txBody>
                    <a:bodyPr/>
                    <a:lstStyle/>
                    <a:p>
                      <a:pPr algn="ctr" fontAlgn="b"/>
                      <a:r>
                        <a:rPr lang="es-CL" sz="1600" b="0" i="0" u="none" strike="noStrike" noProof="0" dirty="0">
                          <a:solidFill>
                            <a:srgbClr val="000000"/>
                          </a:solidFill>
                          <a:effectLst/>
                          <a:latin typeface="Calibri" panose="020F0502020204030204" pitchFamily="34" charset="0"/>
                        </a:rPr>
                        <a:t>(Gastos de Administración y Ventas)</a:t>
                      </a:r>
                    </a:p>
                    <a:p>
                      <a:pPr algn="ctr" fontAlgn="b"/>
                      <a:r>
                        <a:rPr lang="es-CL" sz="1600" b="0" i="0" u="none" strike="noStrike" noProof="0" dirty="0">
                          <a:solidFill>
                            <a:srgbClr val="000000"/>
                          </a:solidFill>
                          <a:effectLst/>
                          <a:latin typeface="Calibri" panose="020F0502020204030204" pitchFamily="34" charset="0"/>
                        </a:rPr>
                        <a:t>(Depreciación)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3530">
                <a:tc>
                  <a:txBody>
                    <a:bodyPr/>
                    <a:lstStyle/>
                    <a:p>
                      <a:pPr algn="ctr" fontAlgn="b"/>
                      <a:r>
                        <a:rPr lang="es-CL" sz="1600" b="1" i="0" u="none" strike="noStrike" noProof="0" dirty="0">
                          <a:solidFill>
                            <a:srgbClr val="000000"/>
                          </a:solidFill>
                          <a:effectLst/>
                          <a:latin typeface="Calibri" panose="020F0502020204030204" pitchFamily="34" charset="0"/>
                        </a:rPr>
                        <a:t>Margen operacional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3530">
                <a:tc>
                  <a:txBody>
                    <a:bodyPr/>
                    <a:lstStyle/>
                    <a:p>
                      <a:pPr algn="ctr" fontAlgn="b"/>
                      <a:r>
                        <a:rPr lang="es-CL" sz="1600" b="0" i="0" u="none" strike="noStrike" noProof="0" dirty="0">
                          <a:solidFill>
                            <a:srgbClr val="000000"/>
                          </a:solidFill>
                          <a:effectLst/>
                          <a:latin typeface="Calibri" panose="020F0502020204030204" pitchFamily="34" charset="0"/>
                        </a:rPr>
                        <a:t>(+ - Otros no operacionales)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13530">
                <a:tc>
                  <a:txBody>
                    <a:bodyPr/>
                    <a:lstStyle/>
                    <a:p>
                      <a:pPr algn="ctr" fontAlgn="b"/>
                      <a:r>
                        <a:rPr lang="es-CL" sz="1600" b="1" i="0" u="none" strike="noStrike" noProof="0" dirty="0">
                          <a:solidFill>
                            <a:srgbClr val="000000"/>
                          </a:solidFill>
                          <a:effectLst/>
                          <a:latin typeface="Calibri" panose="020F0502020204030204" pitchFamily="34" charset="0"/>
                        </a:rPr>
                        <a:t>Resultado Antes intereses</a:t>
                      </a:r>
                      <a:r>
                        <a:rPr lang="es-CL" sz="1600" b="1" i="0" u="none" strike="noStrike" baseline="0" noProof="0" dirty="0">
                          <a:solidFill>
                            <a:srgbClr val="000000"/>
                          </a:solidFill>
                          <a:effectLst/>
                          <a:latin typeface="Calibri" panose="020F0502020204030204" pitchFamily="34" charset="0"/>
                        </a:rPr>
                        <a:t> </a:t>
                      </a:r>
                      <a:r>
                        <a:rPr lang="es-CL" sz="1600" b="1" i="0" u="none" strike="noStrike" noProof="0" dirty="0">
                          <a:solidFill>
                            <a:srgbClr val="000000"/>
                          </a:solidFill>
                          <a:effectLst/>
                          <a:latin typeface="Calibri" panose="020F0502020204030204" pitchFamily="34" charset="0"/>
                        </a:rPr>
                        <a:t>e impuestos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13530">
                <a:tc>
                  <a:txBody>
                    <a:bodyPr/>
                    <a:lstStyle/>
                    <a:p>
                      <a:pPr algn="ctr" fontAlgn="b"/>
                      <a:r>
                        <a:rPr lang="es-CL" sz="1600" b="0" i="0" u="none" strike="noStrike" noProof="0" dirty="0">
                          <a:solidFill>
                            <a:srgbClr val="000000"/>
                          </a:solidFill>
                          <a:effectLst/>
                          <a:latin typeface="Calibri" panose="020F0502020204030204" pitchFamily="34" charset="0"/>
                        </a:rPr>
                        <a:t>(Intereses)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13530">
                <a:tc>
                  <a:txBody>
                    <a:bodyPr/>
                    <a:lstStyle/>
                    <a:p>
                      <a:pPr algn="ctr" fontAlgn="b"/>
                      <a:r>
                        <a:rPr lang="es-CL" sz="1600" b="1" i="0" u="none" strike="noStrike" noProof="0" dirty="0">
                          <a:solidFill>
                            <a:srgbClr val="000000"/>
                          </a:solidFill>
                          <a:effectLst/>
                          <a:latin typeface="Calibri" panose="020F0502020204030204" pitchFamily="34" charset="0"/>
                        </a:rPr>
                        <a:t>Resultados Antes impuestos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13530">
                <a:tc>
                  <a:txBody>
                    <a:bodyPr/>
                    <a:lstStyle/>
                    <a:p>
                      <a:pPr algn="ctr" fontAlgn="b"/>
                      <a:r>
                        <a:rPr lang="es-CL" sz="1600" b="0" i="0" u="none" strike="noStrike" noProof="0" dirty="0">
                          <a:solidFill>
                            <a:srgbClr val="000000"/>
                          </a:solidFill>
                          <a:effectLst/>
                          <a:latin typeface="Calibri" panose="020F0502020204030204" pitchFamily="34" charset="0"/>
                        </a:rPr>
                        <a:t>(Impuestos)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13530">
                <a:tc>
                  <a:txBody>
                    <a:bodyPr/>
                    <a:lstStyle/>
                    <a:p>
                      <a:pPr algn="ctr" fontAlgn="b"/>
                      <a:r>
                        <a:rPr lang="es-CL" sz="1600" b="1" i="0" u="none" strike="noStrike" noProof="0" dirty="0">
                          <a:solidFill>
                            <a:srgbClr val="000000"/>
                          </a:solidFill>
                          <a:effectLst/>
                          <a:latin typeface="Calibri" panose="020F0502020204030204" pitchFamily="34" charset="0"/>
                        </a:rPr>
                        <a:t> Resultado ejercicio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2414033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D196D89-B2D1-92FA-7D4B-000DECF67EF4}"/>
              </a:ext>
            </a:extLst>
          </p:cNvPr>
          <p:cNvPicPr>
            <a:picLocks noChangeAspect="1"/>
          </p:cNvPicPr>
          <p:nvPr/>
        </p:nvPicPr>
        <p:blipFill>
          <a:blip r:embed="rId2"/>
          <a:srcRect l="7416" t="20296" r="49084" b="8148"/>
          <a:stretch>
            <a:fillRect/>
          </a:stretch>
        </p:blipFill>
        <p:spPr>
          <a:xfrm>
            <a:off x="2590800" y="243840"/>
            <a:ext cx="6906654" cy="6390640"/>
          </a:xfrm>
          <a:prstGeom prst="rect">
            <a:avLst/>
          </a:prstGeom>
        </p:spPr>
      </p:pic>
    </p:spTree>
    <p:extLst>
      <p:ext uri="{BB962C8B-B14F-4D97-AF65-F5344CB8AC3E}">
        <p14:creationId xmlns:p14="http://schemas.microsoft.com/office/powerpoint/2010/main" val="1315823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DA5520-CC93-49F8-82EF-5CDBDF37EC40}"/>
              </a:ext>
            </a:extLst>
          </p:cNvPr>
          <p:cNvSpPr>
            <a:spLocks noGrp="1"/>
          </p:cNvSpPr>
          <p:nvPr>
            <p:ph type="title"/>
          </p:nvPr>
        </p:nvSpPr>
        <p:spPr>
          <a:xfrm>
            <a:off x="831851" y="198782"/>
            <a:ext cx="10515600" cy="1029653"/>
          </a:xfrm>
        </p:spPr>
        <p:txBody>
          <a:bodyPr>
            <a:normAutofit fontScale="90000"/>
          </a:bodyPr>
          <a:lstStyle/>
          <a:p>
            <a:r>
              <a:rPr lang="es-CL" noProof="0" dirty="0"/>
              <a:t>1.3 Como se determina cada partida del estado de resultado.</a:t>
            </a:r>
          </a:p>
        </p:txBody>
      </p:sp>
      <p:sp>
        <p:nvSpPr>
          <p:cNvPr id="4" name="Marcador de contenido 3">
            <a:extLst>
              <a:ext uri="{FF2B5EF4-FFF2-40B4-BE49-F238E27FC236}">
                <a16:creationId xmlns:a16="http://schemas.microsoft.com/office/drawing/2014/main" id="{AE2258C7-B5E3-4559-B23C-01CBDCF00629}"/>
              </a:ext>
            </a:extLst>
          </p:cNvPr>
          <p:cNvSpPr>
            <a:spLocks noGrp="1"/>
          </p:cNvSpPr>
          <p:nvPr>
            <p:ph sz="half" idx="2"/>
          </p:nvPr>
        </p:nvSpPr>
        <p:spPr>
          <a:xfrm>
            <a:off x="831850" y="1510749"/>
            <a:ext cx="10352985" cy="4661454"/>
          </a:xfrm>
        </p:spPr>
        <p:txBody>
          <a:bodyPr/>
          <a:lstStyle/>
          <a:p>
            <a:r>
              <a:rPr lang="es-CL" b="1" noProof="0" dirty="0">
                <a:solidFill>
                  <a:schemeClr val="tx1"/>
                </a:solidFill>
              </a:rPr>
              <a:t>Ventas</a:t>
            </a:r>
            <a:r>
              <a:rPr lang="es-CL" noProof="0" dirty="0">
                <a:solidFill>
                  <a:schemeClr val="tx1"/>
                </a:solidFill>
              </a:rPr>
              <a:t> = Precio multiplicado con cantidad de unidades vendidas</a:t>
            </a:r>
          </a:p>
          <a:p>
            <a:r>
              <a:rPr lang="es-CL" b="1" noProof="0" dirty="0">
                <a:solidFill>
                  <a:schemeClr val="tx1"/>
                </a:solidFill>
              </a:rPr>
              <a:t>Costo de ventas o Variable</a:t>
            </a:r>
            <a:r>
              <a:rPr lang="es-CL" noProof="0" dirty="0">
                <a:solidFill>
                  <a:schemeClr val="tx1"/>
                </a:solidFill>
              </a:rPr>
              <a:t> = Costo unidades vendidas multiplicado por unidades vendidas.</a:t>
            </a:r>
          </a:p>
          <a:p>
            <a:r>
              <a:rPr lang="es-CL" b="1" noProof="0" dirty="0">
                <a:solidFill>
                  <a:schemeClr val="tx1"/>
                </a:solidFill>
              </a:rPr>
              <a:t>Margen comercial o bruto</a:t>
            </a:r>
            <a:r>
              <a:rPr lang="es-CL" noProof="0" dirty="0">
                <a:solidFill>
                  <a:schemeClr val="tx1"/>
                </a:solidFill>
              </a:rPr>
              <a:t> = Resta entre ventas y costo de ventas.</a:t>
            </a:r>
          </a:p>
          <a:p>
            <a:r>
              <a:rPr lang="es-CL" b="1" noProof="0" dirty="0">
                <a:solidFill>
                  <a:schemeClr val="tx1"/>
                </a:solidFill>
              </a:rPr>
              <a:t>Gastos de administración y ventas</a:t>
            </a:r>
            <a:r>
              <a:rPr lang="es-CL" noProof="0" dirty="0">
                <a:solidFill>
                  <a:schemeClr val="tx1"/>
                </a:solidFill>
              </a:rPr>
              <a:t>  </a:t>
            </a:r>
            <a:r>
              <a:rPr lang="es-CL" b="1" noProof="0" dirty="0">
                <a:solidFill>
                  <a:schemeClr val="tx1"/>
                </a:solidFill>
              </a:rPr>
              <a:t>(GAV)</a:t>
            </a:r>
            <a:r>
              <a:rPr lang="es-CL" noProof="0" dirty="0">
                <a:solidFill>
                  <a:schemeClr val="tx1"/>
                </a:solidFill>
              </a:rPr>
              <a:t>= Incluye gastos de arriendo; sueldos; depreciación; Cuentas varias del giro. Se incluye en este ítem la Depreciación y la amortización de activos.</a:t>
            </a:r>
          </a:p>
          <a:p>
            <a:r>
              <a:rPr lang="es-CL" b="1" noProof="0" dirty="0">
                <a:solidFill>
                  <a:schemeClr val="tx1"/>
                </a:solidFill>
              </a:rPr>
              <a:t>Margen o Resultado Operacional</a:t>
            </a:r>
            <a:r>
              <a:rPr lang="es-CL" noProof="0" dirty="0">
                <a:solidFill>
                  <a:schemeClr val="tx1"/>
                </a:solidFill>
              </a:rPr>
              <a:t> = Resta entre Margen comercial y Gastos de Administración Y Ventas</a:t>
            </a:r>
          </a:p>
          <a:p>
            <a:r>
              <a:rPr lang="es-CL" b="1" noProof="0" dirty="0">
                <a:solidFill>
                  <a:schemeClr val="tx1"/>
                </a:solidFill>
              </a:rPr>
              <a:t>Ingresos o egresos NO operacionales</a:t>
            </a:r>
            <a:r>
              <a:rPr lang="es-CL" noProof="0" dirty="0">
                <a:solidFill>
                  <a:schemeClr val="tx1"/>
                </a:solidFill>
              </a:rPr>
              <a:t> = son producto de actividades fuera del giro directo del negocio.</a:t>
            </a:r>
          </a:p>
          <a:p>
            <a:r>
              <a:rPr lang="es-CL" b="1" noProof="0" dirty="0">
                <a:solidFill>
                  <a:schemeClr val="tx1"/>
                </a:solidFill>
              </a:rPr>
              <a:t>Resultado o Utilidad antes de Intereses e impuestos (UAII)</a:t>
            </a:r>
            <a:r>
              <a:rPr lang="es-CL" noProof="0" dirty="0">
                <a:solidFill>
                  <a:schemeClr val="tx1"/>
                </a:solidFill>
              </a:rPr>
              <a:t> = Es la diferencia entre Margen Operacional e Ingresos o Egresos no operacionales.</a:t>
            </a:r>
          </a:p>
          <a:p>
            <a:r>
              <a:rPr lang="es-CL" b="1" noProof="0" dirty="0">
                <a:solidFill>
                  <a:schemeClr val="tx1"/>
                </a:solidFill>
              </a:rPr>
              <a:t>Intereses</a:t>
            </a:r>
            <a:r>
              <a:rPr lang="es-CL" noProof="0" dirty="0">
                <a:solidFill>
                  <a:schemeClr val="tx1"/>
                </a:solidFill>
              </a:rPr>
              <a:t> = Son los intereses pagados por la deuda.</a:t>
            </a:r>
          </a:p>
          <a:p>
            <a:r>
              <a:rPr lang="es-CL" b="1" noProof="0" dirty="0">
                <a:solidFill>
                  <a:schemeClr val="tx1"/>
                </a:solidFill>
              </a:rPr>
              <a:t>Resultado o Utilidad antes de impuestos (UAI)</a:t>
            </a:r>
            <a:r>
              <a:rPr lang="es-CL" noProof="0" dirty="0">
                <a:solidFill>
                  <a:schemeClr val="tx1"/>
                </a:solidFill>
              </a:rPr>
              <a:t> = Es la resta entre  UAII y los intereses.</a:t>
            </a:r>
            <a:endParaRPr lang="es-CL" b="1" noProof="0" dirty="0">
              <a:solidFill>
                <a:schemeClr val="tx1"/>
              </a:solidFill>
            </a:endParaRPr>
          </a:p>
          <a:p>
            <a:r>
              <a:rPr lang="es-CL" b="1" noProof="0" dirty="0">
                <a:solidFill>
                  <a:schemeClr val="tx1"/>
                </a:solidFill>
              </a:rPr>
              <a:t>Impuestos</a:t>
            </a:r>
            <a:r>
              <a:rPr lang="es-CL" noProof="0" dirty="0">
                <a:solidFill>
                  <a:schemeClr val="tx1"/>
                </a:solidFill>
              </a:rPr>
              <a:t> = son los impuestos pagados, se calculan sobre las UAI</a:t>
            </a:r>
          </a:p>
          <a:p>
            <a:r>
              <a:rPr lang="es-CL" b="1" noProof="0" dirty="0">
                <a:solidFill>
                  <a:schemeClr val="tx1"/>
                </a:solidFill>
              </a:rPr>
              <a:t>Resultado o utilidad del ejercicio</a:t>
            </a:r>
            <a:r>
              <a:rPr lang="es-CL" noProof="0" dirty="0">
                <a:solidFill>
                  <a:schemeClr val="tx1"/>
                </a:solidFill>
              </a:rPr>
              <a:t> = Es la resta entre UAI y los impuestos.</a:t>
            </a:r>
          </a:p>
          <a:p>
            <a:endParaRPr lang="es-CL" noProof="0" dirty="0">
              <a:solidFill>
                <a:schemeClr val="tx1"/>
              </a:solidFill>
            </a:endParaRPr>
          </a:p>
          <a:p>
            <a:endParaRPr lang="es-CL" noProof="0" dirty="0">
              <a:solidFill>
                <a:schemeClr val="tx1"/>
              </a:solidFill>
            </a:endParaRPr>
          </a:p>
          <a:p>
            <a:endParaRPr lang="es-CL" noProof="0" dirty="0">
              <a:solidFill>
                <a:schemeClr val="tx1"/>
              </a:solidFill>
            </a:endParaRPr>
          </a:p>
          <a:p>
            <a:endParaRPr lang="es-CL" noProof="0" dirty="0">
              <a:solidFill>
                <a:schemeClr val="tx1"/>
              </a:solidFill>
            </a:endParaRPr>
          </a:p>
        </p:txBody>
      </p:sp>
      <p:sp>
        <p:nvSpPr>
          <p:cNvPr id="3" name="Marcador de pie de página 2"/>
          <p:cNvSpPr>
            <a:spLocks noGrp="1"/>
          </p:cNvSpPr>
          <p:nvPr>
            <p:ph type="ftr" sz="quarter" idx="11"/>
          </p:nvPr>
        </p:nvSpPr>
        <p:spPr/>
        <p:txBody>
          <a:bodyPr/>
          <a:lstStyle/>
          <a:p>
            <a:r>
              <a:rPr lang="es-CL" noProof="0" dirty="0"/>
              <a:t>Profesor: Fernando Lagos O.</a:t>
            </a:r>
          </a:p>
        </p:txBody>
      </p:sp>
    </p:spTree>
    <p:extLst>
      <p:ext uri="{BB962C8B-B14F-4D97-AF65-F5344CB8AC3E}">
        <p14:creationId xmlns:p14="http://schemas.microsoft.com/office/powerpoint/2010/main" val="8213001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92973-4A5D-7837-AA71-48B8ABEE24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A165C3A-46CE-49C3-16D0-A128B620954F}"/>
              </a:ext>
            </a:extLst>
          </p:cNvPr>
          <p:cNvSpPr>
            <a:spLocks noGrp="1"/>
          </p:cNvSpPr>
          <p:nvPr>
            <p:ph type="title"/>
          </p:nvPr>
        </p:nvSpPr>
        <p:spPr>
          <a:xfrm>
            <a:off x="604433" y="91440"/>
            <a:ext cx="10749367" cy="1554307"/>
          </a:xfrm>
        </p:spPr>
        <p:txBody>
          <a:bodyPr>
            <a:normAutofit fontScale="90000"/>
          </a:bodyPr>
          <a:lstStyle/>
          <a:p>
            <a:r>
              <a:rPr lang="es-CL" noProof="0" dirty="0"/>
              <a:t>¿Cómo construir un estado de resultado?, Supongamos que hacemos un empresa y hacemos los siguientes:</a:t>
            </a:r>
            <a:br>
              <a:rPr lang="es-CL" noProof="0" dirty="0"/>
            </a:br>
            <a:endParaRPr lang="es-CL" noProof="0" dirty="0"/>
          </a:p>
        </p:txBody>
      </p:sp>
      <p:sp>
        <p:nvSpPr>
          <p:cNvPr id="3" name="Marcador de contenido 2">
            <a:extLst>
              <a:ext uri="{FF2B5EF4-FFF2-40B4-BE49-F238E27FC236}">
                <a16:creationId xmlns:a16="http://schemas.microsoft.com/office/drawing/2014/main" id="{8EB17BA6-878D-D561-1106-14DBF5BFC62C}"/>
              </a:ext>
            </a:extLst>
          </p:cNvPr>
          <p:cNvSpPr>
            <a:spLocks noGrp="1"/>
          </p:cNvSpPr>
          <p:nvPr>
            <p:ph idx="1"/>
          </p:nvPr>
        </p:nvSpPr>
        <p:spPr>
          <a:xfrm>
            <a:off x="228601" y="1645747"/>
            <a:ext cx="3022599" cy="4707255"/>
          </a:xfrm>
          <a:ln>
            <a:solidFill>
              <a:schemeClr val="accent2">
                <a:lumMod val="60000"/>
                <a:lumOff val="40000"/>
              </a:schemeClr>
            </a:solidFill>
          </a:ln>
        </p:spPr>
        <p:txBody>
          <a:bodyPr>
            <a:normAutofit fontScale="92500" lnSpcReduction="20000"/>
          </a:bodyPr>
          <a:lstStyle/>
          <a:p>
            <a:pPr marL="285750" indent="-285750">
              <a:buFont typeface="Arial" panose="020B0604020202020204" pitchFamily="34" charset="0"/>
              <a:buChar char="•"/>
            </a:pPr>
            <a:r>
              <a:rPr lang="es-CL" noProof="0" dirty="0"/>
              <a:t>Administración:</a:t>
            </a:r>
          </a:p>
          <a:p>
            <a:pPr marL="971550" lvl="1" indent="-285750"/>
            <a:r>
              <a:rPr lang="es-CL" noProof="0" dirty="0"/>
              <a:t>Arrendamos un local por $ 900.000 mensuales.</a:t>
            </a:r>
          </a:p>
          <a:p>
            <a:pPr marL="971550" lvl="1" indent="-285750"/>
            <a:r>
              <a:rPr lang="es-CL" noProof="0" dirty="0"/>
              <a:t>Pago de remuneraciones $.2.500.000 mes.</a:t>
            </a:r>
          </a:p>
          <a:p>
            <a:pPr marL="971550" lvl="1" indent="-285750"/>
            <a:r>
              <a:rPr lang="es-CL" noProof="0" dirty="0"/>
              <a:t>Pagos cuentas básicas (Luz, agua, gas, celular, internet, combustibles, etc.) $ 800.000</a:t>
            </a:r>
          </a:p>
          <a:p>
            <a:pPr marL="971550" lvl="1" indent="-285750"/>
            <a:r>
              <a:rPr lang="es-CL" noProof="0" dirty="0"/>
              <a:t>Distribución: $1.000.000</a:t>
            </a:r>
          </a:p>
          <a:p>
            <a:pPr marL="971550" lvl="1" indent="-285750"/>
            <a:r>
              <a:rPr lang="es-CL" noProof="0" dirty="0"/>
              <a:t>Comisiones $ 1.000.000</a:t>
            </a:r>
          </a:p>
          <a:p>
            <a:pPr marL="971550" lvl="1" indent="-285750"/>
            <a:r>
              <a:rPr lang="es-CL" noProof="0" dirty="0"/>
              <a:t>Depreciación: $ 1.000.000</a:t>
            </a:r>
          </a:p>
          <a:p>
            <a:pPr marL="971550" lvl="1" indent="-285750"/>
            <a:endParaRPr lang="es-CL" noProof="0" dirty="0"/>
          </a:p>
        </p:txBody>
      </p:sp>
      <p:sp>
        <p:nvSpPr>
          <p:cNvPr id="5" name="Marcador de contenido 2">
            <a:extLst>
              <a:ext uri="{FF2B5EF4-FFF2-40B4-BE49-F238E27FC236}">
                <a16:creationId xmlns:a16="http://schemas.microsoft.com/office/drawing/2014/main" id="{3D72E62A-5966-67AF-05EF-203CF15D9713}"/>
              </a:ext>
            </a:extLst>
          </p:cNvPr>
          <p:cNvSpPr txBox="1">
            <a:spLocks/>
          </p:cNvSpPr>
          <p:nvPr/>
        </p:nvSpPr>
        <p:spPr>
          <a:xfrm>
            <a:off x="4142696" y="1645746"/>
            <a:ext cx="3022599" cy="4707255"/>
          </a:xfrm>
          <a:prstGeom prst="rect">
            <a:avLst/>
          </a:prstGeom>
          <a:ln>
            <a:solidFill>
              <a:schemeClr val="accent2">
                <a:lumMod val="60000"/>
                <a:lumOff val="40000"/>
              </a:schemeClr>
            </a:solidFill>
          </a:ln>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s-CL" noProof="0" dirty="0"/>
              <a:t>Producción de 200 bicicletas:</a:t>
            </a:r>
          </a:p>
          <a:p>
            <a:pPr marL="971550" lvl="1" indent="-285750"/>
            <a:r>
              <a:rPr lang="es-CL" noProof="0" dirty="0"/>
              <a:t>Materias primas: $3.000.000</a:t>
            </a:r>
          </a:p>
          <a:p>
            <a:pPr marL="971550" lvl="1" indent="-285750"/>
            <a:r>
              <a:rPr lang="es-CL" noProof="0" dirty="0"/>
              <a:t>Mano de obra directa: $4.000.000 </a:t>
            </a:r>
          </a:p>
          <a:p>
            <a:pPr marL="971550" lvl="1" indent="-285750"/>
            <a:r>
              <a:rPr lang="es-CL" noProof="0" dirty="0"/>
              <a:t>CIF $ 500.000</a:t>
            </a:r>
          </a:p>
        </p:txBody>
      </p:sp>
      <p:sp>
        <p:nvSpPr>
          <p:cNvPr id="6" name="Marcador de contenido 2">
            <a:extLst>
              <a:ext uri="{FF2B5EF4-FFF2-40B4-BE49-F238E27FC236}">
                <a16:creationId xmlns:a16="http://schemas.microsoft.com/office/drawing/2014/main" id="{6E68B4DE-C3DD-1FA3-54D1-C121DAFE6286}"/>
              </a:ext>
            </a:extLst>
          </p:cNvPr>
          <p:cNvSpPr txBox="1">
            <a:spLocks/>
          </p:cNvSpPr>
          <p:nvPr/>
        </p:nvSpPr>
        <p:spPr>
          <a:xfrm>
            <a:off x="8056792" y="1645746"/>
            <a:ext cx="3022599" cy="4707255"/>
          </a:xfrm>
          <a:prstGeom prst="rect">
            <a:avLst/>
          </a:prstGeom>
          <a:ln>
            <a:solidFill>
              <a:schemeClr val="accent2">
                <a:lumMod val="60000"/>
                <a:lumOff val="40000"/>
              </a:schemeClr>
            </a:solidFill>
          </a:ln>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s-CL" noProof="0" dirty="0"/>
              <a:t>Ventas:</a:t>
            </a:r>
          </a:p>
          <a:p>
            <a:pPr marL="971550" lvl="1" indent="-285750"/>
            <a:r>
              <a:rPr lang="es-CL" dirty="0"/>
              <a:t>Se venden 200 bicicletas a $ 100.000 cada una.</a:t>
            </a:r>
          </a:p>
          <a:p>
            <a:pPr marL="285750" indent="-285750">
              <a:buFont typeface="Arial" panose="020B0604020202020204" pitchFamily="34" charset="0"/>
              <a:buChar char="•"/>
            </a:pPr>
            <a:r>
              <a:rPr lang="es-CL" dirty="0"/>
              <a:t>Intereses de la deuda:</a:t>
            </a:r>
          </a:p>
          <a:p>
            <a:pPr marL="971550" lvl="1" indent="-285750"/>
            <a:r>
              <a:rPr lang="es-CL" dirty="0"/>
              <a:t>Se pagan $1.000.000 de intereses.</a:t>
            </a:r>
          </a:p>
          <a:p>
            <a:pPr marL="285750" indent="-285750">
              <a:buFont typeface="Arial" panose="020B0604020202020204" pitchFamily="34" charset="0"/>
              <a:buChar char="•"/>
            </a:pPr>
            <a:r>
              <a:rPr lang="es-CL" noProof="0" dirty="0"/>
              <a:t>Impuesto:</a:t>
            </a:r>
          </a:p>
          <a:p>
            <a:pPr marL="971550" lvl="1" indent="-285750"/>
            <a:r>
              <a:rPr lang="es-CL" dirty="0"/>
              <a:t>La tasa de impuesto es de 12,50%</a:t>
            </a:r>
            <a:endParaRPr lang="es-CL" noProof="0" dirty="0"/>
          </a:p>
        </p:txBody>
      </p:sp>
    </p:spTree>
    <p:extLst>
      <p:ext uri="{BB962C8B-B14F-4D97-AF65-F5344CB8AC3E}">
        <p14:creationId xmlns:p14="http://schemas.microsoft.com/office/powerpoint/2010/main" val="8101437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ADA8BB-F34B-36CB-11C1-773BE035332D}"/>
              </a:ext>
            </a:extLst>
          </p:cNvPr>
          <p:cNvSpPr>
            <a:spLocks noGrp="1"/>
          </p:cNvSpPr>
          <p:nvPr>
            <p:ph type="title"/>
          </p:nvPr>
        </p:nvSpPr>
        <p:spPr/>
        <p:txBody>
          <a:bodyPr/>
          <a:lstStyle/>
          <a:p>
            <a:r>
              <a:rPr lang="es-CL" noProof="0" dirty="0"/>
              <a:t>Así quedaría el estado de resultado:</a:t>
            </a:r>
          </a:p>
        </p:txBody>
      </p:sp>
      <p:graphicFrame>
        <p:nvGraphicFramePr>
          <p:cNvPr id="4" name="Objeto 3">
            <a:extLst>
              <a:ext uri="{FF2B5EF4-FFF2-40B4-BE49-F238E27FC236}">
                <a16:creationId xmlns:a16="http://schemas.microsoft.com/office/drawing/2014/main" id="{3427591D-86AE-EF99-E11C-1F07CBAD84DF}"/>
              </a:ext>
            </a:extLst>
          </p:cNvPr>
          <p:cNvGraphicFramePr>
            <a:graphicFrameLocks noChangeAspect="1"/>
          </p:cNvGraphicFramePr>
          <p:nvPr>
            <p:extLst>
              <p:ext uri="{D42A27DB-BD31-4B8C-83A1-F6EECF244321}">
                <p14:modId xmlns:p14="http://schemas.microsoft.com/office/powerpoint/2010/main" val="1537121565"/>
              </p:ext>
            </p:extLst>
          </p:nvPr>
        </p:nvGraphicFramePr>
        <p:xfrm>
          <a:off x="1174885" y="1932238"/>
          <a:ext cx="9573326" cy="3962499"/>
        </p:xfrm>
        <a:graphic>
          <a:graphicData uri="http://schemas.openxmlformats.org/presentationml/2006/ole">
            <mc:AlternateContent xmlns:mc="http://schemas.openxmlformats.org/markup-compatibility/2006">
              <mc:Choice xmlns:v="urn:schemas-microsoft-com:vml" Requires="v">
                <p:oleObj name="Worksheet" r:id="rId2" imgW="5135951" imgH="2126121" progId="Excel.Sheet.12">
                  <p:embed/>
                </p:oleObj>
              </mc:Choice>
              <mc:Fallback>
                <p:oleObj name="Worksheet" r:id="rId2" imgW="5135951" imgH="2126121" progId="Excel.Sheet.12">
                  <p:embed/>
                  <p:pic>
                    <p:nvPicPr>
                      <p:cNvPr id="0" name=""/>
                      <p:cNvPicPr/>
                      <p:nvPr/>
                    </p:nvPicPr>
                    <p:blipFill>
                      <a:blip r:embed="rId3"/>
                      <a:stretch>
                        <a:fillRect/>
                      </a:stretch>
                    </p:blipFill>
                    <p:spPr>
                      <a:xfrm>
                        <a:off x="1174885" y="1932238"/>
                        <a:ext cx="9573326" cy="3962499"/>
                      </a:xfrm>
                      <a:prstGeom prst="rect">
                        <a:avLst/>
                      </a:prstGeom>
                    </p:spPr>
                  </p:pic>
                </p:oleObj>
              </mc:Fallback>
            </mc:AlternateContent>
          </a:graphicData>
        </a:graphic>
      </p:graphicFrame>
    </p:spTree>
    <p:extLst>
      <p:ext uri="{BB962C8B-B14F-4D97-AF65-F5344CB8AC3E}">
        <p14:creationId xmlns:p14="http://schemas.microsoft.com/office/powerpoint/2010/main" val="12602474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4434" y="252662"/>
            <a:ext cx="10749367" cy="956205"/>
          </a:xfrm>
        </p:spPr>
        <p:txBody>
          <a:bodyPr/>
          <a:lstStyle/>
          <a:p>
            <a:r>
              <a:rPr lang="es-CL" noProof="0" dirty="0"/>
              <a:t>2. Depreciación</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399245" y="1403798"/>
                <a:ext cx="11359166" cy="5061396"/>
              </a:xfrm>
            </p:spPr>
            <p:txBody>
              <a:bodyPr>
                <a:noAutofit/>
              </a:bodyPr>
              <a:lstStyle/>
              <a:p>
                <a:r>
                  <a:rPr lang="es-CL" sz="1200" b="1" noProof="0" dirty="0">
                    <a:solidFill>
                      <a:schemeClr val="tx1"/>
                    </a:solidFill>
                  </a:rPr>
                  <a:t>La depreciación es el mecanismo  mediante el cual se reconoce el desgaste y pérdida de valor que sufre un bien o activo tangible o fijo por el uso que tenga este.</a:t>
                </a:r>
              </a:p>
              <a:p>
                <a:r>
                  <a:rPr lang="es-CL" sz="1200" b="1" noProof="0" dirty="0">
                    <a:solidFill>
                      <a:schemeClr val="tx1"/>
                    </a:solidFill>
                  </a:rPr>
                  <a:t>Cuando un activo es utilizado para generar ingresos, este sufre un desgaste normal durante su vida útil que el final lo lleva a ser inutilizable. El ingreso generado por el activo usado, se le debe incorporar el gasto correspondiente desgaste que ese activo a sufrido para poder generar el ingreso, puesto que como según señala un elemental principio económico, no puede haber ingreso sin haber incurrido en un gasto, y el desgaste de un activo por su uso, es uno de los gastos que al final permiten generar un determinado ingreso.</a:t>
                </a:r>
              </a:p>
              <a:p>
                <a:r>
                  <a:rPr lang="es-CL" sz="1200" b="1" noProof="0" dirty="0">
                    <a:solidFill>
                      <a:schemeClr val="tx1"/>
                    </a:solidFill>
                  </a:rPr>
                  <a:t>Ejemplo: se compra un vehículo en $4.000.000, el que se depreciará en 4 años.</a:t>
                </a:r>
              </a:p>
              <a:p>
                <a:r>
                  <a:rPr lang="es-CL" sz="1800" b="1" noProof="0" dirty="0">
                    <a:solidFill>
                      <a:schemeClr val="tx1"/>
                    </a:solidFill>
                  </a:rPr>
                  <a:t>Depreciación = </a:t>
                </a:r>
                <a14:m>
                  <m:oMath xmlns:m="http://schemas.openxmlformats.org/officeDocument/2006/math">
                    <m:f>
                      <m:fPr>
                        <m:ctrlPr>
                          <a:rPr lang="es-CL" sz="2000" b="1" i="1" noProof="0" smtClean="0">
                            <a:solidFill>
                              <a:schemeClr val="tx1"/>
                            </a:solidFill>
                            <a:latin typeface="Cambria Math" panose="02040503050406030204" pitchFamily="18" charset="0"/>
                          </a:rPr>
                        </m:ctrlPr>
                      </m:fPr>
                      <m:num>
                        <m:r>
                          <a:rPr lang="es-CL" sz="2000" b="1" i="1" noProof="0" smtClean="0">
                            <a:solidFill>
                              <a:schemeClr val="tx1"/>
                            </a:solidFill>
                            <a:latin typeface="Cambria Math" panose="02040503050406030204" pitchFamily="18" charset="0"/>
                          </a:rPr>
                          <m:t>𝑽𝒂𝒍𝒐𝒓</m:t>
                        </m:r>
                        <m:r>
                          <a:rPr lang="es-CL" sz="2000" b="1" i="1" noProof="0" smtClean="0">
                            <a:solidFill>
                              <a:schemeClr val="tx1"/>
                            </a:solidFill>
                            <a:latin typeface="Cambria Math" panose="02040503050406030204" pitchFamily="18" charset="0"/>
                          </a:rPr>
                          <m:t> </m:t>
                        </m:r>
                        <m:r>
                          <a:rPr lang="es-CL" sz="2000" b="1" i="1" noProof="0" smtClean="0">
                            <a:solidFill>
                              <a:schemeClr val="tx1"/>
                            </a:solidFill>
                            <a:latin typeface="Cambria Math" panose="02040503050406030204" pitchFamily="18" charset="0"/>
                          </a:rPr>
                          <m:t>𝒅𝒆</m:t>
                        </m:r>
                        <m:r>
                          <a:rPr lang="es-CL" sz="2000" b="1" i="1" noProof="0" smtClean="0">
                            <a:solidFill>
                              <a:schemeClr val="tx1"/>
                            </a:solidFill>
                            <a:latin typeface="Cambria Math" panose="02040503050406030204" pitchFamily="18" charset="0"/>
                          </a:rPr>
                          <m:t> </m:t>
                        </m:r>
                        <m:r>
                          <a:rPr lang="es-CL" sz="2000" b="1" i="1" noProof="0" smtClean="0">
                            <a:solidFill>
                              <a:schemeClr val="tx1"/>
                            </a:solidFill>
                            <a:latin typeface="Cambria Math" panose="02040503050406030204" pitchFamily="18" charset="0"/>
                          </a:rPr>
                          <m:t>𝑨𝒄𝒕𝒊𝒗𝒐</m:t>
                        </m:r>
                      </m:num>
                      <m:den>
                        <m:r>
                          <a:rPr lang="es-CL" sz="2000" b="1" i="1" noProof="0" smtClean="0">
                            <a:solidFill>
                              <a:schemeClr val="tx1"/>
                            </a:solidFill>
                            <a:latin typeface="Cambria Math" panose="02040503050406030204" pitchFamily="18" charset="0"/>
                          </a:rPr>
                          <m:t>𝒏</m:t>
                        </m:r>
                        <m:r>
                          <a:rPr lang="es-CL" sz="2000" b="1" i="1" noProof="0" smtClean="0">
                            <a:solidFill>
                              <a:schemeClr val="tx1"/>
                            </a:solidFill>
                            <a:latin typeface="Cambria Math" panose="02040503050406030204" pitchFamily="18" charset="0"/>
                          </a:rPr>
                          <m:t>ú</m:t>
                        </m:r>
                        <m:r>
                          <a:rPr lang="es-CL" sz="2000" b="1" i="1" noProof="0" smtClean="0">
                            <a:solidFill>
                              <a:schemeClr val="tx1"/>
                            </a:solidFill>
                            <a:latin typeface="Cambria Math" panose="02040503050406030204" pitchFamily="18" charset="0"/>
                          </a:rPr>
                          <m:t>𝒎𝒆𝒓𝒐</m:t>
                        </m:r>
                        <m:r>
                          <a:rPr lang="es-CL" sz="2000" b="1" i="1" noProof="0" smtClean="0">
                            <a:solidFill>
                              <a:schemeClr val="tx1"/>
                            </a:solidFill>
                            <a:latin typeface="Cambria Math" panose="02040503050406030204" pitchFamily="18" charset="0"/>
                          </a:rPr>
                          <m:t> </m:t>
                        </m:r>
                        <m:r>
                          <a:rPr lang="es-CL" sz="2000" b="1" i="1" noProof="0" smtClean="0">
                            <a:solidFill>
                              <a:schemeClr val="tx1"/>
                            </a:solidFill>
                            <a:latin typeface="Cambria Math" panose="02040503050406030204" pitchFamily="18" charset="0"/>
                          </a:rPr>
                          <m:t>𝒅𝒆</m:t>
                        </m:r>
                        <m:r>
                          <a:rPr lang="es-CL" sz="2000" b="1" i="1" noProof="0" smtClean="0">
                            <a:solidFill>
                              <a:schemeClr val="tx1"/>
                            </a:solidFill>
                            <a:latin typeface="Cambria Math" panose="02040503050406030204" pitchFamily="18" charset="0"/>
                          </a:rPr>
                          <m:t> </m:t>
                        </m:r>
                        <m:r>
                          <a:rPr lang="es-CL" sz="2000" b="1" i="1" noProof="0" smtClean="0">
                            <a:solidFill>
                              <a:schemeClr val="tx1"/>
                            </a:solidFill>
                            <a:latin typeface="Cambria Math" panose="02040503050406030204" pitchFamily="18" charset="0"/>
                          </a:rPr>
                          <m:t>𝒂</m:t>
                        </m:r>
                        <m:r>
                          <a:rPr lang="es-CL" sz="2000" b="1" i="1" noProof="0" smtClean="0">
                            <a:solidFill>
                              <a:schemeClr val="tx1"/>
                            </a:solidFill>
                            <a:latin typeface="Cambria Math" panose="02040503050406030204" pitchFamily="18" charset="0"/>
                          </a:rPr>
                          <m:t>ñ</m:t>
                        </m:r>
                        <m:r>
                          <a:rPr lang="es-CL" sz="2000" b="1" i="1" noProof="0" smtClean="0">
                            <a:solidFill>
                              <a:schemeClr val="tx1"/>
                            </a:solidFill>
                            <a:latin typeface="Cambria Math" panose="02040503050406030204" pitchFamily="18" charset="0"/>
                          </a:rPr>
                          <m:t>𝒐𝒔</m:t>
                        </m:r>
                      </m:den>
                    </m:f>
                  </m:oMath>
                </a14:m>
                <a:r>
                  <a:rPr lang="es-CL" sz="1800" b="1" noProof="0" dirty="0">
                    <a:solidFill>
                      <a:schemeClr val="tx1"/>
                    </a:solidFill>
                  </a:rPr>
                  <a:t> = </a:t>
                </a:r>
                <a14:m>
                  <m:oMath xmlns:m="http://schemas.openxmlformats.org/officeDocument/2006/math">
                    <m:f>
                      <m:fPr>
                        <m:ctrlPr>
                          <a:rPr lang="es-CL" sz="2400" b="1" i="1" noProof="0" smtClean="0">
                            <a:solidFill>
                              <a:schemeClr val="tx1"/>
                            </a:solidFill>
                            <a:latin typeface="Cambria Math" panose="02040503050406030204" pitchFamily="18" charset="0"/>
                          </a:rPr>
                        </m:ctrlPr>
                      </m:fPr>
                      <m:num>
                        <m:r>
                          <a:rPr lang="es-CL" sz="2400" b="1" i="1" noProof="0" smtClean="0">
                            <a:solidFill>
                              <a:schemeClr val="tx1"/>
                            </a:solidFill>
                            <a:latin typeface="Cambria Math" panose="02040503050406030204" pitchFamily="18" charset="0"/>
                          </a:rPr>
                          <m:t>𝟒</m:t>
                        </m:r>
                        <m:r>
                          <a:rPr lang="es-CL" sz="2400" b="1" i="1" noProof="0" smtClean="0">
                            <a:solidFill>
                              <a:schemeClr val="tx1"/>
                            </a:solidFill>
                            <a:latin typeface="Cambria Math" panose="02040503050406030204" pitchFamily="18" charset="0"/>
                          </a:rPr>
                          <m:t>.</m:t>
                        </m:r>
                        <m:r>
                          <a:rPr lang="es-CL" sz="2400" b="1" i="1" noProof="0" smtClean="0">
                            <a:solidFill>
                              <a:schemeClr val="tx1"/>
                            </a:solidFill>
                            <a:latin typeface="Cambria Math" panose="02040503050406030204" pitchFamily="18" charset="0"/>
                          </a:rPr>
                          <m:t>𝟎𝟎𝟎</m:t>
                        </m:r>
                        <m:r>
                          <a:rPr lang="es-CL" sz="2400" b="1" i="1" noProof="0" smtClean="0">
                            <a:solidFill>
                              <a:schemeClr val="tx1"/>
                            </a:solidFill>
                            <a:latin typeface="Cambria Math" panose="02040503050406030204" pitchFamily="18" charset="0"/>
                          </a:rPr>
                          <m:t>.</m:t>
                        </m:r>
                        <m:r>
                          <a:rPr lang="es-CL" sz="2400" b="1" i="1" noProof="0" smtClean="0">
                            <a:solidFill>
                              <a:schemeClr val="tx1"/>
                            </a:solidFill>
                            <a:latin typeface="Cambria Math" panose="02040503050406030204" pitchFamily="18" charset="0"/>
                          </a:rPr>
                          <m:t>𝟎𝟎𝟎</m:t>
                        </m:r>
                      </m:num>
                      <m:den>
                        <m:r>
                          <a:rPr lang="es-CL" sz="2400" b="1" i="1" noProof="0" smtClean="0">
                            <a:solidFill>
                              <a:schemeClr val="tx1"/>
                            </a:solidFill>
                            <a:latin typeface="Cambria Math" panose="02040503050406030204" pitchFamily="18" charset="0"/>
                          </a:rPr>
                          <m:t>𝟒</m:t>
                        </m:r>
                      </m:den>
                    </m:f>
                  </m:oMath>
                </a14:m>
                <a:r>
                  <a:rPr lang="es-CL" sz="1800" b="1" noProof="0" dirty="0">
                    <a:solidFill>
                      <a:schemeClr val="tx1"/>
                    </a:solidFill>
                  </a:rPr>
                  <a:t> = 1.000.000</a:t>
                </a:r>
              </a:p>
              <a:p>
                <a:endParaRPr lang="es-CL" sz="1200" b="1" noProof="0" dirty="0">
                  <a:solidFill>
                    <a:schemeClr val="tx1"/>
                  </a:solidFill>
                </a:endParaRPr>
              </a:p>
              <a:p>
                <a:r>
                  <a:rPr lang="es-CL" sz="1200" b="1" noProof="0" dirty="0">
                    <a:solidFill>
                      <a:schemeClr val="tx1"/>
                    </a:solidFill>
                  </a:rPr>
                  <a:t>Implica que cada año, se debe contabilizar, rebajando al activo $.1000.000, se denomina depreciación del ejercicio, la que contabiliza contra la cuenta depreciación acumulada.</a:t>
                </a:r>
              </a:p>
              <a:p>
                <a:r>
                  <a:rPr lang="es-CL" sz="1200" b="1" noProof="0" dirty="0">
                    <a:solidFill>
                      <a:schemeClr val="tx1"/>
                    </a:solidFill>
                  </a:rPr>
                  <a:t>	</a:t>
                </a:r>
              </a:p>
              <a:p>
                <a:endParaRPr lang="es-CL" sz="1200" b="1" noProof="0" dirty="0">
                  <a:solidFill>
                    <a:schemeClr val="tx1"/>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399245" y="1403798"/>
                <a:ext cx="11359166" cy="5061396"/>
              </a:xfrm>
              <a:blipFill>
                <a:blip r:embed="rId2"/>
                <a:stretch>
                  <a:fillRect l="-429" r="-54"/>
                </a:stretch>
              </a:blipFill>
            </p:spPr>
            <p:txBody>
              <a:bodyPr/>
              <a:lstStyle/>
              <a:p>
                <a:r>
                  <a:rPr lang="es-CL">
                    <a:noFill/>
                  </a:rPr>
                  <a:t> </a:t>
                </a:r>
              </a:p>
            </p:txBody>
          </p:sp>
        </mc:Fallback>
      </mc:AlternateContent>
      <p:sp>
        <p:nvSpPr>
          <p:cNvPr id="4" name="Marcador de pie de página 3"/>
          <p:cNvSpPr>
            <a:spLocks noGrp="1"/>
          </p:cNvSpPr>
          <p:nvPr>
            <p:ph type="ftr" sz="quarter" idx="11"/>
          </p:nvPr>
        </p:nvSpPr>
        <p:spPr/>
        <p:txBody>
          <a:bodyPr/>
          <a:lstStyle/>
          <a:p>
            <a:r>
              <a:rPr lang="es-CL" noProof="0" dirty="0"/>
              <a:t>Profesor: Fernando Lagos O.</a:t>
            </a:r>
          </a:p>
        </p:txBody>
      </p:sp>
    </p:spTree>
    <p:extLst>
      <p:ext uri="{BB962C8B-B14F-4D97-AF65-F5344CB8AC3E}">
        <p14:creationId xmlns:p14="http://schemas.microsoft.com/office/powerpoint/2010/main" val="21372316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54954" y="192843"/>
            <a:ext cx="9367086" cy="1046409"/>
          </a:xfrm>
        </p:spPr>
        <p:txBody>
          <a:bodyPr>
            <a:normAutofit/>
          </a:bodyPr>
          <a:lstStyle/>
          <a:p>
            <a:r>
              <a:rPr lang="es-CL" sz="3200" noProof="0" dirty="0"/>
              <a:t>2.1 Depreciación y </a:t>
            </a:r>
            <a:r>
              <a:rPr lang="es-CL" sz="3200" b="1" noProof="0" dirty="0"/>
              <a:t>Valor de recuperación.</a:t>
            </a:r>
          </a:p>
        </p:txBody>
      </p:sp>
      <p:sp>
        <p:nvSpPr>
          <p:cNvPr id="3" name="Marcador de contenido 2"/>
          <p:cNvSpPr>
            <a:spLocks noGrp="1"/>
          </p:cNvSpPr>
          <p:nvPr>
            <p:ph idx="1"/>
          </p:nvPr>
        </p:nvSpPr>
        <p:spPr>
          <a:xfrm>
            <a:off x="890863" y="1809416"/>
            <a:ext cx="10410273" cy="3416300"/>
          </a:xfrm>
        </p:spPr>
        <p:txBody>
          <a:bodyPr>
            <a:normAutofit fontScale="92500" lnSpcReduction="20000"/>
          </a:bodyPr>
          <a:lstStyle/>
          <a:p>
            <a:r>
              <a:rPr lang="es-CL" b="1" noProof="0" dirty="0">
                <a:solidFill>
                  <a:schemeClr val="tx1"/>
                </a:solidFill>
              </a:rPr>
              <a:t>De acuerdo con la normativa del Servicio de Impuestos Internos (SII) en Chile, los bienes se pueden depreciar en su totalidad, estos es un beneficio tributario que toda empresa debe usar.</a:t>
            </a:r>
          </a:p>
          <a:p>
            <a:r>
              <a:rPr lang="es-CL" b="1" noProof="0" dirty="0">
                <a:solidFill>
                  <a:schemeClr val="tx1"/>
                </a:solidFill>
              </a:rPr>
              <a:t>Sin embargo, cada activo que depreciado en la contabilidad tiene un valor de mercado, que es al que se podría vender, este valor es independiente del valor contable. E inclusive puede estar totalmente depreciado en la contabilidad (con valor cero) pero igual se puede vender en el mercado a un valor de mercado. A este valor se le llamao valor de recuperación.</a:t>
            </a:r>
          </a:p>
          <a:p>
            <a:r>
              <a:rPr lang="es-CL" b="1" noProof="0" dirty="0">
                <a:solidFill>
                  <a:schemeClr val="tx1"/>
                </a:solidFill>
              </a:rPr>
              <a:t>Por lo tanto, se debe considerar como valor de recuperación, el que se obtendría por la venta del bien, independientemente de la depreciación.</a:t>
            </a:r>
          </a:p>
          <a:p>
            <a:r>
              <a:rPr lang="es-CL" b="1" noProof="0" dirty="0">
                <a:solidFill>
                  <a:schemeClr val="tx1"/>
                </a:solidFill>
              </a:rPr>
              <a:t>A este valor la denominaremos: VALOR DE RECUPERACIÓN. </a:t>
            </a:r>
          </a:p>
        </p:txBody>
      </p:sp>
      <p:sp>
        <p:nvSpPr>
          <p:cNvPr id="4" name="Marcador de pie de página 3"/>
          <p:cNvSpPr>
            <a:spLocks noGrp="1"/>
          </p:cNvSpPr>
          <p:nvPr>
            <p:ph type="ftr" sz="quarter" idx="11"/>
          </p:nvPr>
        </p:nvSpPr>
        <p:spPr/>
        <p:txBody>
          <a:bodyPr/>
          <a:lstStyle/>
          <a:p>
            <a:r>
              <a:rPr lang="es-CL" noProof="0" dirty="0"/>
              <a:t>Profesor: Fernando Lagos O.</a:t>
            </a:r>
          </a:p>
        </p:txBody>
      </p:sp>
    </p:spTree>
    <p:extLst>
      <p:ext uri="{BB962C8B-B14F-4D97-AF65-F5344CB8AC3E}">
        <p14:creationId xmlns:p14="http://schemas.microsoft.com/office/powerpoint/2010/main" val="34273271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3. Amortización de activo</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838201" y="1825625"/>
                <a:ext cx="9516413" cy="4351338"/>
              </a:xfrm>
            </p:spPr>
            <p:txBody>
              <a:bodyPr/>
              <a:lstStyle/>
              <a:p>
                <a:r>
                  <a:rPr lang="es-CL" b="1" noProof="0" dirty="0">
                    <a:solidFill>
                      <a:schemeClr val="tx1"/>
                    </a:solidFill>
                  </a:rPr>
                  <a:t>La amortización de activo es similar a la depreciación. Sin embargo, se hace para los activos no tangible, estos pueden ser:</a:t>
                </a:r>
              </a:p>
              <a:p>
                <a:pPr marL="342900" indent="-342900">
                  <a:buFont typeface="+mj-lt"/>
                  <a:buAutoNum type="alphaLcParenR"/>
                </a:pPr>
                <a:r>
                  <a:rPr lang="es-CL" b="1" noProof="0" dirty="0">
                    <a:solidFill>
                      <a:schemeClr val="tx1"/>
                    </a:solidFill>
                  </a:rPr>
                  <a:t>Gastos de administración y puesta en marcha.</a:t>
                </a:r>
              </a:p>
              <a:p>
                <a:pPr marL="342900" indent="-342900">
                  <a:buFont typeface="+mj-lt"/>
                  <a:buAutoNum type="alphaLcParenR"/>
                </a:pPr>
                <a:r>
                  <a:rPr lang="es-CL" b="1" noProof="0" dirty="0">
                    <a:solidFill>
                      <a:schemeClr val="tx1"/>
                    </a:solidFill>
                  </a:rPr>
                  <a:t>Gastos de emisión de bonos</a:t>
                </a:r>
              </a:p>
              <a:p>
                <a:endParaRPr lang="es-CL" b="1" noProof="0" dirty="0">
                  <a:solidFill>
                    <a:schemeClr val="tx1"/>
                  </a:solidFill>
                </a:endParaRPr>
              </a:p>
              <a:p>
                <a:r>
                  <a:rPr lang="es-CL" b="1" noProof="0" dirty="0">
                    <a:solidFill>
                      <a:schemeClr val="tx1"/>
                    </a:solidFill>
                  </a:rPr>
                  <a:t>No tiene valor residual, y se calculan de igual manera que la depreciación:</a:t>
                </a:r>
              </a:p>
              <a:p>
                <a:r>
                  <a:rPr lang="es-CL" b="1" noProof="0" dirty="0">
                    <a:solidFill>
                      <a:schemeClr val="tx1"/>
                    </a:solidFill>
                  </a:rPr>
                  <a:t>Amortización de activos = </a:t>
                </a:r>
                <a14:m>
                  <m:oMath xmlns:m="http://schemas.openxmlformats.org/officeDocument/2006/math">
                    <m:f>
                      <m:fPr>
                        <m:ctrlPr>
                          <a:rPr lang="es-CL" sz="2400" b="1" i="1" noProof="0" smtClean="0">
                            <a:solidFill>
                              <a:schemeClr val="tx1"/>
                            </a:solidFill>
                            <a:latin typeface="Cambria Math" panose="02040503050406030204" pitchFamily="18" charset="0"/>
                          </a:rPr>
                        </m:ctrlPr>
                      </m:fPr>
                      <m:num>
                        <m:r>
                          <a:rPr lang="es-CL" sz="2400" b="1" i="1" noProof="0" smtClean="0">
                            <a:solidFill>
                              <a:schemeClr val="tx1"/>
                            </a:solidFill>
                            <a:latin typeface="Cambria Math" panose="02040503050406030204" pitchFamily="18" charset="0"/>
                          </a:rPr>
                          <m:t>𝑽𝒂𝒍𝒐𝒓</m:t>
                        </m:r>
                        <m:r>
                          <a:rPr lang="es-CL" sz="2400" b="1" i="1" noProof="0" smtClean="0">
                            <a:solidFill>
                              <a:schemeClr val="tx1"/>
                            </a:solidFill>
                            <a:latin typeface="Cambria Math" panose="02040503050406030204" pitchFamily="18" charset="0"/>
                          </a:rPr>
                          <m:t> </m:t>
                        </m:r>
                        <m:r>
                          <a:rPr lang="es-CL" sz="2400" b="1" i="1" noProof="0" smtClean="0">
                            <a:solidFill>
                              <a:schemeClr val="tx1"/>
                            </a:solidFill>
                            <a:latin typeface="Cambria Math" panose="02040503050406030204" pitchFamily="18" charset="0"/>
                          </a:rPr>
                          <m:t>𝒂𝒄𝒕𝒊𝒗𝒐</m:t>
                        </m:r>
                        <m:r>
                          <a:rPr lang="es-CL" sz="2400" b="1" i="1" noProof="0" smtClean="0">
                            <a:solidFill>
                              <a:schemeClr val="tx1"/>
                            </a:solidFill>
                            <a:latin typeface="Cambria Math" panose="02040503050406030204" pitchFamily="18" charset="0"/>
                          </a:rPr>
                          <m:t> </m:t>
                        </m:r>
                        <m:r>
                          <a:rPr lang="es-CL" sz="2400" b="1" i="1" noProof="0" smtClean="0">
                            <a:solidFill>
                              <a:schemeClr val="tx1"/>
                            </a:solidFill>
                            <a:latin typeface="Cambria Math" panose="02040503050406030204" pitchFamily="18" charset="0"/>
                          </a:rPr>
                          <m:t>𝑰𝒏𝒕𝒂𝒏𝒈𝒊𝒃𝒍𝒆</m:t>
                        </m:r>
                      </m:num>
                      <m:den>
                        <m:r>
                          <a:rPr lang="es-CL" sz="2400" b="1" i="1" noProof="0" smtClean="0">
                            <a:solidFill>
                              <a:schemeClr val="tx1"/>
                            </a:solidFill>
                            <a:latin typeface="Cambria Math" panose="02040503050406030204" pitchFamily="18" charset="0"/>
                          </a:rPr>
                          <m:t>𝑵</m:t>
                        </m:r>
                        <m:r>
                          <a:rPr lang="es-CL" sz="2400" b="1" i="1" noProof="0" smtClean="0">
                            <a:solidFill>
                              <a:schemeClr val="tx1"/>
                            </a:solidFill>
                            <a:latin typeface="Cambria Math" panose="02040503050406030204" pitchFamily="18" charset="0"/>
                          </a:rPr>
                          <m:t>ú</m:t>
                        </m:r>
                        <m:r>
                          <a:rPr lang="es-CL" sz="2400" b="1" i="1" noProof="0" smtClean="0">
                            <a:solidFill>
                              <a:schemeClr val="tx1"/>
                            </a:solidFill>
                            <a:latin typeface="Cambria Math" panose="02040503050406030204" pitchFamily="18" charset="0"/>
                          </a:rPr>
                          <m:t>𝒎𝒆𝒓𝒐</m:t>
                        </m:r>
                        <m:r>
                          <a:rPr lang="es-CL" sz="2400" b="1" i="1" noProof="0" smtClean="0">
                            <a:solidFill>
                              <a:schemeClr val="tx1"/>
                            </a:solidFill>
                            <a:latin typeface="Cambria Math" panose="02040503050406030204" pitchFamily="18" charset="0"/>
                          </a:rPr>
                          <m:t> </m:t>
                        </m:r>
                        <m:r>
                          <a:rPr lang="es-CL" sz="2400" b="1" i="1" noProof="0" smtClean="0">
                            <a:solidFill>
                              <a:schemeClr val="tx1"/>
                            </a:solidFill>
                            <a:latin typeface="Cambria Math" panose="02040503050406030204" pitchFamily="18" charset="0"/>
                          </a:rPr>
                          <m:t>𝒅𝒆</m:t>
                        </m:r>
                        <m:r>
                          <a:rPr lang="es-CL" sz="2400" b="1" i="1" noProof="0" smtClean="0">
                            <a:solidFill>
                              <a:schemeClr val="tx1"/>
                            </a:solidFill>
                            <a:latin typeface="Cambria Math" panose="02040503050406030204" pitchFamily="18" charset="0"/>
                          </a:rPr>
                          <m:t> </m:t>
                        </m:r>
                        <m:r>
                          <a:rPr lang="es-CL" sz="2400" b="1" i="1" noProof="0" smtClean="0">
                            <a:solidFill>
                              <a:schemeClr val="tx1"/>
                            </a:solidFill>
                            <a:latin typeface="Cambria Math" panose="02040503050406030204" pitchFamily="18" charset="0"/>
                          </a:rPr>
                          <m:t>𝒂</m:t>
                        </m:r>
                        <m:r>
                          <a:rPr lang="es-CL" sz="2400" b="1" i="1" noProof="0" smtClean="0">
                            <a:solidFill>
                              <a:schemeClr val="tx1"/>
                            </a:solidFill>
                            <a:latin typeface="Cambria Math" panose="02040503050406030204" pitchFamily="18" charset="0"/>
                          </a:rPr>
                          <m:t>ñ</m:t>
                        </m:r>
                        <m:r>
                          <a:rPr lang="es-CL" sz="2400" b="1" i="1" noProof="0" smtClean="0">
                            <a:solidFill>
                              <a:schemeClr val="tx1"/>
                            </a:solidFill>
                            <a:latin typeface="Cambria Math" panose="02040503050406030204" pitchFamily="18" charset="0"/>
                          </a:rPr>
                          <m:t>𝒐𝒔</m:t>
                        </m:r>
                      </m:den>
                    </m:f>
                  </m:oMath>
                </a14:m>
                <a:r>
                  <a:rPr lang="es-CL" sz="2400" b="1" noProof="0" dirty="0">
                    <a:solidFill>
                      <a:schemeClr val="tx1"/>
                    </a:solidFill>
                  </a:rPr>
                  <a:t>  = </a:t>
                </a:r>
                <a14:m>
                  <m:oMath xmlns:m="http://schemas.openxmlformats.org/officeDocument/2006/math">
                    <m:f>
                      <m:fPr>
                        <m:ctrlPr>
                          <a:rPr lang="es-CL" sz="2400" b="1" i="1" noProof="0" smtClean="0">
                            <a:solidFill>
                              <a:schemeClr val="tx1"/>
                            </a:solidFill>
                            <a:latin typeface="Cambria Math" panose="02040503050406030204" pitchFamily="18" charset="0"/>
                          </a:rPr>
                        </m:ctrlPr>
                      </m:fPr>
                      <m:num>
                        <m:r>
                          <a:rPr lang="es-CL" sz="2400" b="1" i="1" noProof="0" smtClean="0">
                            <a:solidFill>
                              <a:schemeClr val="tx1"/>
                            </a:solidFill>
                            <a:latin typeface="Cambria Math" panose="02040503050406030204" pitchFamily="18" charset="0"/>
                          </a:rPr>
                          <m:t>𝟏</m:t>
                        </m:r>
                        <m:r>
                          <a:rPr lang="es-CL" sz="2400" b="1" i="1" noProof="0" smtClean="0">
                            <a:solidFill>
                              <a:schemeClr val="tx1"/>
                            </a:solidFill>
                            <a:latin typeface="Cambria Math" panose="02040503050406030204" pitchFamily="18" charset="0"/>
                          </a:rPr>
                          <m:t>.</m:t>
                        </m:r>
                        <m:r>
                          <a:rPr lang="es-CL" sz="2400" b="1" i="1" noProof="0" smtClean="0">
                            <a:solidFill>
                              <a:schemeClr val="tx1"/>
                            </a:solidFill>
                            <a:latin typeface="Cambria Math" panose="02040503050406030204" pitchFamily="18" charset="0"/>
                          </a:rPr>
                          <m:t>𝟎𝟎𝟎</m:t>
                        </m:r>
                        <m:r>
                          <a:rPr lang="es-CL" sz="2400" b="1" i="1" noProof="0" smtClean="0">
                            <a:solidFill>
                              <a:schemeClr val="tx1"/>
                            </a:solidFill>
                            <a:latin typeface="Cambria Math" panose="02040503050406030204" pitchFamily="18" charset="0"/>
                          </a:rPr>
                          <m:t>.</m:t>
                        </m:r>
                        <m:r>
                          <a:rPr lang="es-CL" sz="2400" b="1" i="1" noProof="0" smtClean="0">
                            <a:solidFill>
                              <a:schemeClr val="tx1"/>
                            </a:solidFill>
                            <a:latin typeface="Cambria Math" panose="02040503050406030204" pitchFamily="18" charset="0"/>
                          </a:rPr>
                          <m:t>𝟎𝟎𝟎</m:t>
                        </m:r>
                      </m:num>
                      <m:den>
                        <m:r>
                          <a:rPr lang="es-CL" sz="2400" b="1" i="1" noProof="0" smtClean="0">
                            <a:solidFill>
                              <a:schemeClr val="tx1"/>
                            </a:solidFill>
                            <a:latin typeface="Cambria Math" panose="02040503050406030204" pitchFamily="18" charset="0"/>
                          </a:rPr>
                          <m:t>𝟐</m:t>
                        </m:r>
                      </m:den>
                    </m:f>
                  </m:oMath>
                </a14:m>
                <a:r>
                  <a:rPr lang="es-CL" b="1" noProof="0" dirty="0">
                    <a:solidFill>
                      <a:schemeClr val="tx1"/>
                    </a:solidFill>
                  </a:rPr>
                  <a:t> = 500.000</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838201" y="1825625"/>
                <a:ext cx="9516413" cy="4351338"/>
              </a:xfrm>
              <a:blipFill>
                <a:blip r:embed="rId2"/>
                <a:stretch>
                  <a:fillRect l="-512"/>
                </a:stretch>
              </a:blipFill>
            </p:spPr>
            <p:txBody>
              <a:bodyPr/>
              <a:lstStyle/>
              <a:p>
                <a:r>
                  <a:rPr lang="es-CL">
                    <a:noFill/>
                  </a:rPr>
                  <a:t> </a:t>
                </a:r>
              </a:p>
            </p:txBody>
          </p:sp>
        </mc:Fallback>
      </mc:AlternateContent>
      <p:sp>
        <p:nvSpPr>
          <p:cNvPr id="4" name="Marcador de pie de página 3"/>
          <p:cNvSpPr>
            <a:spLocks noGrp="1"/>
          </p:cNvSpPr>
          <p:nvPr>
            <p:ph type="ftr" sz="quarter" idx="11"/>
          </p:nvPr>
        </p:nvSpPr>
        <p:spPr/>
        <p:txBody>
          <a:bodyPr/>
          <a:lstStyle/>
          <a:p>
            <a:r>
              <a:rPr lang="es-CL" noProof="0" dirty="0"/>
              <a:t>Profesor: Fernando Lagos O.</a:t>
            </a:r>
          </a:p>
        </p:txBody>
      </p:sp>
    </p:spTree>
    <p:extLst>
      <p:ext uri="{BB962C8B-B14F-4D97-AF65-F5344CB8AC3E}">
        <p14:creationId xmlns:p14="http://schemas.microsoft.com/office/powerpoint/2010/main" val="12888627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Sistemas de costeo y valorización de mercaderías</a:t>
            </a:r>
          </a:p>
        </p:txBody>
      </p:sp>
      <p:sp>
        <p:nvSpPr>
          <p:cNvPr id="3" name="Marcador de contenido 2"/>
          <p:cNvSpPr>
            <a:spLocks noGrp="1"/>
          </p:cNvSpPr>
          <p:nvPr>
            <p:ph idx="1"/>
          </p:nvPr>
        </p:nvSpPr>
        <p:spPr>
          <a:xfrm>
            <a:off x="716453" y="1819756"/>
            <a:ext cx="4167753" cy="4351338"/>
          </a:xfrm>
          <a:ln>
            <a:solidFill>
              <a:schemeClr val="accent1"/>
            </a:solidFill>
          </a:ln>
        </p:spPr>
        <p:txBody>
          <a:bodyPr>
            <a:normAutofit lnSpcReduction="10000"/>
          </a:bodyPr>
          <a:lstStyle/>
          <a:p>
            <a:r>
              <a:rPr lang="es-CL" sz="1800" b="1" noProof="0" dirty="0">
                <a:solidFill>
                  <a:schemeClr val="tx1"/>
                </a:solidFill>
              </a:rPr>
              <a:t>Costo variable o directo:</a:t>
            </a:r>
          </a:p>
          <a:p>
            <a:r>
              <a:rPr lang="es-CL" sz="1800" noProof="0" dirty="0">
                <a:solidFill>
                  <a:schemeClr val="tx1"/>
                </a:solidFill>
              </a:rPr>
              <a:t>En este caso solo se asigna como costo del producto los costos variables que fueron necesarios para producir el producto. Es decir, que no se habrían tenido si no se hubiera fabricado o producido el producto. Los costos fijos por su parte se tendrán siempre, existe producción o no, por lo que se indican en forma separada.</a:t>
            </a:r>
          </a:p>
        </p:txBody>
      </p:sp>
      <p:sp>
        <p:nvSpPr>
          <p:cNvPr id="4" name="Marcador de contenido 2"/>
          <p:cNvSpPr txBox="1">
            <a:spLocks/>
          </p:cNvSpPr>
          <p:nvPr/>
        </p:nvSpPr>
        <p:spPr>
          <a:xfrm>
            <a:off x="6204627" y="1819756"/>
            <a:ext cx="4167753" cy="4351338"/>
          </a:xfrm>
          <a:prstGeom prst="rect">
            <a:avLst/>
          </a:prstGeom>
          <a:ln>
            <a:solidFill>
              <a:schemeClr val="accent1"/>
            </a:solidFill>
          </a:ln>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s-CL" sz="1800" b="1" noProof="0" dirty="0">
                <a:solidFill>
                  <a:schemeClr val="tx1"/>
                </a:solidFill>
              </a:rPr>
              <a:t>Costo por Absorción:</a:t>
            </a:r>
          </a:p>
          <a:p>
            <a:r>
              <a:rPr lang="es-CL" sz="1800" noProof="0" dirty="0">
                <a:solidFill>
                  <a:schemeClr val="tx1"/>
                </a:solidFill>
              </a:rPr>
              <a:t>En este caso, los costos del producto se determinan incorporando los costos variables y costos fijos del producto. En este caso el costo del producto y por tanto de su contabilización como activo es mayor que en el caso de costo variable.</a:t>
            </a:r>
          </a:p>
        </p:txBody>
      </p:sp>
    </p:spTree>
    <p:extLst>
      <p:ext uri="{BB962C8B-B14F-4D97-AF65-F5344CB8AC3E}">
        <p14:creationId xmlns:p14="http://schemas.microsoft.com/office/powerpoint/2010/main" val="18914283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701801-B678-1BFA-5BC8-438A7C4FF2FD}"/>
              </a:ext>
            </a:extLst>
          </p:cNvPr>
          <p:cNvSpPr>
            <a:spLocks noGrp="1"/>
          </p:cNvSpPr>
          <p:nvPr>
            <p:ph type="title"/>
          </p:nvPr>
        </p:nvSpPr>
        <p:spPr/>
        <p:txBody>
          <a:bodyPr/>
          <a:lstStyle/>
          <a:p>
            <a:r>
              <a:rPr lang="es-CL" noProof="0" dirty="0"/>
              <a:t>Ejemplo de costeos: Variable o directo y por absorción</a:t>
            </a:r>
          </a:p>
        </p:txBody>
      </p:sp>
      <p:sp>
        <p:nvSpPr>
          <p:cNvPr id="3" name="Marcador de contenido 2">
            <a:extLst>
              <a:ext uri="{FF2B5EF4-FFF2-40B4-BE49-F238E27FC236}">
                <a16:creationId xmlns:a16="http://schemas.microsoft.com/office/drawing/2014/main" id="{C69F8E23-8264-BEFE-62FA-30C83B5F225B}"/>
              </a:ext>
            </a:extLst>
          </p:cNvPr>
          <p:cNvSpPr>
            <a:spLocks noGrp="1"/>
          </p:cNvSpPr>
          <p:nvPr>
            <p:ph sz="half" idx="1"/>
          </p:nvPr>
        </p:nvSpPr>
        <p:spPr>
          <a:ln>
            <a:solidFill>
              <a:schemeClr val="accent1"/>
            </a:solidFill>
          </a:ln>
        </p:spPr>
        <p:txBody>
          <a:bodyPr>
            <a:normAutofit fontScale="92500" lnSpcReduction="20000"/>
          </a:bodyPr>
          <a:lstStyle/>
          <a:p>
            <a:r>
              <a:rPr lang="es-CL" noProof="0" dirty="0"/>
              <a:t>Supongamos que tenemos una empresa que fabrica bicicletas. </a:t>
            </a:r>
          </a:p>
          <a:p>
            <a:pPr lvl="1"/>
            <a:r>
              <a:rPr lang="es-CL" noProof="0" dirty="0"/>
              <a:t>Tenga en cuenta que se producen 1.000 unidades</a:t>
            </a:r>
          </a:p>
          <a:p>
            <a:pPr lvl="1"/>
            <a:r>
              <a:rPr lang="es-CL" noProof="0" dirty="0"/>
              <a:t>Costo de fabricación variables:</a:t>
            </a:r>
          </a:p>
          <a:p>
            <a:pPr lvl="2"/>
            <a:r>
              <a:rPr lang="es-CL" noProof="0" dirty="0"/>
              <a:t>Tubos metálicos: $ 20.000 por bicicleta.</a:t>
            </a:r>
          </a:p>
          <a:p>
            <a:pPr lvl="2"/>
            <a:r>
              <a:rPr lang="es-CL" noProof="0" dirty="0"/>
              <a:t>Neumáticos: $25.000 por bicicleta.</a:t>
            </a:r>
          </a:p>
          <a:p>
            <a:pPr lvl="2"/>
            <a:r>
              <a:rPr lang="es-CL" noProof="0" dirty="0"/>
              <a:t>Equipo de frenos, asiento y otros: $35.000.</a:t>
            </a:r>
          </a:p>
          <a:p>
            <a:pPr lvl="2"/>
            <a:r>
              <a:rPr lang="es-CL" noProof="0" dirty="0"/>
              <a:t>Pintura y terminaciones: $15.000</a:t>
            </a:r>
          </a:p>
          <a:p>
            <a:pPr lvl="2"/>
            <a:r>
              <a:rPr lang="es-CL" noProof="0" dirty="0"/>
              <a:t>Empaque: $2.000</a:t>
            </a:r>
          </a:p>
          <a:p>
            <a:pPr lvl="2"/>
            <a:r>
              <a:rPr lang="es-CL" noProof="0" dirty="0"/>
              <a:t>Mano de obra: $25.000</a:t>
            </a:r>
          </a:p>
          <a:p>
            <a:pPr lvl="1"/>
            <a:r>
              <a:rPr lang="es-CL" noProof="0" dirty="0"/>
              <a:t>Los costos de fabricación fijos: </a:t>
            </a:r>
          </a:p>
          <a:p>
            <a:pPr lvl="2"/>
            <a:r>
              <a:rPr lang="es-CL" noProof="0" dirty="0"/>
              <a:t>Costo indirectos de fabricación (CIF): $ 5.000.000</a:t>
            </a:r>
          </a:p>
          <a:p>
            <a:pPr lvl="1"/>
            <a:r>
              <a:rPr lang="es-CL" noProof="0" dirty="0"/>
              <a:t>Costos fijos:</a:t>
            </a:r>
          </a:p>
          <a:p>
            <a:pPr lvl="2"/>
            <a:r>
              <a:rPr lang="es-CL" noProof="0" dirty="0"/>
              <a:t>Arriendo: $3.800.000</a:t>
            </a:r>
          </a:p>
          <a:p>
            <a:pPr lvl="2"/>
            <a:r>
              <a:rPr lang="es-CL" noProof="0" dirty="0"/>
              <a:t>Sueldos y comisiones: $ 22.800.000</a:t>
            </a:r>
          </a:p>
          <a:p>
            <a:pPr lvl="2"/>
            <a:r>
              <a:rPr lang="es-CL" noProof="0" dirty="0"/>
              <a:t>Cuentas de consumo: $5.000.000</a:t>
            </a:r>
          </a:p>
          <a:p>
            <a:pPr lvl="2"/>
            <a:r>
              <a:rPr lang="es-CL" noProof="0" dirty="0"/>
              <a:t>Otros: $ 150.000</a:t>
            </a:r>
          </a:p>
          <a:p>
            <a:pPr lvl="2"/>
            <a:r>
              <a:rPr lang="es-CL" noProof="0" dirty="0"/>
              <a:t>Depreciación: $15.800.000</a:t>
            </a:r>
          </a:p>
          <a:p>
            <a:pPr marL="914400" lvl="2" indent="0">
              <a:buNone/>
            </a:pPr>
            <a:endParaRPr lang="es-CL" noProof="0" dirty="0"/>
          </a:p>
        </p:txBody>
      </p:sp>
      <p:sp>
        <p:nvSpPr>
          <p:cNvPr id="4" name="Marcador de contenido 3">
            <a:extLst>
              <a:ext uri="{FF2B5EF4-FFF2-40B4-BE49-F238E27FC236}">
                <a16:creationId xmlns:a16="http://schemas.microsoft.com/office/drawing/2014/main" id="{B8A78794-C5FF-1514-9D4A-6A703A3FE055}"/>
              </a:ext>
            </a:extLst>
          </p:cNvPr>
          <p:cNvSpPr>
            <a:spLocks noGrp="1"/>
          </p:cNvSpPr>
          <p:nvPr>
            <p:ph sz="half" idx="2"/>
          </p:nvPr>
        </p:nvSpPr>
        <p:spPr>
          <a:ln>
            <a:solidFill>
              <a:schemeClr val="accent1"/>
            </a:solidFill>
          </a:ln>
        </p:spPr>
        <p:txBody>
          <a:bodyPr>
            <a:normAutofit fontScale="92500" lnSpcReduction="20000"/>
          </a:bodyPr>
          <a:lstStyle/>
          <a:p>
            <a:r>
              <a:rPr lang="es-CL" b="1" i="1" u="sng" noProof="0" dirty="0"/>
              <a:t>Costo por absorción</a:t>
            </a:r>
            <a:r>
              <a:rPr lang="es-CL" noProof="0" dirty="0"/>
              <a:t>:</a:t>
            </a:r>
          </a:p>
          <a:p>
            <a:pPr lvl="1"/>
            <a:r>
              <a:rPr lang="es-CL" noProof="0" dirty="0"/>
              <a:t>Los costo de fabricación serían:</a:t>
            </a:r>
          </a:p>
          <a:p>
            <a:pPr lvl="2"/>
            <a:r>
              <a:rPr lang="es-CL" noProof="0" dirty="0"/>
              <a:t>Todos los costos variables: $122.000</a:t>
            </a:r>
          </a:p>
          <a:p>
            <a:pPr lvl="2"/>
            <a:r>
              <a:rPr lang="es-CL" noProof="0" dirty="0"/>
              <a:t>Costos fabricación fijos: $5.000.000/1.000 = 5.000</a:t>
            </a:r>
          </a:p>
          <a:p>
            <a:pPr marL="457200" lvl="1" indent="0">
              <a:buNone/>
            </a:pPr>
            <a:endParaRPr lang="es-CL" noProof="0" dirty="0"/>
          </a:p>
          <a:p>
            <a:r>
              <a:rPr lang="es-CL" b="1" i="1" u="sng" noProof="0" dirty="0"/>
              <a:t>Costo directo</a:t>
            </a:r>
            <a:r>
              <a:rPr lang="es-CL" noProof="0" dirty="0"/>
              <a:t>:</a:t>
            </a:r>
          </a:p>
          <a:p>
            <a:pPr lvl="1"/>
            <a:r>
              <a:rPr lang="es-CL" noProof="0" dirty="0"/>
              <a:t>Los costo directo: $122.000</a:t>
            </a:r>
          </a:p>
          <a:p>
            <a:endParaRPr lang="es-CL" noProof="0" dirty="0"/>
          </a:p>
          <a:p>
            <a:r>
              <a:rPr lang="es-CL" noProof="0" dirty="0"/>
              <a:t>Los costo fijos para costo por absorción: </a:t>
            </a:r>
          </a:p>
          <a:p>
            <a:pPr lvl="1"/>
            <a:r>
              <a:rPr lang="es-CL" noProof="0" dirty="0"/>
              <a:t>Gastos de administración de ventas: $ 31.750.000</a:t>
            </a:r>
          </a:p>
          <a:p>
            <a:pPr lvl="1"/>
            <a:r>
              <a:rPr lang="es-CL" noProof="0" dirty="0"/>
              <a:t>Depreciación: $15.800.000</a:t>
            </a:r>
          </a:p>
          <a:p>
            <a:endParaRPr lang="es-CL" noProof="0" dirty="0"/>
          </a:p>
          <a:p>
            <a:r>
              <a:rPr lang="es-CL" noProof="0" dirty="0"/>
              <a:t>Los costo fijos para costo directo: </a:t>
            </a:r>
          </a:p>
          <a:p>
            <a:pPr lvl="1"/>
            <a:r>
              <a:rPr lang="es-CL" noProof="0" dirty="0"/>
              <a:t>Gastos de administración de ventas: $ 36.750.000</a:t>
            </a:r>
          </a:p>
          <a:p>
            <a:pPr lvl="1"/>
            <a:r>
              <a:rPr lang="es-CL" noProof="0" dirty="0"/>
              <a:t>Depreciación: $15.800.000</a:t>
            </a:r>
          </a:p>
          <a:p>
            <a:pPr lvl="1"/>
            <a:endParaRPr lang="es-CL" noProof="0" dirty="0"/>
          </a:p>
          <a:p>
            <a:pPr lvl="1"/>
            <a:endParaRPr lang="es-CL" noProof="0" dirty="0"/>
          </a:p>
          <a:p>
            <a:pPr lvl="1"/>
            <a:endParaRPr lang="es-CL" noProof="0" dirty="0"/>
          </a:p>
          <a:p>
            <a:pPr marL="457200" lvl="1" indent="0">
              <a:buNone/>
            </a:pPr>
            <a:endParaRPr lang="es-CL" noProof="0" dirty="0"/>
          </a:p>
          <a:p>
            <a:pPr marL="457200" lvl="1" indent="0">
              <a:buNone/>
            </a:pPr>
            <a:r>
              <a:rPr lang="es-CL" noProof="0" dirty="0"/>
              <a:t>Nota: considere que el precio de venta es de $200.000</a:t>
            </a:r>
          </a:p>
        </p:txBody>
      </p:sp>
    </p:spTree>
    <p:extLst>
      <p:ext uri="{BB962C8B-B14F-4D97-AF65-F5344CB8AC3E}">
        <p14:creationId xmlns:p14="http://schemas.microsoft.com/office/powerpoint/2010/main" val="12090891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49D5AC-3E70-AB01-F1D1-516DB4A8236F}"/>
              </a:ext>
            </a:extLst>
          </p:cNvPr>
          <p:cNvSpPr>
            <a:spLocks noGrp="1"/>
          </p:cNvSpPr>
          <p:nvPr>
            <p:ph type="title"/>
          </p:nvPr>
        </p:nvSpPr>
        <p:spPr/>
        <p:txBody>
          <a:bodyPr/>
          <a:lstStyle/>
          <a:p>
            <a:r>
              <a:rPr lang="es-CL" noProof="0" dirty="0"/>
              <a:t>El estado de resultado para </a:t>
            </a:r>
            <a:r>
              <a:rPr lang="es-CL" b="1" i="1" u="sng" noProof="0" dirty="0"/>
              <a:t>costo por absorción </a:t>
            </a:r>
            <a:r>
              <a:rPr lang="es-CL" noProof="0" dirty="0"/>
              <a:t>quedaría de la siguiente manera</a:t>
            </a:r>
          </a:p>
        </p:txBody>
      </p:sp>
      <p:graphicFrame>
        <p:nvGraphicFramePr>
          <p:cNvPr id="3" name="Tabla 2">
            <a:extLst>
              <a:ext uri="{FF2B5EF4-FFF2-40B4-BE49-F238E27FC236}">
                <a16:creationId xmlns:a16="http://schemas.microsoft.com/office/drawing/2014/main" id="{702CA306-DCEE-3138-0A29-A55E2020354A}"/>
              </a:ext>
            </a:extLst>
          </p:cNvPr>
          <p:cNvGraphicFramePr>
            <a:graphicFrameLocks noGrp="1"/>
          </p:cNvGraphicFramePr>
          <p:nvPr>
            <p:extLst>
              <p:ext uri="{D42A27DB-BD31-4B8C-83A1-F6EECF244321}">
                <p14:modId xmlns:p14="http://schemas.microsoft.com/office/powerpoint/2010/main" val="2728211562"/>
              </p:ext>
            </p:extLst>
          </p:nvPr>
        </p:nvGraphicFramePr>
        <p:xfrm>
          <a:off x="417093" y="1620251"/>
          <a:ext cx="7427494" cy="3064043"/>
        </p:xfrm>
        <a:graphic>
          <a:graphicData uri="http://schemas.openxmlformats.org/drawingml/2006/table">
            <a:tbl>
              <a:tblPr/>
              <a:tblGrid>
                <a:gridCol w="2952827">
                  <a:extLst>
                    <a:ext uri="{9D8B030D-6E8A-4147-A177-3AD203B41FA5}">
                      <a16:colId xmlns:a16="http://schemas.microsoft.com/office/drawing/2014/main" val="2304106521"/>
                    </a:ext>
                  </a:extLst>
                </a:gridCol>
                <a:gridCol w="1430985">
                  <a:extLst>
                    <a:ext uri="{9D8B030D-6E8A-4147-A177-3AD203B41FA5}">
                      <a16:colId xmlns:a16="http://schemas.microsoft.com/office/drawing/2014/main" val="2830285201"/>
                    </a:ext>
                  </a:extLst>
                </a:gridCol>
                <a:gridCol w="1430985">
                  <a:extLst>
                    <a:ext uri="{9D8B030D-6E8A-4147-A177-3AD203B41FA5}">
                      <a16:colId xmlns:a16="http://schemas.microsoft.com/office/drawing/2014/main" val="2064955275"/>
                    </a:ext>
                  </a:extLst>
                </a:gridCol>
                <a:gridCol w="1612697">
                  <a:extLst>
                    <a:ext uri="{9D8B030D-6E8A-4147-A177-3AD203B41FA5}">
                      <a16:colId xmlns:a16="http://schemas.microsoft.com/office/drawing/2014/main" val="3178983237"/>
                    </a:ext>
                  </a:extLst>
                </a:gridCol>
              </a:tblGrid>
              <a:tr h="375437">
                <a:tc>
                  <a:txBody>
                    <a:bodyPr/>
                    <a:lstStyle/>
                    <a:p>
                      <a:pPr algn="l" fontAlgn="b">
                        <a:buNone/>
                      </a:pPr>
                      <a:r>
                        <a:rPr lang="es-CL" sz="2000" b="1" i="0" u="none" strike="noStrike" noProof="0" dirty="0">
                          <a:solidFill>
                            <a:srgbClr val="000000"/>
                          </a:solidFill>
                          <a:effectLst/>
                          <a:latin typeface="Aptos Narrow" panose="020B0004020202020204" pitchFamily="34" charset="0"/>
                        </a:rPr>
                        <a:t>Costo por absorción</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86084"/>
                  </a:ext>
                </a:extLst>
              </a:tr>
              <a:tr h="290660">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Unidades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Valor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Ventas</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209928"/>
                  </a:ext>
                </a:extLst>
              </a:tr>
              <a:tr h="290660">
                <a:tc>
                  <a:txBody>
                    <a:bodyPr/>
                    <a:lstStyle/>
                    <a:p>
                      <a:pPr algn="l" fontAlgn="b">
                        <a:buNone/>
                      </a:pPr>
                      <a:r>
                        <a:rPr lang="es-CL" sz="1600" b="0" i="0" u="none" strike="noStrike" noProof="0" dirty="0">
                          <a:solidFill>
                            <a:srgbClr val="000000"/>
                          </a:solidFill>
                          <a:effectLst/>
                          <a:latin typeface="Aptos Narrow" panose="020B0004020202020204" pitchFamily="34" charset="0"/>
                        </a:rPr>
                        <a:t>Ventas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1.000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200.000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200.000.000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4220487"/>
                  </a:ext>
                </a:extLst>
              </a:tr>
              <a:tr h="302771">
                <a:tc>
                  <a:txBody>
                    <a:bodyPr/>
                    <a:lstStyle/>
                    <a:p>
                      <a:pPr algn="l" fontAlgn="b">
                        <a:buNone/>
                      </a:pPr>
                      <a:r>
                        <a:rPr lang="es-CL" sz="1600" b="0" i="0" u="none" strike="noStrike" noProof="0" dirty="0">
                          <a:solidFill>
                            <a:srgbClr val="000000"/>
                          </a:solidFill>
                          <a:effectLst/>
                          <a:latin typeface="Aptos Narrow" panose="020B0004020202020204" pitchFamily="34" charset="0"/>
                        </a:rPr>
                        <a:t>Costo de fabricación</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1.000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-127.000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-127.000.000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5919024"/>
                  </a:ext>
                </a:extLst>
              </a:tr>
              <a:tr h="302771">
                <a:tc>
                  <a:txBody>
                    <a:bodyPr/>
                    <a:lstStyle/>
                    <a:p>
                      <a:pPr algn="l" fontAlgn="b">
                        <a:buNone/>
                      </a:pPr>
                      <a:r>
                        <a:rPr lang="es-CL" sz="1600" b="1" i="0" u="none" strike="noStrike" noProof="0" dirty="0">
                          <a:solidFill>
                            <a:srgbClr val="000000"/>
                          </a:solidFill>
                          <a:effectLst/>
                          <a:latin typeface="Aptos Narrow" panose="020B0004020202020204" pitchFamily="34" charset="0"/>
                        </a:rPr>
                        <a:t>Margen bruto</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73.000.000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6041771"/>
                  </a:ext>
                </a:extLst>
              </a:tr>
              <a:tr h="290660">
                <a:tc>
                  <a:txBody>
                    <a:bodyPr/>
                    <a:lstStyle/>
                    <a:p>
                      <a:pPr algn="l" fontAlgn="b">
                        <a:buNone/>
                      </a:pPr>
                      <a:r>
                        <a:rPr lang="es-CL" sz="1600" b="0" i="0" u="none" strike="noStrike" noProof="0" dirty="0">
                          <a:solidFill>
                            <a:srgbClr val="000000"/>
                          </a:solidFill>
                          <a:effectLst/>
                          <a:latin typeface="Aptos Narrow" panose="020B0004020202020204" pitchFamily="34" charset="0"/>
                        </a:rPr>
                        <a:t>Costos fijos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-31.750.000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8185744"/>
                  </a:ext>
                </a:extLst>
              </a:tr>
              <a:tr h="302771">
                <a:tc>
                  <a:txBody>
                    <a:bodyPr/>
                    <a:lstStyle/>
                    <a:p>
                      <a:pPr algn="l" fontAlgn="b">
                        <a:buNone/>
                      </a:pPr>
                      <a:r>
                        <a:rPr lang="es-CL" sz="1600" b="0" i="0" u="none" strike="noStrike" noProof="0" dirty="0">
                          <a:solidFill>
                            <a:srgbClr val="000000"/>
                          </a:solidFill>
                          <a:effectLst/>
                          <a:latin typeface="Aptos Narrow" panose="020B0004020202020204" pitchFamily="34" charset="0"/>
                        </a:rPr>
                        <a:t>Depreciación</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-15.800.000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376821"/>
                  </a:ext>
                </a:extLst>
              </a:tr>
              <a:tr h="302771">
                <a:tc>
                  <a:txBody>
                    <a:bodyPr/>
                    <a:lstStyle/>
                    <a:p>
                      <a:pPr algn="l" fontAlgn="b">
                        <a:buNone/>
                      </a:pPr>
                      <a:r>
                        <a:rPr lang="es-CL" sz="1600" b="1" i="0" u="none" strike="noStrike" noProof="0" dirty="0">
                          <a:solidFill>
                            <a:srgbClr val="000000"/>
                          </a:solidFill>
                          <a:effectLst/>
                          <a:latin typeface="Aptos Narrow" panose="020B0004020202020204" pitchFamily="34" charset="0"/>
                        </a:rPr>
                        <a:t>Utilidad antes de impuestos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25.450.000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0875904"/>
                  </a:ext>
                </a:extLst>
              </a:tr>
              <a:tr h="302771">
                <a:tc>
                  <a:txBody>
                    <a:bodyPr/>
                    <a:lstStyle/>
                    <a:p>
                      <a:pPr algn="l" fontAlgn="b">
                        <a:buNone/>
                      </a:pPr>
                      <a:r>
                        <a:rPr lang="es-CL" sz="1600" b="0" i="0" u="none" strike="noStrike" noProof="0" dirty="0">
                          <a:solidFill>
                            <a:srgbClr val="000000"/>
                          </a:solidFill>
                          <a:effectLst/>
                          <a:latin typeface="Aptos Narrow" panose="020B0004020202020204" pitchFamily="34" charset="0"/>
                        </a:rPr>
                        <a:t>Impuestos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-3.181.250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3349926"/>
                  </a:ext>
                </a:extLst>
              </a:tr>
              <a:tr h="302771">
                <a:tc>
                  <a:txBody>
                    <a:bodyPr/>
                    <a:lstStyle/>
                    <a:p>
                      <a:pPr algn="l" fontAlgn="b">
                        <a:buNone/>
                      </a:pPr>
                      <a:r>
                        <a:rPr lang="es-CL" sz="1600" b="1" i="0" u="none" strike="noStrike" noProof="0" dirty="0">
                          <a:solidFill>
                            <a:srgbClr val="000000"/>
                          </a:solidFill>
                          <a:effectLst/>
                          <a:latin typeface="Aptos Narrow" panose="020B0004020202020204" pitchFamily="34" charset="0"/>
                        </a:rPr>
                        <a:t>Utilidad del ejercicio</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22.268.750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3722392"/>
                  </a:ext>
                </a:extLst>
              </a:tr>
            </a:tbl>
          </a:graphicData>
        </a:graphic>
      </p:graphicFrame>
    </p:spTree>
    <p:extLst>
      <p:ext uri="{BB962C8B-B14F-4D97-AF65-F5344CB8AC3E}">
        <p14:creationId xmlns:p14="http://schemas.microsoft.com/office/powerpoint/2010/main" val="7613909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67399-B199-2321-89A8-0A5D7327B5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39EA29-63C0-EE61-1BEC-00EAD06AF552}"/>
              </a:ext>
            </a:extLst>
          </p:cNvPr>
          <p:cNvSpPr>
            <a:spLocks noGrp="1"/>
          </p:cNvSpPr>
          <p:nvPr>
            <p:ph type="title"/>
          </p:nvPr>
        </p:nvSpPr>
        <p:spPr/>
        <p:txBody>
          <a:bodyPr/>
          <a:lstStyle/>
          <a:p>
            <a:r>
              <a:rPr lang="es-CL" noProof="0" dirty="0"/>
              <a:t>El estado de resultado para </a:t>
            </a:r>
            <a:r>
              <a:rPr lang="es-CL" b="1" i="1" u="sng" noProof="0" dirty="0"/>
              <a:t>costo directo </a:t>
            </a:r>
            <a:r>
              <a:rPr lang="es-CL" noProof="0" dirty="0"/>
              <a:t>quedaría de la siguiente manera</a:t>
            </a:r>
          </a:p>
        </p:txBody>
      </p:sp>
      <p:graphicFrame>
        <p:nvGraphicFramePr>
          <p:cNvPr id="4" name="Tabla 3">
            <a:extLst>
              <a:ext uri="{FF2B5EF4-FFF2-40B4-BE49-F238E27FC236}">
                <a16:creationId xmlns:a16="http://schemas.microsoft.com/office/drawing/2014/main" id="{F43F625C-12D7-9EED-8F6B-A52E14F547D5}"/>
              </a:ext>
            </a:extLst>
          </p:cNvPr>
          <p:cNvGraphicFramePr>
            <a:graphicFrameLocks noGrp="1"/>
          </p:cNvGraphicFramePr>
          <p:nvPr>
            <p:extLst>
              <p:ext uri="{D42A27DB-BD31-4B8C-83A1-F6EECF244321}">
                <p14:modId xmlns:p14="http://schemas.microsoft.com/office/powerpoint/2010/main" val="644092322"/>
              </p:ext>
            </p:extLst>
          </p:nvPr>
        </p:nvGraphicFramePr>
        <p:xfrm>
          <a:off x="3813243" y="2490281"/>
          <a:ext cx="7038906" cy="3464065"/>
        </p:xfrm>
        <a:graphic>
          <a:graphicData uri="http://schemas.openxmlformats.org/drawingml/2006/table">
            <a:tbl>
              <a:tblPr/>
              <a:tblGrid>
                <a:gridCol w="1121882">
                  <a:extLst>
                    <a:ext uri="{9D8B030D-6E8A-4147-A177-3AD203B41FA5}">
                      <a16:colId xmlns:a16="http://schemas.microsoft.com/office/drawing/2014/main" val="1503918415"/>
                    </a:ext>
                  </a:extLst>
                </a:gridCol>
                <a:gridCol w="2352334">
                  <a:extLst>
                    <a:ext uri="{9D8B030D-6E8A-4147-A177-3AD203B41FA5}">
                      <a16:colId xmlns:a16="http://schemas.microsoft.com/office/drawing/2014/main" val="2186501231"/>
                    </a:ext>
                  </a:extLst>
                </a:gridCol>
                <a:gridCol w="1139977">
                  <a:extLst>
                    <a:ext uri="{9D8B030D-6E8A-4147-A177-3AD203B41FA5}">
                      <a16:colId xmlns:a16="http://schemas.microsoft.com/office/drawing/2014/main" val="981325195"/>
                    </a:ext>
                  </a:extLst>
                </a:gridCol>
                <a:gridCol w="1139977">
                  <a:extLst>
                    <a:ext uri="{9D8B030D-6E8A-4147-A177-3AD203B41FA5}">
                      <a16:colId xmlns:a16="http://schemas.microsoft.com/office/drawing/2014/main" val="3613979928"/>
                    </a:ext>
                  </a:extLst>
                </a:gridCol>
                <a:gridCol w="1284736">
                  <a:extLst>
                    <a:ext uri="{9D8B030D-6E8A-4147-A177-3AD203B41FA5}">
                      <a16:colId xmlns:a16="http://schemas.microsoft.com/office/drawing/2014/main" val="4078460258"/>
                    </a:ext>
                  </a:extLst>
                </a:gridCol>
              </a:tblGrid>
              <a:tr h="342587">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a:noFill/>
                    </a:lnR>
                    <a:lnT>
                      <a:noFill/>
                    </a:lnT>
                    <a:lnB>
                      <a:noFill/>
                    </a:lnB>
                    <a:noFill/>
                  </a:tcPr>
                </a:tc>
                <a:tc>
                  <a:txBody>
                    <a:bodyPr/>
                    <a:lstStyle/>
                    <a:p>
                      <a:pPr algn="l" fontAlgn="b">
                        <a:buNone/>
                      </a:pPr>
                      <a:r>
                        <a:rPr lang="es-CL" sz="2000" b="1" i="0" u="none" strike="noStrike" noProof="0" dirty="0">
                          <a:solidFill>
                            <a:srgbClr val="000000"/>
                          </a:solidFill>
                          <a:effectLst/>
                          <a:latin typeface="Aptos Narrow" panose="020B0004020202020204" pitchFamily="34" charset="0"/>
                        </a:rPr>
                        <a:t>Costo directo</a:t>
                      </a: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1036684"/>
                  </a:ext>
                </a:extLst>
              </a:tr>
              <a:tr h="265229">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Unidades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Valor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Ventas</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4626027"/>
                  </a:ext>
                </a:extLst>
              </a:tr>
              <a:tr h="265229">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Ventas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1.000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200.000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200.000.000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8928292"/>
                  </a:ext>
                </a:extLst>
              </a:tr>
              <a:tr h="276280">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Costo de fabricación</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1.000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-122.000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-122.000.000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5857500"/>
                  </a:ext>
                </a:extLst>
              </a:tr>
              <a:tr h="276280">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Margen bruto</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78.000.000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0559462"/>
                  </a:ext>
                </a:extLst>
              </a:tr>
              <a:tr h="265229">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Costos fijos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-36.750.000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8464181"/>
                  </a:ext>
                </a:extLst>
              </a:tr>
              <a:tr h="276280">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Depreciación</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-15.800.000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0968955"/>
                  </a:ext>
                </a:extLst>
              </a:tr>
              <a:tr h="276280">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Utilidad antes de impuestos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25.450.000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3796772"/>
                  </a:ext>
                </a:extLst>
              </a:tr>
              <a:tr h="276280">
                <a:tc>
                  <a:txBody>
                    <a:bodyPr/>
                    <a:lstStyle/>
                    <a:p>
                      <a:pPr algn="r" fontAlgn="b">
                        <a:buNone/>
                      </a:pPr>
                      <a:r>
                        <a:rPr lang="es-CL" sz="1600" b="0" i="0" u="none" strike="noStrike" noProof="0" dirty="0">
                          <a:solidFill>
                            <a:srgbClr val="000000"/>
                          </a:solidFill>
                          <a:effectLst/>
                          <a:latin typeface="Aptos Narrow" panose="020B0004020202020204" pitchFamily="34" charset="0"/>
                        </a:rPr>
                        <a:t>12,50%</a:t>
                      </a: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Impuestos</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0" i="0" u="none" strike="noStrike" noProof="0" dirty="0">
                          <a:solidFill>
                            <a:srgbClr val="000000"/>
                          </a:solidFill>
                          <a:effectLst/>
                          <a:latin typeface="Aptos Narrow" panose="020B0004020202020204" pitchFamily="34" charset="0"/>
                        </a:rPr>
                        <a:t>         -3.181.250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7491493"/>
                  </a:ext>
                </a:extLst>
              </a:tr>
              <a:tr h="276280">
                <a:tc>
                  <a:txBody>
                    <a:bodyPr/>
                    <a:lstStyle/>
                    <a:p>
                      <a:pPr algn="l" fontAlgn="b">
                        <a:buNone/>
                      </a:pPr>
                      <a:endParaRPr lang="es-CL" sz="1600" b="0" i="0" u="none" strike="noStrike" noProof="0" dirty="0">
                        <a:solidFill>
                          <a:srgbClr val="000000"/>
                        </a:solidFill>
                        <a:effectLst/>
                        <a:latin typeface="Aptos Narrow" panose="020B0004020202020204" pitchFamily="34" charset="0"/>
                      </a:endParaRPr>
                    </a:p>
                  </a:txBody>
                  <a:tcPr marL="7620" marR="7620" marT="7620" marB="0" anchor="b">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Utilidad del ejercicio</a:t>
                      </a:r>
                    </a:p>
                  </a:txBody>
                  <a:tcPr marL="7620" marR="7620" marT="762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s-CL" sz="1600" b="1" i="0" u="none" strike="noStrike" noProof="0" dirty="0">
                          <a:solidFill>
                            <a:srgbClr val="000000"/>
                          </a:solidFill>
                          <a:effectLst/>
                          <a:latin typeface="Aptos Narrow" panose="020B0004020202020204" pitchFamily="34" charset="0"/>
                        </a:rPr>
                        <a:t>        22.268.750 </a:t>
                      </a:r>
                    </a:p>
                  </a:txBody>
                  <a:tcPr marL="7620" marR="7620" marT="762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0211767"/>
                  </a:ext>
                </a:extLst>
              </a:tr>
            </a:tbl>
          </a:graphicData>
        </a:graphic>
      </p:graphicFrame>
    </p:spTree>
    <p:extLst>
      <p:ext uri="{BB962C8B-B14F-4D97-AF65-F5344CB8AC3E}">
        <p14:creationId xmlns:p14="http://schemas.microsoft.com/office/powerpoint/2010/main" val="37641663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D753AD-C6CC-6BD1-31E8-C43876F8E3B9}"/>
              </a:ext>
            </a:extLst>
          </p:cNvPr>
          <p:cNvSpPr>
            <a:spLocks noGrp="1"/>
          </p:cNvSpPr>
          <p:nvPr>
            <p:ph type="title"/>
          </p:nvPr>
        </p:nvSpPr>
        <p:spPr/>
        <p:txBody>
          <a:bodyPr/>
          <a:lstStyle/>
          <a:p>
            <a:r>
              <a:rPr lang="es-CL" noProof="0" dirty="0"/>
              <a:t>Desde ahora en adelante trabajaremos con costeo directo.</a:t>
            </a:r>
          </a:p>
        </p:txBody>
      </p:sp>
    </p:spTree>
    <p:extLst>
      <p:ext uri="{BB962C8B-B14F-4D97-AF65-F5344CB8AC3E}">
        <p14:creationId xmlns:p14="http://schemas.microsoft.com/office/powerpoint/2010/main" val="19023226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0B6860-C72F-4631-914B-50093D4EA04C}"/>
              </a:ext>
            </a:extLst>
          </p:cNvPr>
          <p:cNvSpPr>
            <a:spLocks noGrp="1"/>
          </p:cNvSpPr>
          <p:nvPr>
            <p:ph type="title"/>
          </p:nvPr>
        </p:nvSpPr>
        <p:spPr/>
        <p:txBody>
          <a:bodyPr>
            <a:normAutofit fontScale="90000"/>
          </a:bodyPr>
          <a:lstStyle/>
          <a:p>
            <a:r>
              <a:rPr lang="es-CL" noProof="0" dirty="0"/>
              <a:t>Ejercicio en clases, realice los Estado de Resultado con los datos que se indican, para 2 años. (use costo directo)</a:t>
            </a:r>
          </a:p>
        </p:txBody>
      </p:sp>
      <p:sp>
        <p:nvSpPr>
          <p:cNvPr id="3" name="Marcador de contenido 2">
            <a:extLst>
              <a:ext uri="{FF2B5EF4-FFF2-40B4-BE49-F238E27FC236}">
                <a16:creationId xmlns:a16="http://schemas.microsoft.com/office/drawing/2014/main" id="{1210A432-44D6-46DA-8E3E-593C50FA1BCF}"/>
              </a:ext>
            </a:extLst>
          </p:cNvPr>
          <p:cNvSpPr>
            <a:spLocks noGrp="1"/>
          </p:cNvSpPr>
          <p:nvPr>
            <p:ph idx="1"/>
          </p:nvPr>
        </p:nvSpPr>
        <p:spPr>
          <a:xfrm>
            <a:off x="604434" y="1561171"/>
            <a:ext cx="11215859" cy="4906536"/>
          </a:xfrm>
        </p:spPr>
        <p:txBody>
          <a:bodyPr>
            <a:normAutofit fontScale="77500" lnSpcReduction="20000"/>
          </a:bodyPr>
          <a:lstStyle/>
          <a:p>
            <a:r>
              <a:rPr lang="es-CL" b="1" noProof="0" dirty="0">
                <a:solidFill>
                  <a:schemeClr val="tx1"/>
                </a:solidFill>
              </a:rPr>
              <a:t>Una empresa comercializadora espera vender 200.000 unidades, el primer año y 250.000 el segundo año. El precio de venta será de $11.000 cada unidad. Se tienen los siguientes datos: </a:t>
            </a:r>
          </a:p>
          <a:p>
            <a:pPr marL="731520" lvl="1" indent="-457200">
              <a:buFont typeface="+mj-lt"/>
              <a:buAutoNum type="arabicPeriod"/>
            </a:pPr>
            <a:r>
              <a:rPr lang="es-CL" sz="1500" b="1" noProof="0" dirty="0">
                <a:solidFill>
                  <a:schemeClr val="tx1"/>
                </a:solidFill>
              </a:rPr>
              <a:t>Costos variables es:</a:t>
            </a:r>
          </a:p>
          <a:p>
            <a:pPr marL="1188720" lvl="2" indent="-457200">
              <a:buFont typeface="+mj-lt"/>
              <a:buAutoNum type="alphaLcParenR"/>
            </a:pPr>
            <a:r>
              <a:rPr lang="es-CL" sz="1300" b="1" noProof="0" dirty="0">
                <a:solidFill>
                  <a:schemeClr val="tx1"/>
                </a:solidFill>
              </a:rPr>
              <a:t>Materias primas: $4.000 por unidad.</a:t>
            </a:r>
          </a:p>
          <a:p>
            <a:pPr marL="1188720" lvl="2" indent="-457200">
              <a:buFont typeface="+mj-lt"/>
              <a:buAutoNum type="alphaLcParenR"/>
            </a:pPr>
            <a:r>
              <a:rPr lang="es-CL" sz="1300" b="1" noProof="0" dirty="0">
                <a:solidFill>
                  <a:schemeClr val="tx1"/>
                </a:solidFill>
              </a:rPr>
              <a:t>Mano de obra: $3.700 por unidad.</a:t>
            </a:r>
          </a:p>
          <a:p>
            <a:pPr marL="731520" lvl="1" indent="-457200">
              <a:buFont typeface="+mj-lt"/>
              <a:buAutoNum type="arabicPeriod"/>
            </a:pPr>
            <a:r>
              <a:rPr lang="es-CL" sz="1500" b="1" noProof="0" dirty="0">
                <a:solidFill>
                  <a:schemeClr val="tx1"/>
                </a:solidFill>
              </a:rPr>
              <a:t>Paga de arriendo $100.000.000, los sueldos son de $170.000.000 y las cuentas de consumo, como agua y energía son de $30.000.000</a:t>
            </a:r>
          </a:p>
          <a:p>
            <a:pPr marL="731520" lvl="1" indent="-457200">
              <a:buFont typeface="+mj-lt"/>
              <a:buAutoNum type="arabicPeriod"/>
            </a:pPr>
            <a:r>
              <a:rPr lang="es-CL" sz="1500" b="1" noProof="0" dirty="0">
                <a:solidFill>
                  <a:schemeClr val="tx1"/>
                </a:solidFill>
              </a:rPr>
              <a:t>Existe una maquinaria que por un valor de $ 100.000.000 que se deprecia en 2 años,  no tiene un valor residual.</a:t>
            </a:r>
          </a:p>
          <a:p>
            <a:pPr marL="731520" lvl="1" indent="-457200">
              <a:buFont typeface="+mj-lt"/>
              <a:buAutoNum type="arabicPeriod"/>
            </a:pPr>
            <a:r>
              <a:rPr lang="es-CL" sz="1500" b="1" noProof="0" dirty="0">
                <a:solidFill>
                  <a:schemeClr val="tx1"/>
                </a:solidFill>
              </a:rPr>
              <a:t>En el primer año, producto de la venta de unas maquinarias que no se usaban, se obtuvo una pérdida extraordinaria de $180.000.000</a:t>
            </a:r>
          </a:p>
          <a:p>
            <a:pPr marL="731520" lvl="1" indent="-457200">
              <a:buFont typeface="+mj-lt"/>
              <a:buAutoNum type="arabicPeriod"/>
            </a:pPr>
            <a:r>
              <a:rPr lang="es-CL" sz="1500" b="1" noProof="0" dirty="0">
                <a:solidFill>
                  <a:schemeClr val="tx1"/>
                </a:solidFill>
              </a:rPr>
              <a:t>La empresa posee una deuda de $475.000.000 con una tasa del 20%, pagadera en 2 cuotas anuales. Intereses del primer año: $95.000.000; Intereses del segundo año: $47.500.000.</a:t>
            </a:r>
          </a:p>
          <a:p>
            <a:pPr marL="731520" lvl="1" indent="-457200">
              <a:buFont typeface="+mj-lt"/>
              <a:buAutoNum type="arabicPeriod"/>
            </a:pPr>
            <a:r>
              <a:rPr lang="es-CL" sz="1500" b="1" noProof="0" dirty="0">
                <a:solidFill>
                  <a:schemeClr val="tx1"/>
                </a:solidFill>
              </a:rPr>
              <a:t>Tasa de impuesto del 37%</a:t>
            </a:r>
          </a:p>
          <a:p>
            <a:endParaRPr lang="es-CL" noProof="0" dirty="0"/>
          </a:p>
        </p:txBody>
      </p:sp>
      <p:sp>
        <p:nvSpPr>
          <p:cNvPr id="4" name="Marcador de pie de página 3"/>
          <p:cNvSpPr>
            <a:spLocks noGrp="1"/>
          </p:cNvSpPr>
          <p:nvPr>
            <p:ph type="ftr" sz="quarter" idx="11"/>
          </p:nvPr>
        </p:nvSpPr>
        <p:spPr/>
        <p:txBody>
          <a:bodyPr/>
          <a:lstStyle/>
          <a:p>
            <a:r>
              <a:rPr lang="es-CL" noProof="0" dirty="0"/>
              <a:t>Profesor: Fernando Lagos O.</a:t>
            </a:r>
          </a:p>
        </p:txBody>
      </p:sp>
    </p:spTree>
    <p:extLst>
      <p:ext uri="{BB962C8B-B14F-4D97-AF65-F5344CB8AC3E}">
        <p14:creationId xmlns:p14="http://schemas.microsoft.com/office/powerpoint/2010/main" val="6881730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28BBCA1-24C6-4ADB-B26D-1A1F33971688}"/>
              </a:ext>
            </a:extLst>
          </p:cNvPr>
          <p:cNvPicPr>
            <a:picLocks noChangeAspect="1"/>
          </p:cNvPicPr>
          <p:nvPr/>
        </p:nvPicPr>
        <p:blipFill>
          <a:blip r:embed="rId2"/>
          <a:stretch>
            <a:fillRect/>
          </a:stretch>
        </p:blipFill>
        <p:spPr>
          <a:xfrm>
            <a:off x="2199861" y="921637"/>
            <a:ext cx="7447722" cy="4792988"/>
          </a:xfrm>
          <a:prstGeom prst="rect">
            <a:avLst/>
          </a:prstGeom>
        </p:spPr>
      </p:pic>
      <p:sp>
        <p:nvSpPr>
          <p:cNvPr id="2" name="Marcador de pie de página 1"/>
          <p:cNvSpPr>
            <a:spLocks noGrp="1"/>
          </p:cNvSpPr>
          <p:nvPr>
            <p:ph type="ftr" sz="quarter" idx="11"/>
          </p:nvPr>
        </p:nvSpPr>
        <p:spPr/>
        <p:txBody>
          <a:bodyPr/>
          <a:lstStyle/>
          <a:p>
            <a:r>
              <a:rPr lang="es-CL" noProof="0" dirty="0"/>
              <a:t>Profesor: Fernando Lagos O.</a:t>
            </a:r>
          </a:p>
        </p:txBody>
      </p:sp>
    </p:spTree>
    <p:extLst>
      <p:ext uri="{BB962C8B-B14F-4D97-AF65-F5344CB8AC3E}">
        <p14:creationId xmlns:p14="http://schemas.microsoft.com/office/powerpoint/2010/main" val="22329310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0B6860-C72F-4631-914B-50093D4EA04C}"/>
              </a:ext>
            </a:extLst>
          </p:cNvPr>
          <p:cNvSpPr>
            <a:spLocks noGrp="1"/>
          </p:cNvSpPr>
          <p:nvPr>
            <p:ph type="title"/>
          </p:nvPr>
        </p:nvSpPr>
        <p:spPr/>
        <p:txBody>
          <a:bodyPr/>
          <a:lstStyle/>
          <a:p>
            <a:r>
              <a:rPr lang="es-CL" noProof="0" dirty="0"/>
              <a:t>Ejercicio en clases, realice los Estado de Resultado con los datos que se indican, para 5 años.</a:t>
            </a:r>
          </a:p>
        </p:txBody>
      </p:sp>
      <p:sp>
        <p:nvSpPr>
          <p:cNvPr id="3" name="Marcador de contenido 2">
            <a:extLst>
              <a:ext uri="{FF2B5EF4-FFF2-40B4-BE49-F238E27FC236}">
                <a16:creationId xmlns:a16="http://schemas.microsoft.com/office/drawing/2014/main" id="{1210A432-44D6-46DA-8E3E-593C50FA1BCF}"/>
              </a:ext>
            </a:extLst>
          </p:cNvPr>
          <p:cNvSpPr>
            <a:spLocks noGrp="1"/>
          </p:cNvSpPr>
          <p:nvPr>
            <p:ph idx="1"/>
          </p:nvPr>
        </p:nvSpPr>
        <p:spPr>
          <a:xfrm>
            <a:off x="838201" y="1825625"/>
            <a:ext cx="10850216" cy="4351338"/>
          </a:xfrm>
        </p:spPr>
        <p:txBody>
          <a:bodyPr>
            <a:normAutofit fontScale="92500" lnSpcReduction="20000"/>
          </a:bodyPr>
          <a:lstStyle/>
          <a:p>
            <a:r>
              <a:rPr lang="es-CL" b="1" noProof="0" dirty="0">
                <a:solidFill>
                  <a:schemeClr val="tx1"/>
                </a:solidFill>
              </a:rPr>
              <a:t>Una empresa comercializadora espera vender 25.000 unidades, el primer año y 30.000 los años siguientes. El precio de venta será de $5 cada uno. Se tienen los siguientes datos: </a:t>
            </a:r>
          </a:p>
          <a:p>
            <a:pPr marL="731520" lvl="1" indent="-457200">
              <a:buFont typeface="+mj-lt"/>
              <a:buAutoNum type="arabicPeriod"/>
            </a:pPr>
            <a:r>
              <a:rPr lang="es-CL" b="1" noProof="0" dirty="0">
                <a:solidFill>
                  <a:schemeClr val="tx1"/>
                </a:solidFill>
              </a:rPr>
              <a:t>Costos variables son:</a:t>
            </a:r>
          </a:p>
          <a:p>
            <a:pPr marL="1188720" lvl="2" indent="-457200">
              <a:buFont typeface="+mj-lt"/>
              <a:buAutoNum type="alphaLcParenR"/>
            </a:pPr>
            <a:r>
              <a:rPr lang="es-CL" b="1" noProof="0" dirty="0">
                <a:solidFill>
                  <a:schemeClr val="tx1"/>
                </a:solidFill>
              </a:rPr>
              <a:t>Materias primas de $1,1 por unidad.</a:t>
            </a:r>
          </a:p>
          <a:p>
            <a:pPr marL="1188720" lvl="2" indent="-457200">
              <a:buFont typeface="+mj-lt"/>
              <a:buAutoNum type="alphaLcParenR"/>
            </a:pPr>
            <a:r>
              <a:rPr lang="es-CL" b="1" noProof="0" dirty="0">
                <a:solidFill>
                  <a:schemeClr val="tx1"/>
                </a:solidFill>
              </a:rPr>
              <a:t>Mano de obra: $0,9 por unidad</a:t>
            </a:r>
          </a:p>
          <a:p>
            <a:pPr marL="731520" lvl="1" indent="-457200">
              <a:buFont typeface="+mj-lt"/>
              <a:buAutoNum type="arabicPeriod"/>
            </a:pPr>
            <a:r>
              <a:rPr lang="es-CL" b="1" noProof="0" dirty="0">
                <a:solidFill>
                  <a:schemeClr val="tx1"/>
                </a:solidFill>
              </a:rPr>
              <a:t>Paga de arriendo $3.000, los sueldos son de $5.000 y los gastos varios alcanzan a $2.000.</a:t>
            </a:r>
          </a:p>
          <a:p>
            <a:pPr marL="731520" lvl="1" indent="-457200">
              <a:buFont typeface="+mj-lt"/>
              <a:buAutoNum type="arabicPeriod"/>
            </a:pPr>
            <a:r>
              <a:rPr lang="es-CL" b="1" noProof="0" dirty="0">
                <a:solidFill>
                  <a:schemeClr val="tx1"/>
                </a:solidFill>
              </a:rPr>
              <a:t>Existe una maquinaria que se compró en $ 1.000 y se deprecia en 4 años.</a:t>
            </a:r>
          </a:p>
          <a:p>
            <a:pPr marL="731520" lvl="1" indent="-457200">
              <a:buFont typeface="+mj-lt"/>
              <a:buAutoNum type="arabicPeriod"/>
            </a:pPr>
            <a:r>
              <a:rPr lang="es-CL" b="1" noProof="0" dirty="0">
                <a:solidFill>
                  <a:schemeClr val="tx1"/>
                </a:solidFill>
              </a:rPr>
              <a:t>La empresa posee una ejercicio deuda de 100.000 a una tasa del 15%, pagadera en 5 cuotas anuales. Con amortización francesa. ( los intereses para cada son: año 1: $15.000; año 2: $12.775; año 3: $10.217; año 4: $7.275; año 5: $3.891)</a:t>
            </a:r>
          </a:p>
          <a:p>
            <a:pPr marL="731520" lvl="1" indent="-457200">
              <a:buFont typeface="+mj-lt"/>
              <a:buAutoNum type="arabicPeriod"/>
            </a:pPr>
            <a:r>
              <a:rPr lang="es-CL" b="1" noProof="0" dirty="0">
                <a:solidFill>
                  <a:schemeClr val="tx1"/>
                </a:solidFill>
              </a:rPr>
              <a:t>Tasa de impuesto del 40%</a:t>
            </a:r>
          </a:p>
          <a:p>
            <a:endParaRPr lang="es-CL" noProof="0" dirty="0"/>
          </a:p>
        </p:txBody>
      </p:sp>
      <p:sp>
        <p:nvSpPr>
          <p:cNvPr id="4" name="Marcador de pie de página 3"/>
          <p:cNvSpPr>
            <a:spLocks noGrp="1"/>
          </p:cNvSpPr>
          <p:nvPr>
            <p:ph type="ftr" sz="quarter" idx="11"/>
          </p:nvPr>
        </p:nvSpPr>
        <p:spPr/>
        <p:txBody>
          <a:bodyPr/>
          <a:lstStyle/>
          <a:p>
            <a:r>
              <a:rPr lang="es-CL" noProof="0" dirty="0"/>
              <a:t>Profesor: Fernando Lagos O.</a:t>
            </a:r>
          </a:p>
        </p:txBody>
      </p:sp>
    </p:spTree>
    <p:extLst>
      <p:ext uri="{BB962C8B-B14F-4D97-AF65-F5344CB8AC3E}">
        <p14:creationId xmlns:p14="http://schemas.microsoft.com/office/powerpoint/2010/main" val="28611260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to 1">
            <a:extLst>
              <a:ext uri="{FF2B5EF4-FFF2-40B4-BE49-F238E27FC236}">
                <a16:creationId xmlns:a16="http://schemas.microsoft.com/office/drawing/2014/main" id="{22CCD44C-A73A-4746-85BB-DE2DEF012EBB}"/>
              </a:ext>
            </a:extLst>
          </p:cNvPr>
          <p:cNvGraphicFramePr>
            <a:graphicFrameLocks noChangeAspect="1"/>
          </p:cNvGraphicFramePr>
          <p:nvPr/>
        </p:nvGraphicFramePr>
        <p:xfrm>
          <a:off x="829516" y="980661"/>
          <a:ext cx="10395075" cy="4829440"/>
        </p:xfrm>
        <a:graphic>
          <a:graphicData uri="http://schemas.openxmlformats.org/presentationml/2006/ole">
            <mc:AlternateContent xmlns:mc="http://schemas.openxmlformats.org/markup-compatibility/2006">
              <mc:Choice xmlns:v="urn:schemas-microsoft-com:vml" Requires="v">
                <p:oleObj name="Worksheet" r:id="rId2" imgW="6724533" imgH="3124095" progId="Excel.Sheet.12">
                  <p:embed/>
                </p:oleObj>
              </mc:Choice>
              <mc:Fallback>
                <p:oleObj name="Worksheet" r:id="rId2" imgW="6724533" imgH="3124095" progId="Excel.Sheet.12">
                  <p:embed/>
                  <p:pic>
                    <p:nvPicPr>
                      <p:cNvPr id="2" name="Objeto 1">
                        <a:extLst>
                          <a:ext uri="{FF2B5EF4-FFF2-40B4-BE49-F238E27FC236}">
                            <a16:creationId xmlns:a16="http://schemas.microsoft.com/office/drawing/2014/main" id="{22CCD44C-A73A-4746-85BB-DE2DEF012EBB}"/>
                          </a:ext>
                        </a:extLst>
                      </p:cNvPr>
                      <p:cNvPicPr/>
                      <p:nvPr/>
                    </p:nvPicPr>
                    <p:blipFill>
                      <a:blip r:embed="rId3"/>
                      <a:stretch>
                        <a:fillRect/>
                      </a:stretch>
                    </p:blipFill>
                    <p:spPr>
                      <a:xfrm>
                        <a:off x="829516" y="980661"/>
                        <a:ext cx="10395075" cy="4829440"/>
                      </a:xfrm>
                      <a:prstGeom prst="rect">
                        <a:avLst/>
                      </a:prstGeom>
                    </p:spPr>
                  </p:pic>
                </p:oleObj>
              </mc:Fallback>
            </mc:AlternateContent>
          </a:graphicData>
        </a:graphic>
      </p:graphicFrame>
      <p:sp>
        <p:nvSpPr>
          <p:cNvPr id="3" name="Marcador de pie de página 2"/>
          <p:cNvSpPr>
            <a:spLocks noGrp="1"/>
          </p:cNvSpPr>
          <p:nvPr>
            <p:ph type="ftr" sz="quarter" idx="11"/>
          </p:nvPr>
        </p:nvSpPr>
        <p:spPr/>
        <p:txBody>
          <a:bodyPr/>
          <a:lstStyle/>
          <a:p>
            <a:r>
              <a:rPr lang="es-CL" noProof="0" dirty="0"/>
              <a:t>Profesor: Fernando Lagos O.</a:t>
            </a:r>
          </a:p>
        </p:txBody>
      </p:sp>
    </p:spTree>
    <p:extLst>
      <p:ext uri="{BB962C8B-B14F-4D97-AF65-F5344CB8AC3E}">
        <p14:creationId xmlns:p14="http://schemas.microsoft.com/office/powerpoint/2010/main" val="35219720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3000" y="609600"/>
            <a:ext cx="9875520" cy="712424"/>
          </a:xfrm>
        </p:spPr>
        <p:txBody>
          <a:bodyPr/>
          <a:lstStyle/>
          <a:p>
            <a:r>
              <a:rPr lang="es-CL" noProof="0" dirty="0"/>
              <a:t>Análisis del Punto de Equilibrio</a:t>
            </a:r>
          </a:p>
        </p:txBody>
      </p:sp>
      <p:sp>
        <p:nvSpPr>
          <p:cNvPr id="3" name="Marcador de contenido 2"/>
          <p:cNvSpPr>
            <a:spLocks noGrp="1"/>
          </p:cNvSpPr>
          <p:nvPr>
            <p:ph idx="1"/>
          </p:nvPr>
        </p:nvSpPr>
        <p:spPr>
          <a:xfrm>
            <a:off x="910357" y="1560655"/>
            <a:ext cx="9872871" cy="4608723"/>
          </a:xfrm>
        </p:spPr>
        <p:txBody>
          <a:bodyPr/>
          <a:lstStyle/>
          <a:p>
            <a:r>
              <a:rPr lang="es-CL" noProof="0" dirty="0"/>
              <a:t>El </a:t>
            </a:r>
            <a:r>
              <a:rPr lang="es-CL" b="1" noProof="0" dirty="0"/>
              <a:t>punto de equilibrio operativo </a:t>
            </a:r>
            <a:r>
              <a:rPr lang="es-CL" noProof="0" dirty="0"/>
              <a:t>de la empresa es el nivel de ventas que se requiere para cubrir todos los </a:t>
            </a:r>
            <a:r>
              <a:rPr lang="es-CL" i="1" noProof="0" dirty="0"/>
              <a:t>costos operativos</a:t>
            </a:r>
            <a:r>
              <a:rPr lang="es-CL" noProof="0" dirty="0"/>
              <a:t> (utilidad antes de intereses e impuestos).</a:t>
            </a:r>
          </a:p>
          <a:p>
            <a:r>
              <a:rPr lang="es-CL" noProof="0" dirty="0"/>
              <a:t>Para estos se debe separar entre Costos Variables, Costos Fijos, el Precio y la cantidad o unidades vendidas:</a:t>
            </a:r>
          </a:p>
          <a:p>
            <a:pPr lvl="1"/>
            <a:r>
              <a:rPr lang="es-CL" noProof="0" dirty="0"/>
              <a:t>Los </a:t>
            </a:r>
            <a:r>
              <a:rPr lang="es-CL" b="1" noProof="0" dirty="0"/>
              <a:t>costos variables (CV)</a:t>
            </a:r>
            <a:r>
              <a:rPr lang="es-CL" noProof="0" dirty="0"/>
              <a:t>, son los costos por unidades, es decir, como totales, aumentan en la medida que aumentan las unidades vendidas.</a:t>
            </a:r>
          </a:p>
          <a:p>
            <a:pPr lvl="1"/>
            <a:r>
              <a:rPr lang="es-CL" noProof="0" dirty="0"/>
              <a:t>Los </a:t>
            </a:r>
            <a:r>
              <a:rPr lang="es-CL" b="1" noProof="0" dirty="0"/>
              <a:t>costos fijos (CF)</a:t>
            </a:r>
            <a:r>
              <a:rPr lang="es-CL" noProof="0" dirty="0"/>
              <a:t>: son independiente de las ventas. Siempre se deben pagar, sean mayores o menores las ventas.</a:t>
            </a:r>
          </a:p>
          <a:p>
            <a:pPr lvl="1"/>
            <a:r>
              <a:rPr lang="es-CL" b="1" noProof="0" dirty="0"/>
              <a:t>Precio (P)</a:t>
            </a:r>
            <a:r>
              <a:rPr lang="es-CL" noProof="0" dirty="0"/>
              <a:t>, es el precio de cada unidad vendida.</a:t>
            </a:r>
          </a:p>
          <a:p>
            <a:pPr lvl="1"/>
            <a:r>
              <a:rPr lang="es-CL" b="1" noProof="0" dirty="0"/>
              <a:t>Cantidad (q)</a:t>
            </a:r>
            <a:r>
              <a:rPr lang="es-CL" noProof="0" dirty="0"/>
              <a:t>, son las unidades vendidas.</a:t>
            </a:r>
          </a:p>
        </p:txBody>
      </p:sp>
    </p:spTree>
    <p:extLst>
      <p:ext uri="{BB962C8B-B14F-4D97-AF65-F5344CB8AC3E}">
        <p14:creationId xmlns:p14="http://schemas.microsoft.com/office/powerpoint/2010/main" val="5175057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8AF7279-5DA9-47A3-9C8D-A3F7E2ED27C3}"/>
              </a:ext>
            </a:extLst>
          </p:cNvPr>
          <p:cNvSpPr/>
          <p:nvPr/>
        </p:nvSpPr>
        <p:spPr>
          <a:xfrm>
            <a:off x="1563329" y="3539613"/>
            <a:ext cx="6061587" cy="14895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graphicFrame>
        <p:nvGraphicFramePr>
          <p:cNvPr id="2" name="Objeto 1">
            <a:extLst>
              <a:ext uri="{FF2B5EF4-FFF2-40B4-BE49-F238E27FC236}">
                <a16:creationId xmlns:a16="http://schemas.microsoft.com/office/drawing/2014/main" id="{44406522-2096-49FC-B0ED-D98CA773939E}"/>
              </a:ext>
            </a:extLst>
          </p:cNvPr>
          <p:cNvGraphicFramePr>
            <a:graphicFrameLocks noChangeAspect="1"/>
          </p:cNvGraphicFramePr>
          <p:nvPr/>
        </p:nvGraphicFramePr>
        <p:xfrm>
          <a:off x="1080044" y="477673"/>
          <a:ext cx="10282746" cy="1736718"/>
        </p:xfrm>
        <a:graphic>
          <a:graphicData uri="http://schemas.openxmlformats.org/presentationml/2006/ole">
            <mc:AlternateContent xmlns:mc="http://schemas.openxmlformats.org/markup-compatibility/2006">
              <mc:Choice xmlns:v="urn:schemas-microsoft-com:vml" Requires="v">
                <p:oleObj name="Hoja de cálculo" r:id="rId2" imgW="5696085" imgH="962115" progId="Excel.Sheet.12">
                  <p:embed/>
                </p:oleObj>
              </mc:Choice>
              <mc:Fallback>
                <p:oleObj name="Hoja de cálculo" r:id="rId2" imgW="5696085" imgH="962115" progId="Excel.Sheet.12">
                  <p:embed/>
                  <p:pic>
                    <p:nvPicPr>
                      <p:cNvPr id="2" name="Objeto 1">
                        <a:extLst>
                          <a:ext uri="{FF2B5EF4-FFF2-40B4-BE49-F238E27FC236}">
                            <a16:creationId xmlns:a16="http://schemas.microsoft.com/office/drawing/2014/main" id="{44406522-2096-49FC-B0ED-D98CA773939E}"/>
                          </a:ext>
                        </a:extLst>
                      </p:cNvPr>
                      <p:cNvPicPr/>
                      <p:nvPr/>
                    </p:nvPicPr>
                    <p:blipFill>
                      <a:blip r:embed="rId3"/>
                      <a:stretch>
                        <a:fillRect/>
                      </a:stretch>
                    </p:blipFill>
                    <p:spPr>
                      <a:xfrm>
                        <a:off x="1080044" y="477673"/>
                        <a:ext cx="10282746" cy="1736718"/>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01694AD-E486-4B6B-B357-65FFF7BC06EC}"/>
                  </a:ext>
                </a:extLst>
              </p:cNvPr>
              <p:cNvSpPr txBox="1">
                <a:spLocks/>
              </p:cNvSpPr>
              <p:nvPr/>
            </p:nvSpPr>
            <p:spPr>
              <a:xfrm>
                <a:off x="1187068" y="3126259"/>
                <a:ext cx="9872871" cy="307991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s-CL" noProof="0" dirty="0"/>
                  <a:t>Si reformulamos lo anterior:</a:t>
                </a:r>
              </a:p>
              <a:p>
                <a:endParaRPr lang="es-CL" noProof="0" dirty="0"/>
              </a:p>
              <a:p>
                <a:r>
                  <a:rPr lang="es-CL" sz="2400" b="1" noProof="0" dirty="0"/>
                  <a:t>Q = </a:t>
                </a:r>
                <a14:m>
                  <m:oMath xmlns:m="http://schemas.openxmlformats.org/officeDocument/2006/math">
                    <m:f>
                      <m:fPr>
                        <m:ctrlPr>
                          <a:rPr lang="es-CL" sz="2400" b="1" i="1" noProof="0" smtClean="0">
                            <a:latin typeface="Cambria Math" panose="02040503050406030204" pitchFamily="18" charset="0"/>
                          </a:rPr>
                        </m:ctrlPr>
                      </m:fPr>
                      <m:num>
                        <m:r>
                          <a:rPr lang="es-CL" sz="2400" b="1" i="1" noProof="0" smtClean="0">
                            <a:latin typeface="Cambria Math" panose="02040503050406030204" pitchFamily="18" charset="0"/>
                          </a:rPr>
                          <m:t>𝑪𝑭</m:t>
                        </m:r>
                      </m:num>
                      <m:den>
                        <m:r>
                          <a:rPr lang="es-CL" sz="2400" b="1" i="1" noProof="0" smtClean="0">
                            <a:latin typeface="Cambria Math" panose="02040503050406030204" pitchFamily="18" charset="0"/>
                          </a:rPr>
                          <m:t>(</m:t>
                        </m:r>
                        <m:r>
                          <a:rPr lang="es-CL" sz="2400" b="1" i="1" noProof="0" smtClean="0">
                            <a:latin typeface="Cambria Math" panose="02040503050406030204" pitchFamily="18" charset="0"/>
                          </a:rPr>
                          <m:t>𝑷</m:t>
                        </m:r>
                        <m:r>
                          <a:rPr lang="es-CL" sz="2400" b="1" i="1" noProof="0" smtClean="0">
                            <a:latin typeface="Cambria Math" panose="02040503050406030204" pitchFamily="18" charset="0"/>
                          </a:rPr>
                          <m:t>−</m:t>
                        </m:r>
                        <m:r>
                          <a:rPr lang="es-CL" sz="2400" b="1" i="1" noProof="0" smtClean="0">
                            <a:latin typeface="Cambria Math" panose="02040503050406030204" pitchFamily="18" charset="0"/>
                          </a:rPr>
                          <m:t>𝑪𝑽</m:t>
                        </m:r>
                        <m:r>
                          <a:rPr lang="es-CL" sz="2400" b="1" i="1" noProof="0" smtClean="0">
                            <a:latin typeface="Cambria Math" panose="02040503050406030204" pitchFamily="18" charset="0"/>
                          </a:rPr>
                          <m:t>)</m:t>
                        </m:r>
                      </m:den>
                    </m:f>
                  </m:oMath>
                </a14:m>
                <a:r>
                  <a:rPr lang="es-CL" sz="2400" b="1" noProof="0" dirty="0"/>
                  <a:t>  ; Q es el punto de equilibrio </a:t>
                </a:r>
              </a:p>
            </p:txBody>
          </p:sp>
        </mc:Choice>
        <mc:Fallback xmlns="">
          <p:sp>
            <p:nvSpPr>
              <p:cNvPr id="3" name="Marcador de contenido 2">
                <a:extLst>
                  <a:ext uri="{FF2B5EF4-FFF2-40B4-BE49-F238E27FC236}">
                    <a16:creationId xmlns:a16="http://schemas.microsoft.com/office/drawing/2014/main" id="{901694AD-E486-4B6B-B357-65FFF7BC06EC}"/>
                  </a:ext>
                </a:extLst>
              </p:cNvPr>
              <p:cNvSpPr txBox="1">
                <a:spLocks noRot="1" noChangeAspect="1" noMove="1" noResize="1" noEditPoints="1" noAdjustHandles="1" noChangeArrowheads="1" noChangeShapeType="1" noTextEdit="1"/>
              </p:cNvSpPr>
              <p:nvPr/>
            </p:nvSpPr>
            <p:spPr>
              <a:xfrm>
                <a:off x="1187068" y="3126259"/>
                <a:ext cx="9872871" cy="3079910"/>
              </a:xfrm>
              <a:prstGeom prst="rect">
                <a:avLst/>
              </a:prstGeom>
              <a:blipFill>
                <a:blip r:embed="rId4"/>
                <a:stretch>
                  <a:fillRect l="-494" t="-990"/>
                </a:stretch>
              </a:blipFill>
            </p:spPr>
            <p:txBody>
              <a:bodyPr/>
              <a:lstStyle/>
              <a:p>
                <a:r>
                  <a:rPr lang="es-CL">
                    <a:noFill/>
                  </a:rPr>
                  <a:t> </a:t>
                </a:r>
              </a:p>
            </p:txBody>
          </p:sp>
        </mc:Fallback>
      </mc:AlternateContent>
    </p:spTree>
    <p:extLst>
      <p:ext uri="{BB962C8B-B14F-4D97-AF65-F5344CB8AC3E}">
        <p14:creationId xmlns:p14="http://schemas.microsoft.com/office/powerpoint/2010/main" val="36756871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CB18801-69E4-4808-B55B-0C2AF719E7EA}"/>
              </a:ext>
            </a:extLst>
          </p:cNvPr>
          <p:cNvSpPr/>
          <p:nvPr/>
        </p:nvSpPr>
        <p:spPr>
          <a:xfrm>
            <a:off x="1538798" y="1522169"/>
            <a:ext cx="5424617" cy="16063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mc:AlternateContent xmlns:mc="http://schemas.openxmlformats.org/markup-compatibility/2006" xmlns:a14="http://schemas.microsoft.com/office/drawing/2010/main">
        <mc:Choice Requires="a14">
          <p:sp>
            <p:nvSpPr>
              <p:cNvPr id="2" name="Marcador de contenido 2">
                <a:extLst>
                  <a:ext uri="{FF2B5EF4-FFF2-40B4-BE49-F238E27FC236}">
                    <a16:creationId xmlns:a16="http://schemas.microsoft.com/office/drawing/2014/main" id="{2A5A19A2-F820-4F34-B9C1-72DAF674F25E}"/>
                  </a:ext>
                </a:extLst>
              </p:cNvPr>
              <p:cNvSpPr txBox="1">
                <a:spLocks/>
              </p:cNvSpPr>
              <p:nvPr/>
            </p:nvSpPr>
            <p:spPr>
              <a:xfrm>
                <a:off x="1047286" y="395874"/>
                <a:ext cx="9872871" cy="38706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noProof="0" dirty="0">
                    <a:solidFill>
                      <a:schemeClr val="tx1"/>
                    </a:solidFill>
                  </a:rPr>
                  <a:t>Ahora, su queremos determinar en forma directa la venta en dinero que se requiere para estar en equilibrio:</a:t>
                </a:r>
              </a:p>
              <a:p>
                <a:endParaRPr lang="es-CL" noProof="0" dirty="0"/>
              </a:p>
              <a:p>
                <a:pPr marL="0" indent="0">
                  <a:buNone/>
                </a:pPr>
                <a:r>
                  <a:rPr lang="es-CL" noProof="0" dirty="0"/>
                  <a:t>     </a:t>
                </a:r>
                <a:r>
                  <a:rPr lang="es-CL" b="1" noProof="0" dirty="0">
                    <a:solidFill>
                      <a:schemeClr val="tx1"/>
                    </a:solidFill>
                  </a:rPr>
                  <a:t>Q = </a:t>
                </a:r>
                <a14:m>
                  <m:oMath xmlns:m="http://schemas.openxmlformats.org/officeDocument/2006/math">
                    <m:f>
                      <m:fPr>
                        <m:ctrlPr>
                          <a:rPr lang="es-CL" b="1" i="1" noProof="0" smtClean="0">
                            <a:solidFill>
                              <a:schemeClr val="tx1"/>
                            </a:solidFill>
                            <a:latin typeface="Cambria Math" panose="02040503050406030204" pitchFamily="18" charset="0"/>
                          </a:rPr>
                        </m:ctrlPr>
                      </m:fPr>
                      <m:num>
                        <m:r>
                          <a:rPr lang="es-CL" b="1" i="1" noProof="0" smtClean="0">
                            <a:solidFill>
                              <a:schemeClr val="tx1"/>
                            </a:solidFill>
                            <a:latin typeface="Cambria Math" panose="02040503050406030204" pitchFamily="18" charset="0"/>
                          </a:rPr>
                          <m:t>𝑪𝑭</m:t>
                        </m:r>
                      </m:num>
                      <m:den>
                        <m:r>
                          <a:rPr lang="es-CL" b="1" i="1" noProof="0" smtClean="0">
                            <a:solidFill>
                              <a:schemeClr val="tx1"/>
                            </a:solidFill>
                            <a:latin typeface="Cambria Math" panose="02040503050406030204" pitchFamily="18" charset="0"/>
                          </a:rPr>
                          <m:t>𝟏</m:t>
                        </m:r>
                        <m:r>
                          <a:rPr lang="es-CL" b="1" i="1" noProof="0" smtClean="0">
                            <a:solidFill>
                              <a:schemeClr val="tx1"/>
                            </a:solidFill>
                            <a:latin typeface="Cambria Math" panose="02040503050406030204" pitchFamily="18" charset="0"/>
                          </a:rPr>
                          <m:t>− (</m:t>
                        </m:r>
                        <m:r>
                          <a:rPr lang="es-CL" b="1" i="1" noProof="0" smtClean="0">
                            <a:solidFill>
                              <a:schemeClr val="tx1"/>
                            </a:solidFill>
                            <a:latin typeface="Cambria Math" panose="02040503050406030204" pitchFamily="18" charset="0"/>
                          </a:rPr>
                          <m:t>𝑪𝑽</m:t>
                        </m:r>
                        <m:r>
                          <a:rPr lang="es-CL" b="1" i="1" noProof="0" smtClean="0">
                            <a:solidFill>
                              <a:schemeClr val="tx1"/>
                            </a:solidFill>
                            <a:latin typeface="Cambria Math" panose="02040503050406030204" pitchFamily="18" charset="0"/>
                          </a:rPr>
                          <m:t>/</m:t>
                        </m:r>
                        <m:r>
                          <a:rPr lang="es-CL" b="1" i="1" noProof="0" smtClean="0">
                            <a:solidFill>
                              <a:schemeClr val="tx1"/>
                            </a:solidFill>
                            <a:latin typeface="Cambria Math" panose="02040503050406030204" pitchFamily="18" charset="0"/>
                          </a:rPr>
                          <m:t>𝑷</m:t>
                        </m:r>
                        <m:r>
                          <a:rPr lang="es-CL" b="1" i="1" noProof="0" smtClean="0">
                            <a:solidFill>
                              <a:schemeClr val="tx1"/>
                            </a:solidFill>
                            <a:latin typeface="Cambria Math" panose="02040503050406030204" pitchFamily="18" charset="0"/>
                          </a:rPr>
                          <m:t>)</m:t>
                        </m:r>
                      </m:den>
                    </m:f>
                  </m:oMath>
                </a14:m>
                <a:r>
                  <a:rPr lang="es-CL" b="1" noProof="0" dirty="0">
                    <a:solidFill>
                      <a:schemeClr val="tx1"/>
                    </a:solidFill>
                  </a:rPr>
                  <a:t>  </a:t>
                </a:r>
                <a:r>
                  <a:rPr lang="es-CL" b="1" noProof="0" dirty="0"/>
                  <a:t>= </a:t>
                </a:r>
                <a:r>
                  <a:rPr lang="es-CL" b="1" noProof="0" dirty="0">
                    <a:solidFill>
                      <a:schemeClr val="tx1"/>
                    </a:solidFill>
                  </a:rPr>
                  <a:t>Venta en Dinero</a:t>
                </a:r>
              </a:p>
            </p:txBody>
          </p:sp>
        </mc:Choice>
        <mc:Fallback xmlns="">
          <p:sp>
            <p:nvSpPr>
              <p:cNvPr id="2" name="Marcador de contenido 2">
                <a:extLst>
                  <a:ext uri="{FF2B5EF4-FFF2-40B4-BE49-F238E27FC236}">
                    <a16:creationId xmlns:a16="http://schemas.microsoft.com/office/drawing/2014/main" id="{2A5A19A2-F820-4F34-B9C1-72DAF674F25E}"/>
                  </a:ext>
                </a:extLst>
              </p:cNvPr>
              <p:cNvSpPr txBox="1">
                <a:spLocks noRot="1" noChangeAspect="1" noMove="1" noResize="1" noEditPoints="1" noAdjustHandles="1" noChangeArrowheads="1" noChangeShapeType="1" noTextEdit="1"/>
              </p:cNvSpPr>
              <p:nvPr/>
            </p:nvSpPr>
            <p:spPr>
              <a:xfrm>
                <a:off x="1047286" y="395874"/>
                <a:ext cx="9872871" cy="3870653"/>
              </a:xfrm>
              <a:prstGeom prst="rect">
                <a:avLst/>
              </a:prstGeom>
              <a:blipFill>
                <a:blip r:embed="rId2"/>
                <a:stretch>
                  <a:fillRect l="-1112" t="-2835" r="-1915"/>
                </a:stretch>
              </a:blipFill>
            </p:spPr>
            <p:txBody>
              <a:bodyPr/>
              <a:lstStyle/>
              <a:p>
                <a:r>
                  <a:rPr lang="es-CL">
                    <a:noFill/>
                  </a:rPr>
                  <a:t> </a:t>
                </a:r>
              </a:p>
            </p:txBody>
          </p:sp>
        </mc:Fallback>
      </mc:AlternateContent>
    </p:spTree>
    <p:extLst>
      <p:ext uri="{BB962C8B-B14F-4D97-AF65-F5344CB8AC3E}">
        <p14:creationId xmlns:p14="http://schemas.microsoft.com/office/powerpoint/2010/main" val="4593191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3000" y="609600"/>
            <a:ext cx="9875520" cy="558188"/>
          </a:xfrm>
        </p:spPr>
        <p:txBody>
          <a:bodyPr>
            <a:normAutofit fontScale="90000"/>
          </a:bodyPr>
          <a:lstStyle/>
          <a:p>
            <a:r>
              <a:rPr lang="es-CL" noProof="0" dirty="0"/>
              <a:t>Ejercicio 1 en clases</a:t>
            </a:r>
          </a:p>
        </p:txBody>
      </p:sp>
      <p:sp>
        <p:nvSpPr>
          <p:cNvPr id="3" name="Marcador de contenido 2"/>
          <p:cNvSpPr>
            <a:spLocks noGrp="1"/>
          </p:cNvSpPr>
          <p:nvPr>
            <p:ph idx="1"/>
          </p:nvPr>
        </p:nvSpPr>
        <p:spPr>
          <a:xfrm>
            <a:off x="471488" y="1787525"/>
            <a:ext cx="11249024" cy="4351338"/>
          </a:xfrm>
        </p:spPr>
        <p:txBody>
          <a:bodyPr/>
          <a:lstStyle/>
          <a:p>
            <a:r>
              <a:rPr lang="es-CL" noProof="0" dirty="0"/>
              <a:t>Suponga que la fábrica de juguetes de plásticos Plastic Ltda., tiene costos fijos por $1.500.000, su precio promedio de venta es de $1.500, su costo de venta o variables promedio es $950, ¿Cuál es el nivel de ventas de equilibrio en unidades y dinero?</a:t>
            </a:r>
          </a:p>
        </p:txBody>
      </p: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C7B56CAA-2046-D56B-3FC0-A1F54781A45D}"/>
                  </a:ext>
                </a:extLst>
              </p:cNvPr>
              <p:cNvSpPr txBox="1"/>
              <p:nvPr/>
            </p:nvSpPr>
            <p:spPr>
              <a:xfrm>
                <a:off x="566736" y="3429000"/>
                <a:ext cx="11153776" cy="67916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s-CL" sz="2400" b="1" noProof="0" dirty="0"/>
                  <a:t>Q = </a:t>
                </a:r>
                <a14:m>
                  <m:oMath xmlns:m="http://schemas.openxmlformats.org/officeDocument/2006/math">
                    <m:f>
                      <m:fPr>
                        <m:ctrlPr>
                          <a:rPr lang="es-CL" sz="2400" b="1" i="1" noProof="0" smtClean="0">
                            <a:latin typeface="Cambria Math" panose="02040503050406030204" pitchFamily="18" charset="0"/>
                          </a:rPr>
                        </m:ctrlPr>
                      </m:fPr>
                      <m:num>
                        <m:r>
                          <a:rPr lang="es-CL" sz="2400" b="1" i="1" noProof="0" smtClean="0">
                            <a:latin typeface="Cambria Math" panose="02040503050406030204" pitchFamily="18" charset="0"/>
                          </a:rPr>
                          <m:t>𝑪𝑭</m:t>
                        </m:r>
                      </m:num>
                      <m:den>
                        <m:r>
                          <a:rPr lang="es-CL" sz="2400" b="1" i="1" noProof="0" smtClean="0">
                            <a:latin typeface="Cambria Math" panose="02040503050406030204" pitchFamily="18" charset="0"/>
                          </a:rPr>
                          <m:t>(</m:t>
                        </m:r>
                        <m:r>
                          <a:rPr lang="es-CL" sz="2400" b="1" i="1" noProof="0" smtClean="0">
                            <a:latin typeface="Cambria Math" panose="02040503050406030204" pitchFamily="18" charset="0"/>
                          </a:rPr>
                          <m:t>𝑷</m:t>
                        </m:r>
                        <m:r>
                          <a:rPr lang="es-CL" sz="2400" b="1" i="1" noProof="0" smtClean="0">
                            <a:latin typeface="Cambria Math" panose="02040503050406030204" pitchFamily="18" charset="0"/>
                          </a:rPr>
                          <m:t>−</m:t>
                        </m:r>
                        <m:r>
                          <a:rPr lang="es-CL" sz="2400" b="1" i="1" noProof="0" smtClean="0">
                            <a:latin typeface="Cambria Math" panose="02040503050406030204" pitchFamily="18" charset="0"/>
                          </a:rPr>
                          <m:t>𝑪𝑽</m:t>
                        </m:r>
                        <m:r>
                          <a:rPr lang="es-CL" sz="2400" b="1" i="1" noProof="0" smtClean="0">
                            <a:latin typeface="Cambria Math" panose="02040503050406030204" pitchFamily="18" charset="0"/>
                          </a:rPr>
                          <m:t>)</m:t>
                        </m:r>
                      </m:den>
                    </m:f>
                  </m:oMath>
                </a14:m>
                <a:r>
                  <a:rPr lang="es-CL" sz="2400" b="1" noProof="0" dirty="0"/>
                  <a:t>  = </a:t>
                </a:r>
                <a14:m>
                  <m:oMath xmlns:m="http://schemas.openxmlformats.org/officeDocument/2006/math">
                    <m:f>
                      <m:fPr>
                        <m:ctrlPr>
                          <a:rPr lang="es-CL" sz="2400" b="1" i="1" smtClean="0">
                            <a:latin typeface="Cambria Math" panose="02040503050406030204" pitchFamily="18" charset="0"/>
                          </a:rPr>
                        </m:ctrlPr>
                      </m:fPr>
                      <m:num>
                        <m:r>
                          <a:rPr lang="es-CL" sz="2400" b="1" i="1" smtClean="0">
                            <a:latin typeface="Cambria Math" panose="02040503050406030204" pitchFamily="18" charset="0"/>
                          </a:rPr>
                          <m:t>𝟏</m:t>
                        </m:r>
                        <m:r>
                          <a:rPr lang="es-CL" sz="2400" b="1" i="1" smtClean="0">
                            <a:latin typeface="Cambria Math" panose="02040503050406030204" pitchFamily="18" charset="0"/>
                          </a:rPr>
                          <m:t>.</m:t>
                        </m:r>
                        <m:r>
                          <a:rPr lang="es-CL" sz="2400" b="1" i="1" smtClean="0">
                            <a:latin typeface="Cambria Math" panose="02040503050406030204" pitchFamily="18" charset="0"/>
                          </a:rPr>
                          <m:t>𝟓𝟎𝟎</m:t>
                        </m:r>
                        <m:r>
                          <a:rPr lang="es-CL" sz="2400" b="1" i="1" smtClean="0">
                            <a:latin typeface="Cambria Math" panose="02040503050406030204" pitchFamily="18" charset="0"/>
                          </a:rPr>
                          <m:t>.</m:t>
                        </m:r>
                        <m:r>
                          <a:rPr lang="es-CL" sz="2400" b="1" i="1" smtClean="0">
                            <a:latin typeface="Cambria Math" panose="02040503050406030204" pitchFamily="18" charset="0"/>
                          </a:rPr>
                          <m:t>𝟎𝟎𝟎</m:t>
                        </m:r>
                      </m:num>
                      <m:den>
                        <m:r>
                          <a:rPr lang="es-CL" sz="2400" b="1" i="1">
                            <a:latin typeface="Cambria Math" panose="02040503050406030204" pitchFamily="18" charset="0"/>
                          </a:rPr>
                          <m:t>(</m:t>
                        </m:r>
                        <m:r>
                          <a:rPr lang="es-CL" sz="2400" b="1" i="1" smtClean="0">
                            <a:latin typeface="Cambria Math" panose="02040503050406030204" pitchFamily="18" charset="0"/>
                          </a:rPr>
                          <m:t>𝟏</m:t>
                        </m:r>
                        <m:r>
                          <a:rPr lang="es-CL" sz="2400" b="1" i="1" smtClean="0">
                            <a:latin typeface="Cambria Math" panose="02040503050406030204" pitchFamily="18" charset="0"/>
                          </a:rPr>
                          <m:t>.</m:t>
                        </m:r>
                        <m:r>
                          <a:rPr lang="es-CL" sz="2400" b="1" i="1" smtClean="0">
                            <a:latin typeface="Cambria Math" panose="02040503050406030204" pitchFamily="18" charset="0"/>
                          </a:rPr>
                          <m:t>𝟓𝟎𝟎</m:t>
                        </m:r>
                        <m:r>
                          <a:rPr lang="es-CL" sz="2400" b="1" i="1">
                            <a:latin typeface="Cambria Math" panose="02040503050406030204" pitchFamily="18" charset="0"/>
                          </a:rPr>
                          <m:t>−</m:t>
                        </m:r>
                        <m:r>
                          <a:rPr lang="es-CL" sz="2400" b="1" i="1" smtClean="0">
                            <a:latin typeface="Cambria Math" panose="02040503050406030204" pitchFamily="18" charset="0"/>
                          </a:rPr>
                          <m:t>𝟗𝟓𝟎</m:t>
                        </m:r>
                        <m:r>
                          <a:rPr lang="es-CL" sz="2400" b="1" i="1">
                            <a:latin typeface="Cambria Math" panose="02040503050406030204" pitchFamily="18" charset="0"/>
                          </a:rPr>
                          <m:t>)</m:t>
                        </m:r>
                      </m:den>
                    </m:f>
                  </m:oMath>
                </a14:m>
                <a:r>
                  <a:rPr lang="es-CL" sz="2400" b="1" dirty="0"/>
                  <a:t> = = </a:t>
                </a:r>
                <a14:m>
                  <m:oMath xmlns:m="http://schemas.openxmlformats.org/officeDocument/2006/math">
                    <m:f>
                      <m:fPr>
                        <m:ctrlPr>
                          <a:rPr lang="es-CL" sz="2400" b="1">
                            <a:latin typeface="Cambria Math" panose="02040503050406030204" pitchFamily="18" charset="0"/>
                          </a:rPr>
                        </m:ctrlPr>
                      </m:fPr>
                      <m:num>
                        <m:r>
                          <a:rPr lang="es-CL" sz="2400" b="1">
                            <a:latin typeface="Cambria Math" panose="02040503050406030204" pitchFamily="18" charset="0"/>
                          </a:rPr>
                          <m:t>𝟏</m:t>
                        </m:r>
                        <m:r>
                          <a:rPr lang="es-CL" sz="2400" b="1">
                            <a:latin typeface="Cambria Math" panose="02040503050406030204" pitchFamily="18" charset="0"/>
                          </a:rPr>
                          <m:t>.</m:t>
                        </m:r>
                        <m:r>
                          <a:rPr lang="es-CL" sz="2400" b="1">
                            <a:latin typeface="Cambria Math" panose="02040503050406030204" pitchFamily="18" charset="0"/>
                          </a:rPr>
                          <m:t>𝟓𝟎𝟎</m:t>
                        </m:r>
                        <m:r>
                          <a:rPr lang="es-CL" sz="2400" b="1">
                            <a:latin typeface="Cambria Math" panose="02040503050406030204" pitchFamily="18" charset="0"/>
                          </a:rPr>
                          <m:t>.</m:t>
                        </m:r>
                        <m:r>
                          <a:rPr lang="es-CL" sz="2400" b="1">
                            <a:latin typeface="Cambria Math" panose="02040503050406030204" pitchFamily="18" charset="0"/>
                          </a:rPr>
                          <m:t>𝟎𝟎𝟎</m:t>
                        </m:r>
                      </m:num>
                      <m:den>
                        <m:r>
                          <a:rPr lang="es-CL" sz="2400" b="1">
                            <a:latin typeface="Cambria Math" panose="02040503050406030204" pitchFamily="18" charset="0"/>
                          </a:rPr>
                          <m:t>(</m:t>
                        </m:r>
                        <m:r>
                          <a:rPr lang="es-CL" sz="2400" b="1">
                            <a:latin typeface="Cambria Math" panose="02040503050406030204" pitchFamily="18" charset="0"/>
                          </a:rPr>
                          <m:t>𝟓𝟓𝟎</m:t>
                        </m:r>
                        <m:r>
                          <a:rPr lang="es-CL" sz="2400" b="1">
                            <a:latin typeface="Cambria Math" panose="02040503050406030204" pitchFamily="18" charset="0"/>
                          </a:rPr>
                          <m:t>)</m:t>
                        </m:r>
                      </m:den>
                    </m:f>
                    <m:r>
                      <a:rPr lang="es-CL" sz="2400" b="1">
                        <a:latin typeface="Cambria Math" panose="02040503050406030204" pitchFamily="18" charset="0"/>
                      </a:rPr>
                      <m:t>=</m:t>
                    </m:r>
                    <m:r>
                      <a:rPr lang="es-CL" sz="2400" b="1">
                        <a:latin typeface="Cambria Math" panose="02040503050406030204" pitchFamily="18" charset="0"/>
                      </a:rPr>
                      <m:t>𝟐</m:t>
                    </m:r>
                    <m:r>
                      <a:rPr lang="es-CL" sz="2400" b="1">
                        <a:latin typeface="Cambria Math" panose="02040503050406030204" pitchFamily="18" charset="0"/>
                      </a:rPr>
                      <m:t>.</m:t>
                    </m:r>
                    <m:r>
                      <a:rPr lang="es-CL" sz="2400" b="1">
                        <a:latin typeface="Cambria Math" panose="02040503050406030204" pitchFamily="18" charset="0"/>
                      </a:rPr>
                      <m:t>𝟕𝟐𝟕</m:t>
                    </m:r>
                    <m:r>
                      <a:rPr lang="es-CL" sz="2400" b="1">
                        <a:latin typeface="Cambria Math" panose="02040503050406030204" pitchFamily="18" charset="0"/>
                      </a:rPr>
                      <m:t>⇒</m:t>
                    </m:r>
                    <m:r>
                      <m:rPr>
                        <m:nor/>
                      </m:rPr>
                      <a:rPr lang="es-CL" sz="2400" b="1">
                        <a:latin typeface="Cambria Math" panose="02040503050406030204" pitchFamily="18" charset="0"/>
                      </a:rPr>
                      <m:t>Unidades de ventas de </m:t>
                    </m:r>
                    <m:r>
                      <m:rPr>
                        <m:nor/>
                      </m:rPr>
                      <a:rPr lang="es-CL" sz="2400" b="1" dirty="0">
                        <a:latin typeface="Cambria Math" panose="02040503050406030204" pitchFamily="18" charset="0"/>
                      </a:rPr>
                      <m:t>equilibrio</m:t>
                    </m:r>
                    <m:r>
                      <m:rPr>
                        <m:nor/>
                      </m:rPr>
                      <a:rPr lang="es-CL" sz="2400" b="1" i="0" dirty="0" smtClean="0">
                        <a:latin typeface="Cambria Math" panose="02040503050406030204" pitchFamily="18" charset="0"/>
                      </a:rPr>
                      <m:t>.</m:t>
                    </m:r>
                  </m:oMath>
                </a14:m>
                <a:endParaRPr lang="es-CL" sz="2400" b="1" dirty="0">
                  <a:latin typeface="Cambria Math" panose="02040503050406030204" pitchFamily="18" charset="0"/>
                </a:endParaRPr>
              </a:p>
            </p:txBody>
          </p:sp>
        </mc:Choice>
        <mc:Fallback>
          <p:sp>
            <p:nvSpPr>
              <p:cNvPr id="7" name="CuadroTexto 6">
                <a:extLst>
                  <a:ext uri="{FF2B5EF4-FFF2-40B4-BE49-F238E27FC236}">
                    <a16:creationId xmlns:a16="http://schemas.microsoft.com/office/drawing/2014/main" id="{C7B56CAA-2046-D56B-3FC0-A1F54781A45D}"/>
                  </a:ext>
                </a:extLst>
              </p:cNvPr>
              <p:cNvSpPr txBox="1">
                <a:spLocks noRot="1" noChangeAspect="1" noMove="1" noResize="1" noEditPoints="1" noAdjustHandles="1" noChangeArrowheads="1" noChangeShapeType="1" noTextEdit="1"/>
              </p:cNvSpPr>
              <p:nvPr/>
            </p:nvSpPr>
            <p:spPr>
              <a:xfrm>
                <a:off x="566736" y="3429000"/>
                <a:ext cx="11153776" cy="679160"/>
              </a:xfrm>
              <a:prstGeom prst="rect">
                <a:avLst/>
              </a:prstGeom>
              <a:blipFill>
                <a:blip r:embed="rId2"/>
                <a:stretch>
                  <a:fillRect l="-819"/>
                </a:stretch>
              </a:blipFill>
            </p:spPr>
            <p:txBody>
              <a:bodyPr/>
              <a:lstStyle/>
              <a:p>
                <a:r>
                  <a:rPr lang="es-CL">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926FE5B7-BD82-D8B6-861C-50901F0B0842}"/>
                  </a:ext>
                </a:extLst>
              </p:cNvPr>
              <p:cNvSpPr txBox="1"/>
              <p:nvPr/>
            </p:nvSpPr>
            <p:spPr>
              <a:xfrm>
                <a:off x="566736" y="5065283"/>
                <a:ext cx="10658475" cy="79169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s-CL" sz="1800" b="1" noProof="0" dirty="0">
                    <a:solidFill>
                      <a:schemeClr val="tx1"/>
                    </a:solidFill>
                  </a:rPr>
                  <a:t>Q = </a:t>
                </a:r>
                <a14:m>
                  <m:oMath xmlns:m="http://schemas.openxmlformats.org/officeDocument/2006/math">
                    <m:f>
                      <m:fPr>
                        <m:ctrlPr>
                          <a:rPr lang="es-CL" sz="2400" b="1" i="1">
                            <a:latin typeface="Cambria Math" panose="02040503050406030204" pitchFamily="18" charset="0"/>
                          </a:rPr>
                        </m:ctrlPr>
                      </m:fPr>
                      <m:num>
                        <m:r>
                          <a:rPr lang="es-CL" sz="2400" b="1" i="1">
                            <a:latin typeface="Cambria Math" panose="02040503050406030204" pitchFamily="18" charset="0"/>
                          </a:rPr>
                          <m:t>𝟏</m:t>
                        </m:r>
                        <m:r>
                          <a:rPr lang="es-CL" sz="2400" b="1" i="1">
                            <a:latin typeface="Cambria Math" panose="02040503050406030204" pitchFamily="18" charset="0"/>
                          </a:rPr>
                          <m:t>.</m:t>
                        </m:r>
                        <m:r>
                          <a:rPr lang="es-CL" sz="2400" b="1" i="1">
                            <a:latin typeface="Cambria Math" panose="02040503050406030204" pitchFamily="18" charset="0"/>
                          </a:rPr>
                          <m:t>𝟓𝟎𝟎</m:t>
                        </m:r>
                        <m:r>
                          <a:rPr lang="es-CL" sz="2400" b="1" i="1" smtClean="0">
                            <a:latin typeface="Cambria Math" panose="02040503050406030204" pitchFamily="18" charset="0"/>
                          </a:rPr>
                          <m:t>.</m:t>
                        </m:r>
                        <m:r>
                          <a:rPr lang="es-CL" sz="2400" b="1" i="1">
                            <a:latin typeface="Cambria Math" panose="02040503050406030204" pitchFamily="18" charset="0"/>
                          </a:rPr>
                          <m:t>𝟎𝟎𝟎</m:t>
                        </m:r>
                      </m:num>
                      <m:den>
                        <m:r>
                          <a:rPr lang="es-CL" sz="2400" b="1" i="1">
                            <a:latin typeface="Cambria Math" panose="02040503050406030204" pitchFamily="18" charset="0"/>
                          </a:rPr>
                          <m:t>𝟏</m:t>
                        </m:r>
                        <m:r>
                          <a:rPr lang="es-CL" sz="2400" b="1" i="1">
                            <a:latin typeface="Cambria Math" panose="02040503050406030204" pitchFamily="18" charset="0"/>
                          </a:rPr>
                          <m:t>− (</m:t>
                        </m:r>
                        <m:f>
                          <m:fPr>
                            <m:ctrlPr>
                              <a:rPr lang="es-CL" sz="2400" b="1" i="1" smtClean="0">
                                <a:latin typeface="Cambria Math" panose="02040503050406030204" pitchFamily="18" charset="0"/>
                              </a:rPr>
                            </m:ctrlPr>
                          </m:fPr>
                          <m:num>
                            <m:r>
                              <a:rPr lang="es-CL" sz="2400" b="1" i="1" smtClean="0">
                                <a:latin typeface="Cambria Math" panose="02040503050406030204" pitchFamily="18" charset="0"/>
                              </a:rPr>
                              <m:t>𝟗𝟓𝟎</m:t>
                            </m:r>
                          </m:num>
                          <m:den>
                            <m:r>
                              <a:rPr lang="es-CL" sz="2400" b="1" i="1" smtClean="0">
                                <a:latin typeface="Cambria Math" panose="02040503050406030204" pitchFamily="18" charset="0"/>
                              </a:rPr>
                              <m:t>𝟏</m:t>
                            </m:r>
                            <m:r>
                              <a:rPr lang="es-CL" sz="2400" b="1" i="1" smtClean="0">
                                <a:latin typeface="Cambria Math" panose="02040503050406030204" pitchFamily="18" charset="0"/>
                              </a:rPr>
                              <m:t>.</m:t>
                            </m:r>
                            <m:r>
                              <a:rPr lang="es-CL" sz="2400" b="1" i="1" smtClean="0">
                                <a:latin typeface="Cambria Math" panose="02040503050406030204" pitchFamily="18" charset="0"/>
                              </a:rPr>
                              <m:t>𝟓𝟎𝟎</m:t>
                            </m:r>
                          </m:den>
                        </m:f>
                        <m:r>
                          <a:rPr lang="es-CL" sz="2400" b="1" i="1">
                            <a:latin typeface="Cambria Math" panose="02040503050406030204" pitchFamily="18" charset="0"/>
                          </a:rPr>
                          <m:t>)</m:t>
                        </m:r>
                      </m:den>
                    </m:f>
                  </m:oMath>
                </a14:m>
                <a:r>
                  <a:rPr lang="es-CL" sz="2400" b="1" i="1" dirty="0">
                    <a:latin typeface="Cambria Math" panose="02040503050406030204" pitchFamily="18" charset="0"/>
                  </a:rPr>
                  <a:t>  = </a:t>
                </a:r>
                <a14:m>
                  <m:oMath xmlns:m="http://schemas.openxmlformats.org/officeDocument/2006/math">
                    <m:f>
                      <m:fPr>
                        <m:ctrlPr>
                          <a:rPr lang="es-CL" sz="2400" b="1" i="1">
                            <a:latin typeface="Cambria Math" panose="02040503050406030204" pitchFamily="18" charset="0"/>
                          </a:rPr>
                        </m:ctrlPr>
                      </m:fPr>
                      <m:num>
                        <m:r>
                          <a:rPr lang="es-CL" sz="2400" b="1" i="1">
                            <a:latin typeface="Cambria Math" panose="02040503050406030204" pitchFamily="18" charset="0"/>
                          </a:rPr>
                          <m:t>𝟏</m:t>
                        </m:r>
                        <m:r>
                          <a:rPr lang="es-CL" sz="2400" b="1" i="1">
                            <a:latin typeface="Cambria Math" panose="02040503050406030204" pitchFamily="18" charset="0"/>
                          </a:rPr>
                          <m:t>.</m:t>
                        </m:r>
                        <m:r>
                          <a:rPr lang="es-CL" sz="2400" b="1" i="1">
                            <a:latin typeface="Cambria Math" panose="02040503050406030204" pitchFamily="18" charset="0"/>
                          </a:rPr>
                          <m:t>𝟓𝟎𝟎</m:t>
                        </m:r>
                        <m:r>
                          <a:rPr lang="es-CL" sz="2400" b="1" i="1">
                            <a:latin typeface="Cambria Math" panose="02040503050406030204" pitchFamily="18" charset="0"/>
                          </a:rPr>
                          <m:t>.</m:t>
                        </m:r>
                        <m:r>
                          <a:rPr lang="es-CL" sz="2400" b="1" i="1">
                            <a:latin typeface="Cambria Math" panose="02040503050406030204" pitchFamily="18" charset="0"/>
                          </a:rPr>
                          <m:t>𝟎𝟎𝟎</m:t>
                        </m:r>
                      </m:num>
                      <m:den>
                        <m:r>
                          <a:rPr lang="es-CL" sz="2400" b="1" i="1">
                            <a:latin typeface="Cambria Math" panose="02040503050406030204" pitchFamily="18" charset="0"/>
                          </a:rPr>
                          <m:t>𝟏</m:t>
                        </m:r>
                        <m:r>
                          <a:rPr lang="es-CL" sz="2400" b="1" i="1">
                            <a:latin typeface="Cambria Math" panose="02040503050406030204" pitchFamily="18" charset="0"/>
                          </a:rPr>
                          <m:t>− (</m:t>
                        </m:r>
                        <m:r>
                          <a:rPr lang="es-CL" sz="2400" b="1" i="1" smtClean="0">
                            <a:latin typeface="Cambria Math" panose="02040503050406030204" pitchFamily="18" charset="0"/>
                          </a:rPr>
                          <m:t>𝟎</m:t>
                        </m:r>
                        <m:r>
                          <a:rPr lang="es-CL" sz="2400" b="1" i="1" smtClean="0">
                            <a:latin typeface="Cambria Math" panose="02040503050406030204" pitchFamily="18" charset="0"/>
                          </a:rPr>
                          <m:t>,</m:t>
                        </m:r>
                        <m:r>
                          <a:rPr lang="es-CL" sz="2400" b="1" i="1" smtClean="0">
                            <a:latin typeface="Cambria Math" panose="02040503050406030204" pitchFamily="18" charset="0"/>
                          </a:rPr>
                          <m:t>𝟔𝟑𝟑𝟑</m:t>
                        </m:r>
                        <m:r>
                          <a:rPr lang="es-CL" sz="2400" b="1" i="1">
                            <a:latin typeface="Cambria Math" panose="02040503050406030204" pitchFamily="18" charset="0"/>
                          </a:rPr>
                          <m:t>)</m:t>
                        </m:r>
                      </m:den>
                    </m:f>
                  </m:oMath>
                </a14:m>
                <a:r>
                  <a:rPr lang="es-CL" sz="2400" b="1" i="1" dirty="0">
                    <a:latin typeface="Cambria Math" panose="02040503050406030204" pitchFamily="18" charset="0"/>
                  </a:rPr>
                  <a:t> = </a:t>
                </a:r>
                <a14:m>
                  <m:oMath xmlns:m="http://schemas.openxmlformats.org/officeDocument/2006/math">
                    <m:f>
                      <m:fPr>
                        <m:ctrlPr>
                          <a:rPr lang="es-CL" sz="2400" b="1" i="1">
                            <a:latin typeface="Cambria Math" panose="02040503050406030204" pitchFamily="18" charset="0"/>
                          </a:rPr>
                        </m:ctrlPr>
                      </m:fPr>
                      <m:num>
                        <m:r>
                          <a:rPr lang="es-CL" sz="2400" b="1" i="1">
                            <a:latin typeface="Cambria Math" panose="02040503050406030204" pitchFamily="18" charset="0"/>
                          </a:rPr>
                          <m:t>𝟏</m:t>
                        </m:r>
                        <m:r>
                          <a:rPr lang="es-CL" sz="2400" b="1" i="1">
                            <a:latin typeface="Cambria Math" panose="02040503050406030204" pitchFamily="18" charset="0"/>
                          </a:rPr>
                          <m:t>.</m:t>
                        </m:r>
                        <m:r>
                          <a:rPr lang="es-CL" sz="2400" b="1" i="1">
                            <a:latin typeface="Cambria Math" panose="02040503050406030204" pitchFamily="18" charset="0"/>
                          </a:rPr>
                          <m:t>𝟓𝟎𝟎</m:t>
                        </m:r>
                        <m:r>
                          <a:rPr lang="es-CL" sz="2400" b="1" i="1">
                            <a:latin typeface="Cambria Math" panose="02040503050406030204" pitchFamily="18" charset="0"/>
                          </a:rPr>
                          <m:t>.</m:t>
                        </m:r>
                        <m:r>
                          <a:rPr lang="es-CL" sz="2400" b="1" i="1">
                            <a:latin typeface="Cambria Math" panose="02040503050406030204" pitchFamily="18" charset="0"/>
                          </a:rPr>
                          <m:t>𝟎𝟎𝟎</m:t>
                        </m:r>
                      </m:num>
                      <m:den>
                        <m:d>
                          <m:dPr>
                            <m:ctrlPr>
                              <a:rPr lang="es-CL" sz="2400" b="1" i="1" smtClean="0">
                                <a:latin typeface="Cambria Math" panose="02040503050406030204" pitchFamily="18" charset="0"/>
                              </a:rPr>
                            </m:ctrlPr>
                          </m:dPr>
                          <m:e>
                            <m:r>
                              <a:rPr lang="es-CL" sz="2400" b="1" i="1" smtClean="0">
                                <a:latin typeface="Cambria Math" panose="02040503050406030204" pitchFamily="18" charset="0"/>
                              </a:rPr>
                              <m:t>𝟎</m:t>
                            </m:r>
                            <m:r>
                              <a:rPr lang="es-CL" sz="2400" b="1" i="1" smtClean="0">
                                <a:latin typeface="Cambria Math" panose="02040503050406030204" pitchFamily="18" charset="0"/>
                              </a:rPr>
                              <m:t>,</m:t>
                            </m:r>
                            <m:r>
                              <a:rPr lang="es-CL" sz="2400" b="1" i="1">
                                <a:latin typeface="Cambria Math" panose="02040503050406030204" pitchFamily="18" charset="0"/>
                              </a:rPr>
                              <m:t>𝟑</m:t>
                            </m:r>
                            <m:r>
                              <a:rPr lang="es-CL" sz="2400" b="1" i="1" smtClean="0">
                                <a:latin typeface="Cambria Math" panose="02040503050406030204" pitchFamily="18" charset="0"/>
                              </a:rPr>
                              <m:t>𝟔𝟔𝟔𝟕</m:t>
                            </m:r>
                          </m:e>
                        </m:d>
                      </m:den>
                    </m:f>
                    <m:r>
                      <a:rPr lang="es-CL" sz="2400" b="1" i="1" smtClean="0">
                        <a:latin typeface="Cambria Math" panose="02040503050406030204" pitchFamily="18" charset="0"/>
                      </a:rPr>
                      <m:t>=</m:t>
                    </m:r>
                    <m:r>
                      <a:rPr lang="es-CL" sz="2400" b="1" i="1" smtClean="0">
                        <a:latin typeface="Cambria Math" panose="02040503050406030204" pitchFamily="18" charset="0"/>
                      </a:rPr>
                      <m:t>𝟒</m:t>
                    </m:r>
                    <m:r>
                      <a:rPr lang="es-CL" sz="2400" b="1" i="1" smtClean="0">
                        <a:latin typeface="Cambria Math" panose="02040503050406030204" pitchFamily="18" charset="0"/>
                      </a:rPr>
                      <m:t>.</m:t>
                    </m:r>
                    <m:r>
                      <a:rPr lang="es-CL" sz="2400" b="1" i="1" smtClean="0">
                        <a:latin typeface="Cambria Math" panose="02040503050406030204" pitchFamily="18" charset="0"/>
                      </a:rPr>
                      <m:t>𝟎𝟗𝟎</m:t>
                    </m:r>
                    <m:r>
                      <a:rPr lang="es-CL" sz="2400" b="1" i="1" smtClean="0">
                        <a:latin typeface="Cambria Math" panose="02040503050406030204" pitchFamily="18" charset="0"/>
                      </a:rPr>
                      <m:t>.</m:t>
                    </m:r>
                    <m:r>
                      <a:rPr lang="es-CL" sz="2400" b="1" i="1" smtClean="0">
                        <a:latin typeface="Cambria Math" panose="02040503050406030204" pitchFamily="18" charset="0"/>
                      </a:rPr>
                      <m:t>𝟗𝟎𝟗</m:t>
                    </m:r>
                    <m:r>
                      <a:rPr lang="es-CL" sz="2400" b="1" i="1" smtClean="0">
                        <a:latin typeface="Cambria Math" panose="02040503050406030204" pitchFamily="18" charset="0"/>
                      </a:rPr>
                      <m:t>⇒</m:t>
                    </m:r>
                  </m:oMath>
                </a14:m>
                <a:r>
                  <a:rPr lang="es-CL" sz="2000" b="1" dirty="0">
                    <a:solidFill>
                      <a:schemeClr val="tx1"/>
                    </a:solidFill>
                  </a:rPr>
                  <a:t>Venta en Dinero de equilibrio.</a:t>
                </a:r>
                <a:endParaRPr lang="es-CL" sz="2400" b="1" i="1" dirty="0">
                  <a:latin typeface="Cambria Math" panose="02040503050406030204" pitchFamily="18" charset="0"/>
                </a:endParaRPr>
              </a:p>
            </p:txBody>
          </p:sp>
        </mc:Choice>
        <mc:Fallback>
          <p:sp>
            <p:nvSpPr>
              <p:cNvPr id="9" name="CuadroTexto 8">
                <a:extLst>
                  <a:ext uri="{FF2B5EF4-FFF2-40B4-BE49-F238E27FC236}">
                    <a16:creationId xmlns:a16="http://schemas.microsoft.com/office/drawing/2014/main" id="{926FE5B7-BD82-D8B6-861C-50901F0B0842}"/>
                  </a:ext>
                </a:extLst>
              </p:cNvPr>
              <p:cNvSpPr txBox="1">
                <a:spLocks noRot="1" noChangeAspect="1" noMove="1" noResize="1" noEditPoints="1" noAdjustHandles="1" noChangeArrowheads="1" noChangeShapeType="1" noTextEdit="1"/>
              </p:cNvSpPr>
              <p:nvPr/>
            </p:nvSpPr>
            <p:spPr>
              <a:xfrm>
                <a:off x="566736" y="5065283"/>
                <a:ext cx="10658475" cy="791692"/>
              </a:xfrm>
              <a:prstGeom prst="rect">
                <a:avLst/>
              </a:prstGeom>
              <a:blipFill>
                <a:blip r:embed="rId3"/>
                <a:stretch>
                  <a:fillRect l="-457"/>
                </a:stretch>
              </a:blipFill>
            </p:spPr>
            <p:txBody>
              <a:bodyPr/>
              <a:lstStyle/>
              <a:p>
                <a:r>
                  <a:rPr lang="es-CL">
                    <a:noFill/>
                  </a:rPr>
                  <a:t> </a:t>
                </a:r>
              </a:p>
            </p:txBody>
          </p:sp>
        </mc:Fallback>
      </mc:AlternateContent>
    </p:spTree>
    <p:extLst>
      <p:ext uri="{BB962C8B-B14F-4D97-AF65-F5344CB8AC3E}">
        <p14:creationId xmlns:p14="http://schemas.microsoft.com/office/powerpoint/2010/main" val="3960739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stretch>
            <a:fillRect/>
          </a:stretch>
        </p:blipFill>
        <p:spPr>
          <a:xfrm>
            <a:off x="2393792" y="572877"/>
            <a:ext cx="7025629" cy="5420025"/>
          </a:xfrm>
          <a:prstGeom prst="rect">
            <a:avLst/>
          </a:prstGeom>
        </p:spPr>
      </p:pic>
    </p:spTree>
    <p:extLst>
      <p:ext uri="{BB962C8B-B14F-4D97-AF65-F5344CB8AC3E}">
        <p14:creationId xmlns:p14="http://schemas.microsoft.com/office/powerpoint/2010/main" val="9474930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40128" y="1373935"/>
            <a:ext cx="9872871" cy="2055066"/>
          </a:xfrm>
        </p:spPr>
        <p:txBody>
          <a:bodyPr>
            <a:normAutofit lnSpcReduction="10000"/>
          </a:bodyPr>
          <a:lstStyle/>
          <a:p>
            <a:r>
              <a:rPr lang="es-CL" b="1" noProof="0" dirty="0">
                <a:solidFill>
                  <a:schemeClr val="tx1"/>
                </a:solidFill>
              </a:rPr>
              <a:t>Tal cómo se aprecia, el punto de equilibrio es sensible a los costos variables, costos fijos y precios.</a:t>
            </a:r>
          </a:p>
          <a:p>
            <a:r>
              <a:rPr lang="es-CL" b="1" noProof="0" dirty="0">
                <a:solidFill>
                  <a:schemeClr val="tx1"/>
                </a:solidFill>
              </a:rPr>
              <a:t>Por ejemplo, suponga ahora que la misma fábrica compra una máquina que le permite utilizar en forma mucha más óptima la materia prima y con menos personal operativo, reduciendo el costo variables a $650, sin embargo el costo fijo aumenta a $2.000.000. ¿cuál es el nuevo punto de equilibrio? Y que pasaría para ambos casos, si las ventas aumentas a 5.000 unidades. Grafique.</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CAA95056-5906-93BC-A3F5-A3C80EC60880}"/>
                  </a:ext>
                </a:extLst>
              </p:cNvPr>
              <p:cNvSpPr txBox="1"/>
              <p:nvPr/>
            </p:nvSpPr>
            <p:spPr>
              <a:xfrm>
                <a:off x="566736" y="3429000"/>
                <a:ext cx="11153776" cy="67916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s-CL" sz="2400" b="1" noProof="0" dirty="0"/>
                  <a:t>Q = </a:t>
                </a:r>
                <a14:m>
                  <m:oMath xmlns:m="http://schemas.openxmlformats.org/officeDocument/2006/math">
                    <m:f>
                      <m:fPr>
                        <m:ctrlPr>
                          <a:rPr lang="es-CL" sz="2400" b="1" i="1" noProof="0" smtClean="0">
                            <a:latin typeface="Cambria Math" panose="02040503050406030204" pitchFamily="18" charset="0"/>
                          </a:rPr>
                        </m:ctrlPr>
                      </m:fPr>
                      <m:num>
                        <m:r>
                          <a:rPr lang="es-CL" sz="2400" b="1" i="1" noProof="0" smtClean="0">
                            <a:latin typeface="Cambria Math" panose="02040503050406030204" pitchFamily="18" charset="0"/>
                          </a:rPr>
                          <m:t>𝑪𝑭</m:t>
                        </m:r>
                      </m:num>
                      <m:den>
                        <m:r>
                          <a:rPr lang="es-CL" sz="2400" b="1" i="1" noProof="0" smtClean="0">
                            <a:latin typeface="Cambria Math" panose="02040503050406030204" pitchFamily="18" charset="0"/>
                          </a:rPr>
                          <m:t>(</m:t>
                        </m:r>
                        <m:r>
                          <a:rPr lang="es-CL" sz="2400" b="1" i="1" noProof="0" smtClean="0">
                            <a:latin typeface="Cambria Math" panose="02040503050406030204" pitchFamily="18" charset="0"/>
                          </a:rPr>
                          <m:t>𝑷</m:t>
                        </m:r>
                        <m:r>
                          <a:rPr lang="es-CL" sz="2400" b="1" i="1" noProof="0" smtClean="0">
                            <a:latin typeface="Cambria Math" panose="02040503050406030204" pitchFamily="18" charset="0"/>
                          </a:rPr>
                          <m:t>−</m:t>
                        </m:r>
                        <m:r>
                          <a:rPr lang="es-CL" sz="2400" b="1" i="1" noProof="0" smtClean="0">
                            <a:latin typeface="Cambria Math" panose="02040503050406030204" pitchFamily="18" charset="0"/>
                          </a:rPr>
                          <m:t>𝑪𝑽</m:t>
                        </m:r>
                        <m:r>
                          <a:rPr lang="es-CL" sz="2400" b="1" i="1" noProof="0" smtClean="0">
                            <a:latin typeface="Cambria Math" panose="02040503050406030204" pitchFamily="18" charset="0"/>
                          </a:rPr>
                          <m:t>)</m:t>
                        </m:r>
                      </m:den>
                    </m:f>
                  </m:oMath>
                </a14:m>
                <a:r>
                  <a:rPr lang="es-CL" sz="2400" b="1" noProof="0" dirty="0"/>
                  <a:t>  = </a:t>
                </a:r>
                <a14:m>
                  <m:oMath xmlns:m="http://schemas.openxmlformats.org/officeDocument/2006/math">
                    <m:f>
                      <m:fPr>
                        <m:ctrlPr>
                          <a:rPr lang="es-CL" sz="2400" b="1" i="1" smtClean="0">
                            <a:latin typeface="Cambria Math" panose="02040503050406030204" pitchFamily="18" charset="0"/>
                          </a:rPr>
                        </m:ctrlPr>
                      </m:fPr>
                      <m:num>
                        <m:r>
                          <a:rPr lang="es-CL" sz="2400" b="1" i="1" smtClean="0">
                            <a:latin typeface="Cambria Math" panose="02040503050406030204" pitchFamily="18" charset="0"/>
                          </a:rPr>
                          <m:t>𝟐</m:t>
                        </m:r>
                        <m:r>
                          <a:rPr lang="es-CL" sz="2400" b="1" i="1" smtClean="0">
                            <a:latin typeface="Cambria Math" panose="02040503050406030204" pitchFamily="18" charset="0"/>
                          </a:rPr>
                          <m:t>.</m:t>
                        </m:r>
                        <m:r>
                          <a:rPr lang="es-CL" sz="2400" b="1" i="1" smtClean="0">
                            <a:latin typeface="Cambria Math" panose="02040503050406030204" pitchFamily="18" charset="0"/>
                          </a:rPr>
                          <m:t>𝟎𝟎𝟎</m:t>
                        </m:r>
                        <m:r>
                          <a:rPr lang="es-CL" sz="2400" b="1" i="1" smtClean="0">
                            <a:latin typeface="Cambria Math" panose="02040503050406030204" pitchFamily="18" charset="0"/>
                          </a:rPr>
                          <m:t>.</m:t>
                        </m:r>
                        <m:r>
                          <a:rPr lang="es-CL" sz="2400" b="1" i="1" smtClean="0">
                            <a:latin typeface="Cambria Math" panose="02040503050406030204" pitchFamily="18" charset="0"/>
                          </a:rPr>
                          <m:t>𝟎𝟎𝟎</m:t>
                        </m:r>
                      </m:num>
                      <m:den>
                        <m:r>
                          <a:rPr lang="es-CL" sz="2400" b="1" i="1">
                            <a:latin typeface="Cambria Math" panose="02040503050406030204" pitchFamily="18" charset="0"/>
                          </a:rPr>
                          <m:t>(</m:t>
                        </m:r>
                        <m:r>
                          <a:rPr lang="es-CL" sz="2400" b="1" i="1" smtClean="0">
                            <a:latin typeface="Cambria Math" panose="02040503050406030204" pitchFamily="18" charset="0"/>
                          </a:rPr>
                          <m:t>𝟏</m:t>
                        </m:r>
                        <m:r>
                          <a:rPr lang="es-CL" sz="2400" b="1" i="1" smtClean="0">
                            <a:latin typeface="Cambria Math" panose="02040503050406030204" pitchFamily="18" charset="0"/>
                          </a:rPr>
                          <m:t>.</m:t>
                        </m:r>
                        <m:r>
                          <a:rPr lang="es-CL" sz="2400" b="1" i="1" smtClean="0">
                            <a:latin typeface="Cambria Math" panose="02040503050406030204" pitchFamily="18" charset="0"/>
                          </a:rPr>
                          <m:t>𝟓𝟎𝟎</m:t>
                        </m:r>
                        <m:r>
                          <a:rPr lang="es-CL" sz="2400" b="1" i="1">
                            <a:latin typeface="Cambria Math" panose="02040503050406030204" pitchFamily="18" charset="0"/>
                          </a:rPr>
                          <m:t>−</m:t>
                        </m:r>
                        <m:r>
                          <a:rPr lang="es-CL" sz="2400" b="1" i="1" smtClean="0">
                            <a:latin typeface="Cambria Math" panose="02040503050406030204" pitchFamily="18" charset="0"/>
                          </a:rPr>
                          <m:t>𝟔𝟓𝟎</m:t>
                        </m:r>
                        <m:r>
                          <a:rPr lang="es-CL" sz="2400" b="1" i="1">
                            <a:latin typeface="Cambria Math" panose="02040503050406030204" pitchFamily="18" charset="0"/>
                          </a:rPr>
                          <m:t>)</m:t>
                        </m:r>
                      </m:den>
                    </m:f>
                  </m:oMath>
                </a14:m>
                <a:r>
                  <a:rPr lang="es-CL" sz="2400" b="1" dirty="0"/>
                  <a:t> = = </a:t>
                </a:r>
                <a14:m>
                  <m:oMath xmlns:m="http://schemas.openxmlformats.org/officeDocument/2006/math">
                    <m:f>
                      <m:fPr>
                        <m:ctrlPr>
                          <a:rPr lang="es-CL" sz="2400" b="1" i="0" smtClean="0">
                            <a:latin typeface="Cambria Math" panose="02040503050406030204" pitchFamily="18" charset="0"/>
                          </a:rPr>
                        </m:ctrlPr>
                      </m:fPr>
                      <m:num>
                        <m:r>
                          <a:rPr lang="es-CL" sz="2400" b="1" i="0" smtClean="0">
                            <a:latin typeface="Cambria Math" panose="02040503050406030204" pitchFamily="18" charset="0"/>
                          </a:rPr>
                          <m:t>𝟐</m:t>
                        </m:r>
                        <m:r>
                          <a:rPr lang="es-CL" sz="2400" b="1" i="0" smtClean="0">
                            <a:latin typeface="Cambria Math" panose="02040503050406030204" pitchFamily="18" charset="0"/>
                          </a:rPr>
                          <m:t>.</m:t>
                        </m:r>
                        <m:r>
                          <a:rPr lang="es-CL" sz="2400" b="1" i="0" smtClean="0">
                            <a:latin typeface="Cambria Math" panose="02040503050406030204" pitchFamily="18" charset="0"/>
                          </a:rPr>
                          <m:t>𝟎𝟎𝟎</m:t>
                        </m:r>
                        <m:r>
                          <a:rPr lang="es-CL" sz="2400" b="1">
                            <a:latin typeface="Cambria Math" panose="02040503050406030204" pitchFamily="18" charset="0"/>
                          </a:rPr>
                          <m:t>.</m:t>
                        </m:r>
                        <m:r>
                          <a:rPr lang="es-CL" sz="2400" b="1">
                            <a:latin typeface="Cambria Math" panose="02040503050406030204" pitchFamily="18" charset="0"/>
                          </a:rPr>
                          <m:t>𝟎𝟎𝟎</m:t>
                        </m:r>
                      </m:num>
                      <m:den>
                        <m:r>
                          <a:rPr lang="es-CL" sz="2400" b="1">
                            <a:latin typeface="Cambria Math" panose="02040503050406030204" pitchFamily="18" charset="0"/>
                          </a:rPr>
                          <m:t>(</m:t>
                        </m:r>
                        <m:r>
                          <a:rPr lang="es-CL" sz="2400" b="1" i="0" smtClean="0">
                            <a:latin typeface="Cambria Math" panose="02040503050406030204" pitchFamily="18" charset="0"/>
                          </a:rPr>
                          <m:t>𝟖</m:t>
                        </m:r>
                        <m:r>
                          <a:rPr lang="es-CL" sz="2400" b="1">
                            <a:latin typeface="Cambria Math" panose="02040503050406030204" pitchFamily="18" charset="0"/>
                          </a:rPr>
                          <m:t>𝟓𝟎</m:t>
                        </m:r>
                        <m:r>
                          <a:rPr lang="es-CL" sz="2400" b="1">
                            <a:latin typeface="Cambria Math" panose="02040503050406030204" pitchFamily="18" charset="0"/>
                          </a:rPr>
                          <m:t>)</m:t>
                        </m:r>
                      </m:den>
                    </m:f>
                    <m:r>
                      <a:rPr lang="es-CL" sz="2400" b="1">
                        <a:latin typeface="Cambria Math" panose="02040503050406030204" pitchFamily="18" charset="0"/>
                      </a:rPr>
                      <m:t>=</m:t>
                    </m:r>
                    <m:r>
                      <a:rPr lang="es-CL" sz="2400" b="1">
                        <a:latin typeface="Cambria Math" panose="02040503050406030204" pitchFamily="18" charset="0"/>
                      </a:rPr>
                      <m:t>𝟐</m:t>
                    </m:r>
                    <m:r>
                      <a:rPr lang="es-CL" sz="2400" b="1">
                        <a:latin typeface="Cambria Math" panose="02040503050406030204" pitchFamily="18" charset="0"/>
                      </a:rPr>
                      <m:t>.</m:t>
                    </m:r>
                    <m:r>
                      <a:rPr lang="es-CL" sz="2400" b="1" i="0" smtClean="0">
                        <a:latin typeface="Cambria Math" panose="02040503050406030204" pitchFamily="18" charset="0"/>
                      </a:rPr>
                      <m:t>𝟑𝟓𝟑</m:t>
                    </m:r>
                    <m:r>
                      <a:rPr lang="es-CL" sz="2400" b="1">
                        <a:latin typeface="Cambria Math" panose="02040503050406030204" pitchFamily="18" charset="0"/>
                      </a:rPr>
                      <m:t>⇒</m:t>
                    </m:r>
                    <m:r>
                      <m:rPr>
                        <m:nor/>
                      </m:rPr>
                      <a:rPr lang="es-CL" sz="2400" b="1">
                        <a:latin typeface="Cambria Math" panose="02040503050406030204" pitchFamily="18" charset="0"/>
                      </a:rPr>
                      <m:t>Unidades de ventas de </m:t>
                    </m:r>
                    <m:r>
                      <m:rPr>
                        <m:nor/>
                      </m:rPr>
                      <a:rPr lang="es-CL" sz="2400" b="1" dirty="0">
                        <a:latin typeface="Cambria Math" panose="02040503050406030204" pitchFamily="18" charset="0"/>
                      </a:rPr>
                      <m:t>equilibrio</m:t>
                    </m:r>
                    <m:r>
                      <m:rPr>
                        <m:nor/>
                      </m:rPr>
                      <a:rPr lang="es-CL" sz="2400" b="1" i="0" dirty="0" smtClean="0">
                        <a:latin typeface="Cambria Math" panose="02040503050406030204" pitchFamily="18" charset="0"/>
                      </a:rPr>
                      <m:t>.</m:t>
                    </m:r>
                  </m:oMath>
                </a14:m>
                <a:endParaRPr lang="es-CL" sz="2400" b="1" dirty="0">
                  <a:latin typeface="Cambria Math" panose="02040503050406030204" pitchFamily="18" charset="0"/>
                </a:endParaRPr>
              </a:p>
            </p:txBody>
          </p:sp>
        </mc:Choice>
        <mc:Fallback>
          <p:sp>
            <p:nvSpPr>
              <p:cNvPr id="2" name="CuadroTexto 1">
                <a:extLst>
                  <a:ext uri="{FF2B5EF4-FFF2-40B4-BE49-F238E27FC236}">
                    <a16:creationId xmlns:a16="http://schemas.microsoft.com/office/drawing/2014/main" id="{CAA95056-5906-93BC-A3F5-A3C80EC60880}"/>
                  </a:ext>
                </a:extLst>
              </p:cNvPr>
              <p:cNvSpPr txBox="1">
                <a:spLocks noRot="1" noChangeAspect="1" noMove="1" noResize="1" noEditPoints="1" noAdjustHandles="1" noChangeArrowheads="1" noChangeShapeType="1" noTextEdit="1"/>
              </p:cNvSpPr>
              <p:nvPr/>
            </p:nvSpPr>
            <p:spPr>
              <a:xfrm>
                <a:off x="566736" y="3429000"/>
                <a:ext cx="11153776" cy="679160"/>
              </a:xfrm>
              <a:prstGeom prst="rect">
                <a:avLst/>
              </a:prstGeom>
              <a:blipFill>
                <a:blip r:embed="rId3"/>
                <a:stretch>
                  <a:fillRect l="-819"/>
                </a:stretch>
              </a:blipFill>
            </p:spPr>
            <p:txBody>
              <a:bodyPr/>
              <a:lstStyle/>
              <a:p>
                <a:r>
                  <a:rPr lang="es-CL">
                    <a:noFill/>
                  </a:rPr>
                  <a:t> </a:t>
                </a:r>
              </a:p>
            </p:txBody>
          </p:sp>
        </mc:Fallback>
      </mc:AlternateContent>
      <mc:AlternateContent xmlns:mc="http://schemas.openxmlformats.org/markup-compatibility/2006">
        <mc:Choice xmlns:a14="http://schemas.microsoft.com/office/drawing/2010/main" Requires="a14">
          <p:sp>
            <p:nvSpPr>
              <p:cNvPr id="4" name="CuadroTexto 3">
                <a:extLst>
                  <a:ext uri="{FF2B5EF4-FFF2-40B4-BE49-F238E27FC236}">
                    <a16:creationId xmlns:a16="http://schemas.microsoft.com/office/drawing/2014/main" id="{C3E9285F-7F90-C90C-9402-AB94110012C4}"/>
                  </a:ext>
                </a:extLst>
              </p:cNvPr>
              <p:cNvSpPr txBox="1"/>
              <p:nvPr/>
            </p:nvSpPr>
            <p:spPr>
              <a:xfrm>
                <a:off x="566736" y="5065283"/>
                <a:ext cx="11153776" cy="786241"/>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s-CL" sz="1800" b="1" noProof="0" dirty="0">
                    <a:solidFill>
                      <a:schemeClr val="tx1"/>
                    </a:solidFill>
                  </a:rPr>
                  <a:t>Q = </a:t>
                </a:r>
                <a14:m>
                  <m:oMath xmlns:m="http://schemas.openxmlformats.org/officeDocument/2006/math">
                    <m:f>
                      <m:fPr>
                        <m:ctrlPr>
                          <a:rPr lang="es-CL" sz="2400" b="1" i="1" smtClean="0">
                            <a:latin typeface="Cambria Math" panose="02040503050406030204" pitchFamily="18" charset="0"/>
                          </a:rPr>
                        </m:ctrlPr>
                      </m:fPr>
                      <m:num>
                        <m:r>
                          <a:rPr lang="es-CL" sz="2400" b="1" i="1" smtClean="0">
                            <a:latin typeface="Cambria Math" panose="02040503050406030204" pitchFamily="18" charset="0"/>
                          </a:rPr>
                          <m:t>𝟐</m:t>
                        </m:r>
                        <m:r>
                          <a:rPr lang="es-CL" sz="2400" b="1" i="1" smtClean="0">
                            <a:latin typeface="Cambria Math" panose="02040503050406030204" pitchFamily="18" charset="0"/>
                          </a:rPr>
                          <m:t>.</m:t>
                        </m:r>
                        <m:r>
                          <a:rPr lang="es-CL" sz="2400" b="1" i="1" smtClean="0">
                            <a:latin typeface="Cambria Math" panose="02040503050406030204" pitchFamily="18" charset="0"/>
                          </a:rPr>
                          <m:t>𝟎𝟎𝟎</m:t>
                        </m:r>
                        <m:r>
                          <a:rPr lang="es-CL" sz="2400" b="1" i="1" smtClean="0">
                            <a:latin typeface="Cambria Math" panose="02040503050406030204" pitchFamily="18" charset="0"/>
                          </a:rPr>
                          <m:t>.</m:t>
                        </m:r>
                        <m:r>
                          <a:rPr lang="es-CL" sz="2400" b="1" i="1">
                            <a:latin typeface="Cambria Math" panose="02040503050406030204" pitchFamily="18" charset="0"/>
                          </a:rPr>
                          <m:t>𝟎𝟎𝟎</m:t>
                        </m:r>
                      </m:num>
                      <m:den>
                        <m:r>
                          <a:rPr lang="es-CL" sz="2400" b="1" i="1">
                            <a:latin typeface="Cambria Math" panose="02040503050406030204" pitchFamily="18" charset="0"/>
                          </a:rPr>
                          <m:t>𝟏</m:t>
                        </m:r>
                        <m:r>
                          <a:rPr lang="es-CL" sz="2400" b="1" i="1">
                            <a:latin typeface="Cambria Math" panose="02040503050406030204" pitchFamily="18" charset="0"/>
                          </a:rPr>
                          <m:t>− (</m:t>
                        </m:r>
                        <m:f>
                          <m:fPr>
                            <m:ctrlPr>
                              <a:rPr lang="es-CL" sz="2400" b="1" i="1" smtClean="0">
                                <a:latin typeface="Cambria Math" panose="02040503050406030204" pitchFamily="18" charset="0"/>
                              </a:rPr>
                            </m:ctrlPr>
                          </m:fPr>
                          <m:num>
                            <m:r>
                              <a:rPr lang="es-CL" sz="2400" b="1" i="1" smtClean="0">
                                <a:latin typeface="Cambria Math" panose="02040503050406030204" pitchFamily="18" charset="0"/>
                              </a:rPr>
                              <m:t>𝟔</m:t>
                            </m:r>
                            <m:r>
                              <a:rPr lang="es-CL" sz="2400" b="1" i="1" smtClean="0">
                                <a:latin typeface="Cambria Math" panose="02040503050406030204" pitchFamily="18" charset="0"/>
                              </a:rPr>
                              <m:t>𝟓𝟎</m:t>
                            </m:r>
                          </m:num>
                          <m:den>
                            <m:r>
                              <a:rPr lang="es-CL" sz="2400" b="1" i="1" smtClean="0">
                                <a:latin typeface="Cambria Math" panose="02040503050406030204" pitchFamily="18" charset="0"/>
                              </a:rPr>
                              <m:t>𝟏</m:t>
                            </m:r>
                            <m:r>
                              <a:rPr lang="es-CL" sz="2400" b="1" i="1" smtClean="0">
                                <a:latin typeface="Cambria Math" panose="02040503050406030204" pitchFamily="18" charset="0"/>
                              </a:rPr>
                              <m:t>.</m:t>
                            </m:r>
                            <m:r>
                              <a:rPr lang="es-CL" sz="2400" b="1" i="1" smtClean="0">
                                <a:latin typeface="Cambria Math" panose="02040503050406030204" pitchFamily="18" charset="0"/>
                              </a:rPr>
                              <m:t>𝟓𝟎𝟎</m:t>
                            </m:r>
                          </m:den>
                        </m:f>
                        <m:r>
                          <a:rPr lang="es-CL" sz="2400" b="1" i="1">
                            <a:latin typeface="Cambria Math" panose="02040503050406030204" pitchFamily="18" charset="0"/>
                          </a:rPr>
                          <m:t>)</m:t>
                        </m:r>
                      </m:den>
                    </m:f>
                  </m:oMath>
                </a14:m>
                <a:r>
                  <a:rPr lang="es-CL" sz="2400" b="1" i="1" dirty="0">
                    <a:latin typeface="Cambria Math" panose="02040503050406030204" pitchFamily="18" charset="0"/>
                  </a:rPr>
                  <a:t>  = </a:t>
                </a:r>
                <a14:m>
                  <m:oMath xmlns:m="http://schemas.openxmlformats.org/officeDocument/2006/math">
                    <m:f>
                      <m:fPr>
                        <m:ctrlPr>
                          <a:rPr lang="es-CL" sz="2400" b="1" i="1" smtClean="0">
                            <a:latin typeface="Cambria Math" panose="02040503050406030204" pitchFamily="18" charset="0"/>
                          </a:rPr>
                        </m:ctrlPr>
                      </m:fPr>
                      <m:num>
                        <m:r>
                          <a:rPr lang="es-CL" sz="2400" b="1" i="1" smtClean="0">
                            <a:latin typeface="Cambria Math" panose="02040503050406030204" pitchFamily="18" charset="0"/>
                          </a:rPr>
                          <m:t>𝟐</m:t>
                        </m:r>
                        <m:r>
                          <a:rPr lang="es-CL" sz="2400" b="1" i="1" smtClean="0">
                            <a:latin typeface="Cambria Math" panose="02040503050406030204" pitchFamily="18" charset="0"/>
                          </a:rPr>
                          <m:t>.</m:t>
                        </m:r>
                        <m:r>
                          <a:rPr lang="es-CL" sz="2400" b="1" i="1" smtClean="0">
                            <a:latin typeface="Cambria Math" panose="02040503050406030204" pitchFamily="18" charset="0"/>
                          </a:rPr>
                          <m:t>𝟎𝟎𝟎</m:t>
                        </m:r>
                        <m:r>
                          <a:rPr lang="es-CL" sz="2400" b="1" i="1">
                            <a:latin typeface="Cambria Math" panose="02040503050406030204" pitchFamily="18" charset="0"/>
                          </a:rPr>
                          <m:t>.</m:t>
                        </m:r>
                        <m:r>
                          <a:rPr lang="es-CL" sz="2400" b="1" i="1">
                            <a:latin typeface="Cambria Math" panose="02040503050406030204" pitchFamily="18" charset="0"/>
                          </a:rPr>
                          <m:t>𝟎𝟎𝟎</m:t>
                        </m:r>
                      </m:num>
                      <m:den>
                        <m:r>
                          <a:rPr lang="es-CL" sz="2400" b="1" i="1">
                            <a:latin typeface="Cambria Math" panose="02040503050406030204" pitchFamily="18" charset="0"/>
                          </a:rPr>
                          <m:t>𝟏</m:t>
                        </m:r>
                        <m:r>
                          <a:rPr lang="es-CL" sz="2400" b="1" i="1">
                            <a:latin typeface="Cambria Math" panose="02040503050406030204" pitchFamily="18" charset="0"/>
                          </a:rPr>
                          <m:t>− (</m:t>
                        </m:r>
                        <m:r>
                          <a:rPr lang="es-CL" sz="2400" b="1" i="1" smtClean="0">
                            <a:latin typeface="Cambria Math" panose="02040503050406030204" pitchFamily="18" charset="0"/>
                          </a:rPr>
                          <m:t>𝟎</m:t>
                        </m:r>
                        <m:r>
                          <a:rPr lang="es-CL" sz="2400" b="1" i="1" smtClean="0">
                            <a:latin typeface="Cambria Math" panose="02040503050406030204" pitchFamily="18" charset="0"/>
                          </a:rPr>
                          <m:t>,</m:t>
                        </m:r>
                        <m:r>
                          <a:rPr lang="es-CL" sz="2400" b="1" i="1" smtClean="0">
                            <a:latin typeface="Cambria Math" panose="02040503050406030204" pitchFamily="18" charset="0"/>
                          </a:rPr>
                          <m:t>𝟒𝟑𝟑𝟑</m:t>
                        </m:r>
                        <m:r>
                          <a:rPr lang="es-CL" sz="2400" b="1" i="1">
                            <a:latin typeface="Cambria Math" panose="02040503050406030204" pitchFamily="18" charset="0"/>
                          </a:rPr>
                          <m:t>)</m:t>
                        </m:r>
                      </m:den>
                    </m:f>
                  </m:oMath>
                </a14:m>
                <a:r>
                  <a:rPr lang="es-CL" sz="2400" b="1" i="1" dirty="0">
                    <a:latin typeface="Cambria Math" panose="02040503050406030204" pitchFamily="18" charset="0"/>
                  </a:rPr>
                  <a:t> = </a:t>
                </a:r>
                <a14:m>
                  <m:oMath xmlns:m="http://schemas.openxmlformats.org/officeDocument/2006/math">
                    <m:f>
                      <m:fPr>
                        <m:ctrlPr>
                          <a:rPr lang="es-CL" sz="2400" b="1" i="1" smtClean="0">
                            <a:latin typeface="Cambria Math" panose="02040503050406030204" pitchFamily="18" charset="0"/>
                          </a:rPr>
                        </m:ctrlPr>
                      </m:fPr>
                      <m:num>
                        <m:r>
                          <a:rPr lang="es-CL" sz="2400" b="1" i="1" smtClean="0">
                            <a:latin typeface="Cambria Math" panose="02040503050406030204" pitchFamily="18" charset="0"/>
                          </a:rPr>
                          <m:t>𝟐</m:t>
                        </m:r>
                        <m:r>
                          <a:rPr lang="es-CL" sz="2400" b="1" i="1" smtClean="0">
                            <a:latin typeface="Cambria Math" panose="02040503050406030204" pitchFamily="18" charset="0"/>
                          </a:rPr>
                          <m:t>.</m:t>
                        </m:r>
                        <m:r>
                          <a:rPr lang="es-CL" sz="2400" b="1" i="1" smtClean="0">
                            <a:latin typeface="Cambria Math" panose="02040503050406030204" pitchFamily="18" charset="0"/>
                          </a:rPr>
                          <m:t>𝟎𝟎𝟎</m:t>
                        </m:r>
                        <m:r>
                          <a:rPr lang="es-CL" sz="2400" b="1" i="1">
                            <a:latin typeface="Cambria Math" panose="02040503050406030204" pitchFamily="18" charset="0"/>
                          </a:rPr>
                          <m:t>.</m:t>
                        </m:r>
                        <m:r>
                          <a:rPr lang="es-CL" sz="2400" b="1" i="1">
                            <a:latin typeface="Cambria Math" panose="02040503050406030204" pitchFamily="18" charset="0"/>
                          </a:rPr>
                          <m:t>𝟎𝟎𝟎</m:t>
                        </m:r>
                      </m:num>
                      <m:den>
                        <m:d>
                          <m:dPr>
                            <m:ctrlPr>
                              <a:rPr lang="es-CL" sz="2400" b="1" i="1" smtClean="0">
                                <a:latin typeface="Cambria Math" panose="02040503050406030204" pitchFamily="18" charset="0"/>
                              </a:rPr>
                            </m:ctrlPr>
                          </m:dPr>
                          <m:e>
                            <m:r>
                              <a:rPr lang="es-CL" sz="2400" b="1" i="1" smtClean="0">
                                <a:latin typeface="Cambria Math" panose="02040503050406030204" pitchFamily="18" charset="0"/>
                              </a:rPr>
                              <m:t>𝟎</m:t>
                            </m:r>
                            <m:r>
                              <a:rPr lang="es-CL" sz="2400" b="1" i="1" smtClean="0">
                                <a:latin typeface="Cambria Math" panose="02040503050406030204" pitchFamily="18" charset="0"/>
                              </a:rPr>
                              <m:t>,</m:t>
                            </m:r>
                            <m:r>
                              <a:rPr lang="es-CL" sz="2400" b="1" i="1" smtClean="0">
                                <a:latin typeface="Cambria Math" panose="02040503050406030204" pitchFamily="18" charset="0"/>
                              </a:rPr>
                              <m:t>𝟓𝟔𝟔𝟔𝟕</m:t>
                            </m:r>
                          </m:e>
                        </m:d>
                      </m:den>
                    </m:f>
                    <m:r>
                      <a:rPr lang="es-CL" sz="2400" b="1" i="1" smtClean="0">
                        <a:latin typeface="Cambria Math" panose="02040503050406030204" pitchFamily="18" charset="0"/>
                      </a:rPr>
                      <m:t>=</m:t>
                    </m:r>
                    <m:r>
                      <a:rPr lang="es-CL" sz="2400" b="1" i="1" smtClean="0">
                        <a:latin typeface="Cambria Math" panose="02040503050406030204" pitchFamily="18" charset="0"/>
                      </a:rPr>
                      <m:t>𝟑</m:t>
                    </m:r>
                    <m:r>
                      <a:rPr lang="es-CL" sz="2400" b="1" i="1" smtClean="0">
                        <a:latin typeface="Cambria Math" panose="02040503050406030204" pitchFamily="18" charset="0"/>
                      </a:rPr>
                      <m:t>.</m:t>
                    </m:r>
                    <m:r>
                      <a:rPr lang="es-CL" sz="2400" b="1" i="1" smtClean="0">
                        <a:latin typeface="Cambria Math" panose="02040503050406030204" pitchFamily="18" charset="0"/>
                      </a:rPr>
                      <m:t>𝟓𝟐𝟗</m:t>
                    </m:r>
                    <m:r>
                      <a:rPr lang="es-CL" sz="2400" b="1" i="1" smtClean="0">
                        <a:latin typeface="Cambria Math" panose="02040503050406030204" pitchFamily="18" charset="0"/>
                      </a:rPr>
                      <m:t>.</m:t>
                    </m:r>
                    <m:r>
                      <a:rPr lang="es-CL" sz="2400" b="1" i="1" smtClean="0">
                        <a:latin typeface="Cambria Math" panose="02040503050406030204" pitchFamily="18" charset="0"/>
                      </a:rPr>
                      <m:t>𝟒𝟏𝟐</m:t>
                    </m:r>
                    <m:r>
                      <a:rPr lang="es-CL" sz="2400" b="1" i="1" smtClean="0">
                        <a:latin typeface="Cambria Math" panose="02040503050406030204" pitchFamily="18" charset="0"/>
                      </a:rPr>
                      <m:t>.</m:t>
                    </m:r>
                  </m:oMath>
                </a14:m>
                <a:r>
                  <a:rPr lang="es-CL" sz="2000" b="1" dirty="0">
                    <a:solidFill>
                      <a:schemeClr val="tx1"/>
                    </a:solidFill>
                  </a:rPr>
                  <a:t> =&gt;Venta en Dinero de equilibrio.</a:t>
                </a:r>
                <a:endParaRPr lang="es-CL" sz="2400" b="1" i="1" dirty="0">
                  <a:latin typeface="Cambria Math" panose="02040503050406030204" pitchFamily="18" charset="0"/>
                </a:endParaRPr>
              </a:p>
            </p:txBody>
          </p:sp>
        </mc:Choice>
        <mc:Fallback>
          <p:sp>
            <p:nvSpPr>
              <p:cNvPr id="4" name="CuadroTexto 3">
                <a:extLst>
                  <a:ext uri="{FF2B5EF4-FFF2-40B4-BE49-F238E27FC236}">
                    <a16:creationId xmlns:a16="http://schemas.microsoft.com/office/drawing/2014/main" id="{C3E9285F-7F90-C90C-9402-AB94110012C4}"/>
                  </a:ext>
                </a:extLst>
              </p:cNvPr>
              <p:cNvSpPr txBox="1">
                <a:spLocks noRot="1" noChangeAspect="1" noMove="1" noResize="1" noEditPoints="1" noAdjustHandles="1" noChangeArrowheads="1" noChangeShapeType="1" noTextEdit="1"/>
              </p:cNvSpPr>
              <p:nvPr/>
            </p:nvSpPr>
            <p:spPr>
              <a:xfrm>
                <a:off x="566736" y="5065283"/>
                <a:ext cx="11153776" cy="786241"/>
              </a:xfrm>
              <a:prstGeom prst="rect">
                <a:avLst/>
              </a:prstGeom>
              <a:blipFill>
                <a:blip r:embed="rId4"/>
                <a:stretch>
                  <a:fillRect l="-437"/>
                </a:stretch>
              </a:blipFill>
            </p:spPr>
            <p:txBody>
              <a:bodyPr/>
              <a:lstStyle/>
              <a:p>
                <a:r>
                  <a:rPr lang="es-CL">
                    <a:noFill/>
                  </a:rPr>
                  <a:t> </a:t>
                </a:r>
              </a:p>
            </p:txBody>
          </p:sp>
        </mc:Fallback>
      </mc:AlternateContent>
    </p:spTree>
    <p:extLst>
      <p:ext uri="{BB962C8B-B14F-4D97-AF65-F5344CB8AC3E}">
        <p14:creationId xmlns:p14="http://schemas.microsoft.com/office/powerpoint/2010/main" val="228274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animBg="1"/>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3000" y="609600"/>
            <a:ext cx="9875520" cy="514120"/>
          </a:xfrm>
        </p:spPr>
        <p:txBody>
          <a:bodyPr>
            <a:normAutofit fontScale="90000"/>
          </a:bodyPr>
          <a:lstStyle/>
          <a:p>
            <a:r>
              <a:rPr lang="es-CL" noProof="0" dirty="0"/>
              <a:t>Ejercicio 2 en clases</a:t>
            </a:r>
          </a:p>
        </p:txBody>
      </p:sp>
      <p:sp>
        <p:nvSpPr>
          <p:cNvPr id="3" name="Marcador de contenido 2"/>
          <p:cNvSpPr>
            <a:spLocks noGrp="1"/>
          </p:cNvSpPr>
          <p:nvPr>
            <p:ph idx="1"/>
          </p:nvPr>
        </p:nvSpPr>
        <p:spPr>
          <a:xfrm>
            <a:off x="973666" y="1709351"/>
            <a:ext cx="10044854" cy="3950785"/>
          </a:xfrm>
        </p:spPr>
        <p:txBody>
          <a:bodyPr>
            <a:normAutofit fontScale="92500" lnSpcReduction="10000"/>
          </a:bodyPr>
          <a:lstStyle/>
          <a:p>
            <a:endParaRPr lang="es-CL" noProof="0" dirty="0"/>
          </a:p>
          <a:p>
            <a:r>
              <a:rPr lang="es-CL" noProof="0" dirty="0"/>
              <a:t>La empresa  Chile Posters, tiene un precio de venta promedio de, </a:t>
            </a:r>
            <a:r>
              <a:rPr lang="es-CL" i="1" noProof="0" dirty="0"/>
              <a:t>P =</a:t>
            </a:r>
            <a:r>
              <a:rPr lang="es-CL" noProof="0" dirty="0"/>
              <a:t> $10 por unidad; </a:t>
            </a:r>
          </a:p>
          <a:p>
            <a:r>
              <a:rPr lang="es-CL" noProof="0" dirty="0"/>
              <a:t>El costo operativo variable es de, </a:t>
            </a:r>
            <a:r>
              <a:rPr lang="es-CL" i="1" noProof="0" dirty="0"/>
              <a:t>CV =</a:t>
            </a:r>
            <a:r>
              <a:rPr lang="es-CL" noProof="0" dirty="0"/>
              <a:t> $5 por unidad; </a:t>
            </a:r>
          </a:p>
          <a:p>
            <a:r>
              <a:rPr lang="es-CL" noProof="0" dirty="0"/>
              <a:t>Costo fijo es de, </a:t>
            </a:r>
            <a:r>
              <a:rPr lang="es-CL" i="1" noProof="0" dirty="0"/>
              <a:t>CF </a:t>
            </a:r>
            <a:r>
              <a:rPr lang="es-CL" noProof="0" dirty="0"/>
              <a:t> $2.500. </a:t>
            </a:r>
          </a:p>
          <a:p>
            <a:r>
              <a:rPr lang="es-CL" noProof="0" dirty="0"/>
              <a:t>Determine el punto de equilibrio en unidades y dinero.</a:t>
            </a:r>
          </a:p>
          <a:p>
            <a:r>
              <a:rPr lang="es-CL" dirty="0"/>
              <a:t>Ad</a:t>
            </a:r>
            <a:r>
              <a:rPr lang="es-CL" noProof="0" dirty="0" err="1"/>
              <a:t>emás</a:t>
            </a:r>
            <a:r>
              <a:rPr lang="es-CL" noProof="0" dirty="0"/>
              <a:t>, calcule 4 escenarios con ventas cada uno de 300, 500, 1.000 y 1.500 unidades.</a:t>
            </a:r>
          </a:p>
          <a:p>
            <a:r>
              <a:rPr lang="es-CL" noProof="0" dirty="0"/>
              <a:t>Determine el impacto con venta de 30.000 unidades. </a:t>
            </a:r>
          </a:p>
          <a:p>
            <a:pPr marL="0" indent="0">
              <a:buNone/>
            </a:pPr>
            <a:endParaRPr lang="es-CL" noProof="0" dirty="0"/>
          </a:p>
          <a:p>
            <a:pPr marL="45720" indent="0">
              <a:buNone/>
            </a:pPr>
            <a:endParaRPr lang="es-CL" noProof="0" dirty="0"/>
          </a:p>
        </p:txBody>
      </p:sp>
    </p:spTree>
    <p:extLst>
      <p:ext uri="{BB962C8B-B14F-4D97-AF65-F5344CB8AC3E}">
        <p14:creationId xmlns:p14="http://schemas.microsoft.com/office/powerpoint/2010/main" val="37219125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636D5-5D3E-84B6-CE04-671F38EAB0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3ABE13-2CF8-D49C-F6DB-E5F1B4421C1C}"/>
              </a:ext>
            </a:extLst>
          </p:cNvPr>
          <p:cNvSpPr>
            <a:spLocks noGrp="1"/>
          </p:cNvSpPr>
          <p:nvPr>
            <p:ph type="title"/>
          </p:nvPr>
        </p:nvSpPr>
        <p:spPr>
          <a:xfrm>
            <a:off x="1143000" y="609600"/>
            <a:ext cx="9875520" cy="514120"/>
          </a:xfrm>
        </p:spPr>
        <p:txBody>
          <a:bodyPr>
            <a:normAutofit fontScale="90000"/>
          </a:bodyPr>
          <a:lstStyle/>
          <a:p>
            <a:r>
              <a:rPr lang="es-CL" noProof="0" dirty="0"/>
              <a:t>Ejercicio3 en clases</a:t>
            </a:r>
          </a:p>
        </p:txBody>
      </p:sp>
      <p:sp>
        <p:nvSpPr>
          <p:cNvPr id="3" name="Marcador de contenido 2">
            <a:extLst>
              <a:ext uri="{FF2B5EF4-FFF2-40B4-BE49-F238E27FC236}">
                <a16:creationId xmlns:a16="http://schemas.microsoft.com/office/drawing/2014/main" id="{9EF13170-8770-F047-63A8-035FBB59E541}"/>
              </a:ext>
            </a:extLst>
          </p:cNvPr>
          <p:cNvSpPr>
            <a:spLocks noGrp="1"/>
          </p:cNvSpPr>
          <p:nvPr>
            <p:ph idx="1"/>
          </p:nvPr>
        </p:nvSpPr>
        <p:spPr>
          <a:xfrm>
            <a:off x="973666" y="1709351"/>
            <a:ext cx="9872871" cy="3439297"/>
          </a:xfrm>
        </p:spPr>
        <p:txBody>
          <a:bodyPr>
            <a:normAutofit fontScale="77500" lnSpcReduction="20000"/>
          </a:bodyPr>
          <a:lstStyle/>
          <a:p>
            <a:endParaRPr lang="es-CL" noProof="0" dirty="0"/>
          </a:p>
          <a:p>
            <a:r>
              <a:rPr lang="es-CL" noProof="0" dirty="0"/>
              <a:t>La empresa  Importadora international Ltda., tiene un precio de venta promedio de, </a:t>
            </a:r>
            <a:r>
              <a:rPr lang="es-CL" i="1" noProof="0" dirty="0"/>
              <a:t>P =</a:t>
            </a:r>
            <a:r>
              <a:rPr lang="es-CL" noProof="0" dirty="0"/>
              <a:t> $2.000 por unidad; </a:t>
            </a:r>
          </a:p>
          <a:p>
            <a:r>
              <a:rPr lang="es-CL" noProof="0" dirty="0"/>
              <a:t>El costo operativo variable es de, </a:t>
            </a:r>
            <a:r>
              <a:rPr lang="es-CL" i="1" noProof="0" dirty="0"/>
              <a:t>CV =</a:t>
            </a:r>
            <a:r>
              <a:rPr lang="es-CL" noProof="0" dirty="0"/>
              <a:t> $1.850 por unidad; </a:t>
            </a:r>
          </a:p>
          <a:p>
            <a:r>
              <a:rPr lang="es-CL" noProof="0" dirty="0"/>
              <a:t>Costo fijo es de, </a:t>
            </a:r>
            <a:r>
              <a:rPr lang="es-CL" i="1" noProof="0" dirty="0"/>
              <a:t>CF </a:t>
            </a:r>
            <a:r>
              <a:rPr lang="es-CL" noProof="0" dirty="0"/>
              <a:t> $3.500.000 </a:t>
            </a:r>
          </a:p>
          <a:p>
            <a:r>
              <a:rPr lang="es-CL" noProof="0" dirty="0"/>
              <a:t>Determine el punto de equilibrio en unidades y dinero.</a:t>
            </a:r>
          </a:p>
          <a:p>
            <a:r>
              <a:rPr lang="es-CL" noProof="0" dirty="0"/>
              <a:t>Qué pasaría con su punto de equilibrio si el CV disminuye a $1.600 y el costo fijo cambia a $5.500.000</a:t>
            </a:r>
          </a:p>
          <a:p>
            <a:r>
              <a:rPr lang="es-CL" noProof="0" dirty="0"/>
              <a:t>Efectúe ambos estados de resultado.</a:t>
            </a:r>
          </a:p>
          <a:p>
            <a:pPr marL="0" indent="0">
              <a:buNone/>
            </a:pPr>
            <a:endParaRPr lang="es-CL" noProof="0" dirty="0"/>
          </a:p>
          <a:p>
            <a:pPr marL="45720" indent="0">
              <a:buNone/>
            </a:pPr>
            <a:endParaRPr lang="es-CL" noProof="0" dirty="0"/>
          </a:p>
        </p:txBody>
      </p:sp>
    </p:spTree>
    <p:extLst>
      <p:ext uri="{BB962C8B-B14F-4D97-AF65-F5344CB8AC3E}">
        <p14:creationId xmlns:p14="http://schemas.microsoft.com/office/powerpoint/2010/main" val="2889042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E4039C-48DD-69F1-3E85-B822BC996575}"/>
              </a:ext>
            </a:extLst>
          </p:cNvPr>
          <p:cNvSpPr>
            <a:spLocks noGrp="1"/>
          </p:cNvSpPr>
          <p:nvPr>
            <p:ph type="ctrTitle"/>
          </p:nvPr>
        </p:nvSpPr>
        <p:spPr>
          <a:xfrm>
            <a:off x="838200" y="2061006"/>
            <a:ext cx="10515600" cy="2387600"/>
          </a:xfrm>
        </p:spPr>
        <p:txBody>
          <a:bodyPr anchor="b">
            <a:normAutofit/>
          </a:bodyPr>
          <a:lstStyle/>
          <a:p>
            <a:pPr>
              <a:lnSpc>
                <a:spcPct val="90000"/>
              </a:lnSpc>
            </a:pPr>
            <a:r>
              <a:rPr lang="es-CL" noProof="0" dirty="0"/>
              <a:t>Una manera inicial de analizar el balance y el estado de resultado es a través de:</a:t>
            </a:r>
          </a:p>
        </p:txBody>
      </p:sp>
      <p:sp>
        <p:nvSpPr>
          <p:cNvPr id="3" name="Marcador de contenido 2">
            <a:extLst>
              <a:ext uri="{FF2B5EF4-FFF2-40B4-BE49-F238E27FC236}">
                <a16:creationId xmlns:a16="http://schemas.microsoft.com/office/drawing/2014/main" id="{DC5A22DC-2BC6-8BAD-450C-25BDCCF3FF3B}"/>
              </a:ext>
            </a:extLst>
          </p:cNvPr>
          <p:cNvSpPr>
            <a:spLocks noGrp="1"/>
          </p:cNvSpPr>
          <p:nvPr>
            <p:ph type="subTitle" idx="1"/>
          </p:nvPr>
        </p:nvSpPr>
        <p:spPr>
          <a:xfrm>
            <a:off x="838202" y="5110609"/>
            <a:ext cx="6705599" cy="1137793"/>
          </a:xfrm>
        </p:spPr>
        <p:txBody>
          <a:bodyPr>
            <a:normAutofit/>
          </a:bodyPr>
          <a:lstStyle/>
          <a:p>
            <a:pPr marL="285750" indent="-285750">
              <a:lnSpc>
                <a:spcPct val="140000"/>
              </a:lnSpc>
              <a:buFont typeface="Arial" panose="020B0604020202020204" pitchFamily="34" charset="0"/>
              <a:buChar char="•"/>
            </a:pPr>
            <a:r>
              <a:rPr lang="es-CL" sz="2400" noProof="0" dirty="0"/>
              <a:t>Análisis Vertical.</a:t>
            </a:r>
          </a:p>
          <a:p>
            <a:pPr marL="285750" indent="-285750">
              <a:lnSpc>
                <a:spcPct val="140000"/>
              </a:lnSpc>
              <a:buFont typeface="Arial" panose="020B0604020202020204" pitchFamily="34" charset="0"/>
              <a:buChar char="•"/>
            </a:pPr>
            <a:r>
              <a:rPr lang="es-CL" sz="2400" noProof="0" dirty="0"/>
              <a:t>Análisis horizontal.</a:t>
            </a:r>
          </a:p>
        </p:txBody>
      </p:sp>
    </p:spTree>
    <p:extLst>
      <p:ext uri="{BB962C8B-B14F-4D97-AF65-F5344CB8AC3E}">
        <p14:creationId xmlns:p14="http://schemas.microsoft.com/office/powerpoint/2010/main" val="6568728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E4C0E9-6E07-3CCC-1F4C-2B5051E0415F}"/>
              </a:ext>
            </a:extLst>
          </p:cNvPr>
          <p:cNvSpPr>
            <a:spLocks noGrp="1"/>
          </p:cNvSpPr>
          <p:nvPr>
            <p:ph type="title"/>
          </p:nvPr>
        </p:nvSpPr>
        <p:spPr/>
        <p:txBody>
          <a:bodyPr/>
          <a:lstStyle/>
          <a:p>
            <a:r>
              <a:rPr lang="es-CL" noProof="0" dirty="0"/>
              <a:t>Análisis Vertical y Horizontal</a:t>
            </a:r>
          </a:p>
        </p:txBody>
      </p:sp>
      <p:sp>
        <p:nvSpPr>
          <p:cNvPr id="3" name="Marcador de contenido 2">
            <a:extLst>
              <a:ext uri="{FF2B5EF4-FFF2-40B4-BE49-F238E27FC236}">
                <a16:creationId xmlns:a16="http://schemas.microsoft.com/office/drawing/2014/main" id="{5B4FAC98-7DD5-F8D7-CEEC-C60B9845FDEA}"/>
              </a:ext>
            </a:extLst>
          </p:cNvPr>
          <p:cNvSpPr>
            <a:spLocks noGrp="1"/>
          </p:cNvSpPr>
          <p:nvPr>
            <p:ph idx="1"/>
          </p:nvPr>
        </p:nvSpPr>
        <p:spPr/>
        <p:txBody>
          <a:bodyPr/>
          <a:lstStyle/>
          <a:p>
            <a:r>
              <a:rPr lang="es-CL" noProof="0" dirty="0"/>
              <a:t>Análisis Vertical</a:t>
            </a:r>
          </a:p>
          <a:p>
            <a:r>
              <a:rPr lang="es-CL" noProof="0" dirty="0"/>
              <a:t>Para el caso de Balance se debe tomar como base el total de activos y el total de pasivo + patrimonio y se transforman todas las partidas en porcentaje.</a:t>
            </a:r>
          </a:p>
          <a:p>
            <a:r>
              <a:rPr lang="es-CL" noProof="0" dirty="0"/>
              <a:t>Para el estado de resultado se toman como base las ventas y se transforman todas las partidas en porcentaje.,</a:t>
            </a:r>
          </a:p>
          <a:p>
            <a:endParaRPr lang="es-CL" noProof="0" dirty="0"/>
          </a:p>
        </p:txBody>
      </p:sp>
      <p:sp>
        <p:nvSpPr>
          <p:cNvPr id="4" name="Marcador de contenido 2">
            <a:extLst>
              <a:ext uri="{FF2B5EF4-FFF2-40B4-BE49-F238E27FC236}">
                <a16:creationId xmlns:a16="http://schemas.microsoft.com/office/drawing/2014/main" id="{E4ECC96C-C03C-0899-D7B9-FD66BB6E0CBC}"/>
              </a:ext>
            </a:extLst>
          </p:cNvPr>
          <p:cNvSpPr txBox="1">
            <a:spLocks/>
          </p:cNvSpPr>
          <p:nvPr/>
        </p:nvSpPr>
        <p:spPr>
          <a:xfrm>
            <a:off x="5840393" y="1825625"/>
            <a:ext cx="4167753" cy="4351338"/>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s-CL" noProof="0" dirty="0"/>
              <a:t>Análisis Horizontal</a:t>
            </a:r>
          </a:p>
          <a:p>
            <a:r>
              <a:rPr lang="es-CL" noProof="0" dirty="0"/>
              <a:t>Para el caso de Balance y del estado de resultado y se determina la variación porcentual entre el año más antiguo y el siguiente.</a:t>
            </a:r>
          </a:p>
        </p:txBody>
      </p:sp>
    </p:spTree>
    <p:extLst>
      <p:ext uri="{BB962C8B-B14F-4D97-AF65-F5344CB8AC3E}">
        <p14:creationId xmlns:p14="http://schemas.microsoft.com/office/powerpoint/2010/main" val="34860962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0B30C8-03A8-BD7B-3DC9-6E1F059091BB}"/>
              </a:ext>
            </a:extLst>
          </p:cNvPr>
          <p:cNvSpPr>
            <a:spLocks noGrp="1"/>
          </p:cNvSpPr>
          <p:nvPr>
            <p:ph type="title"/>
          </p:nvPr>
        </p:nvSpPr>
        <p:spPr/>
        <p:txBody>
          <a:bodyPr/>
          <a:lstStyle/>
          <a:p>
            <a:r>
              <a:rPr lang="es-CL" noProof="0" dirty="0"/>
              <a:t>Formulas de cálculo Análisis Vertical</a:t>
            </a:r>
          </a:p>
        </p:txBody>
      </p:sp>
      <p:sp>
        <p:nvSpPr>
          <p:cNvPr id="3" name="Marcador de contenido 2">
            <a:extLst>
              <a:ext uri="{FF2B5EF4-FFF2-40B4-BE49-F238E27FC236}">
                <a16:creationId xmlns:a16="http://schemas.microsoft.com/office/drawing/2014/main" id="{419136A9-4E44-6CE2-0604-EC37931BCB93}"/>
              </a:ext>
            </a:extLst>
          </p:cNvPr>
          <p:cNvSpPr>
            <a:spLocks noGrp="1"/>
          </p:cNvSpPr>
          <p:nvPr>
            <p:ph idx="1"/>
          </p:nvPr>
        </p:nvSpPr>
        <p:spPr/>
        <p:txBody>
          <a:bodyPr/>
          <a:lstStyle/>
          <a:p>
            <a:r>
              <a:rPr lang="es-CL" b="1" noProof="0" dirty="0"/>
              <a:t>Balance</a:t>
            </a:r>
            <a:r>
              <a:rPr lang="es-CL" noProof="0" dirty="0"/>
              <a:t>. Análisis vertical</a:t>
            </a:r>
          </a:p>
          <a:p>
            <a:r>
              <a:rPr lang="es-CL" noProof="0" dirty="0"/>
              <a:t>Supongamos que tenemos la partida caja:</a:t>
            </a:r>
          </a:p>
          <a:p>
            <a:r>
              <a:rPr lang="es-CL" noProof="0" dirty="0"/>
              <a:t>$10.000</a:t>
            </a:r>
          </a:p>
          <a:p>
            <a:r>
              <a:rPr lang="es-CL" noProof="0" dirty="0"/>
              <a:t>Y el total de activos es de:</a:t>
            </a:r>
          </a:p>
          <a:p>
            <a:r>
              <a:rPr lang="es-CL" noProof="0" dirty="0"/>
              <a:t>$120.000</a:t>
            </a:r>
          </a:p>
          <a:p>
            <a:r>
              <a:rPr lang="es-CL" noProof="0" dirty="0"/>
              <a:t>Dividimos </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0C3A8949-A3DE-5CCD-73EF-00633D055546}"/>
                  </a:ext>
                </a:extLst>
              </p:cNvPr>
              <p:cNvSpPr txBox="1"/>
              <p:nvPr/>
            </p:nvSpPr>
            <p:spPr>
              <a:xfrm>
                <a:off x="2391855" y="4789604"/>
                <a:ext cx="2465996" cy="393441"/>
              </a:xfrm>
              <a:prstGeom prst="rect">
                <a:avLst/>
              </a:prstGeom>
              <a:noFill/>
            </p:spPr>
            <p:txBody>
              <a:bodyPr wrap="none" lIns="0" tIns="0" rIns="0" bIns="0" rtlCol="0">
                <a:spAutoFit/>
              </a:bodyPr>
              <a:lstStyle/>
              <a:p>
                <a14:m>
                  <m:oMath xmlns:m="http://schemas.openxmlformats.org/officeDocument/2006/math">
                    <m:r>
                      <a:rPr lang="es-CL" i="1" noProof="0" smtClean="0">
                        <a:latin typeface="Cambria Math" panose="02040503050406030204" pitchFamily="18" charset="0"/>
                      </a:rPr>
                      <m:t>=</m:t>
                    </m:r>
                    <m:f>
                      <m:fPr>
                        <m:ctrlPr>
                          <a:rPr lang="es-CL" b="0" i="1" noProof="0" smtClean="0">
                            <a:latin typeface="Cambria Math" panose="02040503050406030204" pitchFamily="18" charset="0"/>
                          </a:rPr>
                        </m:ctrlPr>
                      </m:fPr>
                      <m:num>
                        <m:r>
                          <a:rPr lang="es-CL" b="0" i="1" noProof="0" smtClean="0">
                            <a:latin typeface="Cambria Math" panose="02040503050406030204" pitchFamily="18" charset="0"/>
                          </a:rPr>
                          <m:t>10.000</m:t>
                        </m:r>
                      </m:num>
                      <m:den>
                        <m:r>
                          <a:rPr lang="es-CL" b="0" i="1" noProof="0" smtClean="0">
                            <a:latin typeface="Cambria Math" panose="02040503050406030204" pitchFamily="18" charset="0"/>
                          </a:rPr>
                          <m:t>120.000</m:t>
                        </m:r>
                      </m:den>
                    </m:f>
                    <m:r>
                      <a:rPr lang="es-CL" b="0" i="1" noProof="0" smtClean="0">
                        <a:latin typeface="Cambria Math" panose="02040503050406030204" pitchFamily="18" charset="0"/>
                      </a:rPr>
                      <m:t>𝑥</m:t>
                    </m:r>
                    <m:r>
                      <a:rPr lang="es-CL" b="0" i="1" noProof="0" smtClean="0">
                        <a:latin typeface="Cambria Math" panose="02040503050406030204" pitchFamily="18" charset="0"/>
                      </a:rPr>
                      <m:t> 100=8,33%</m:t>
                    </m:r>
                  </m:oMath>
                </a14:m>
                <a:r>
                  <a:rPr lang="es-CL" noProof="0" dirty="0"/>
                  <a:t> </a:t>
                </a:r>
              </a:p>
            </p:txBody>
          </p:sp>
        </mc:Choice>
        <mc:Fallback xmlns="">
          <p:sp>
            <p:nvSpPr>
              <p:cNvPr id="4" name="CuadroTexto 3">
                <a:extLst>
                  <a:ext uri="{FF2B5EF4-FFF2-40B4-BE49-F238E27FC236}">
                    <a16:creationId xmlns:a16="http://schemas.microsoft.com/office/drawing/2014/main" id="{0C3A8949-A3DE-5CCD-73EF-00633D055546}"/>
                  </a:ext>
                </a:extLst>
              </p:cNvPr>
              <p:cNvSpPr txBox="1">
                <a:spLocks noRot="1" noChangeAspect="1" noMove="1" noResize="1" noEditPoints="1" noAdjustHandles="1" noChangeArrowheads="1" noChangeShapeType="1" noTextEdit="1"/>
              </p:cNvSpPr>
              <p:nvPr/>
            </p:nvSpPr>
            <p:spPr>
              <a:xfrm>
                <a:off x="2391855" y="4789604"/>
                <a:ext cx="2465996" cy="393441"/>
              </a:xfrm>
              <a:prstGeom prst="rect">
                <a:avLst/>
              </a:prstGeom>
              <a:blipFill>
                <a:blip r:embed="rId2"/>
                <a:stretch>
                  <a:fillRect l="-1975" r="-247" b="-14063"/>
                </a:stretch>
              </a:blipFill>
            </p:spPr>
            <p:txBody>
              <a:bodyPr/>
              <a:lstStyle/>
              <a:p>
                <a:r>
                  <a:rPr lang="es-CL">
                    <a:noFill/>
                  </a:rPr>
                  <a:t> </a:t>
                </a:r>
              </a:p>
            </p:txBody>
          </p:sp>
        </mc:Fallback>
      </mc:AlternateContent>
      <p:sp>
        <p:nvSpPr>
          <p:cNvPr id="5" name="Marcador de contenido 2">
            <a:extLst>
              <a:ext uri="{FF2B5EF4-FFF2-40B4-BE49-F238E27FC236}">
                <a16:creationId xmlns:a16="http://schemas.microsoft.com/office/drawing/2014/main" id="{A2EB4FF4-2956-BEE7-9860-8675D05D8DE0}"/>
              </a:ext>
            </a:extLst>
          </p:cNvPr>
          <p:cNvSpPr txBox="1">
            <a:spLocks/>
          </p:cNvSpPr>
          <p:nvPr/>
        </p:nvSpPr>
        <p:spPr>
          <a:xfrm>
            <a:off x="5979117" y="1825625"/>
            <a:ext cx="4167753" cy="4351338"/>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s-CL" b="1" noProof="0" dirty="0"/>
              <a:t>Estado de resultado</a:t>
            </a:r>
            <a:r>
              <a:rPr lang="es-CL" noProof="0" dirty="0"/>
              <a:t>. Análisis vertical</a:t>
            </a:r>
          </a:p>
          <a:p>
            <a:r>
              <a:rPr lang="es-CL" noProof="0" dirty="0"/>
              <a:t>Supongamos que tenemos la partida el costo de ventas es:</a:t>
            </a:r>
          </a:p>
          <a:p>
            <a:r>
              <a:rPr lang="es-CL" noProof="0" dirty="0"/>
              <a:t>$80.000</a:t>
            </a:r>
          </a:p>
          <a:p>
            <a:r>
              <a:rPr lang="es-CL" noProof="0" dirty="0"/>
              <a:t>Y las ventas son:</a:t>
            </a:r>
          </a:p>
          <a:p>
            <a:r>
              <a:rPr lang="es-CL" noProof="0" dirty="0"/>
              <a:t>$200.000</a:t>
            </a:r>
          </a:p>
          <a:p>
            <a:r>
              <a:rPr lang="es-CL" noProof="0" dirty="0"/>
              <a:t>Dividimos </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0A46D30-2980-5F1D-0BC4-9B3DDA8F6F53}"/>
                  </a:ext>
                </a:extLst>
              </p:cNvPr>
              <p:cNvSpPr txBox="1"/>
              <p:nvPr/>
            </p:nvSpPr>
            <p:spPr>
              <a:xfrm>
                <a:off x="7556093" y="5183045"/>
                <a:ext cx="2289666" cy="393441"/>
              </a:xfrm>
              <a:prstGeom prst="rect">
                <a:avLst/>
              </a:prstGeom>
              <a:noFill/>
            </p:spPr>
            <p:txBody>
              <a:bodyPr wrap="none" lIns="0" tIns="0" rIns="0" bIns="0" rtlCol="0">
                <a:spAutoFit/>
              </a:bodyPr>
              <a:lstStyle/>
              <a:p>
                <a14:m>
                  <m:oMath xmlns:m="http://schemas.openxmlformats.org/officeDocument/2006/math">
                    <m:r>
                      <a:rPr lang="es-CL" i="1" noProof="0" smtClean="0">
                        <a:latin typeface="Cambria Math" panose="02040503050406030204" pitchFamily="18" charset="0"/>
                      </a:rPr>
                      <m:t>=</m:t>
                    </m:r>
                    <m:f>
                      <m:fPr>
                        <m:ctrlPr>
                          <a:rPr lang="es-CL" b="0" i="1" noProof="0" smtClean="0">
                            <a:latin typeface="Cambria Math" panose="02040503050406030204" pitchFamily="18" charset="0"/>
                          </a:rPr>
                        </m:ctrlPr>
                      </m:fPr>
                      <m:num>
                        <m:r>
                          <a:rPr lang="es-CL" b="0" i="1" noProof="0" smtClean="0">
                            <a:latin typeface="Cambria Math" panose="02040503050406030204" pitchFamily="18" charset="0"/>
                          </a:rPr>
                          <m:t>80.000</m:t>
                        </m:r>
                      </m:num>
                      <m:den>
                        <m:r>
                          <a:rPr lang="es-CL" b="0" i="1" noProof="0" smtClean="0">
                            <a:latin typeface="Cambria Math" panose="02040503050406030204" pitchFamily="18" charset="0"/>
                          </a:rPr>
                          <m:t>200.000</m:t>
                        </m:r>
                      </m:den>
                    </m:f>
                    <m:r>
                      <a:rPr lang="es-CL" b="0" i="1" noProof="0" smtClean="0">
                        <a:latin typeface="Cambria Math" panose="02040503050406030204" pitchFamily="18" charset="0"/>
                      </a:rPr>
                      <m:t>𝑥</m:t>
                    </m:r>
                    <m:r>
                      <a:rPr lang="es-CL" b="0" i="1" noProof="0" smtClean="0">
                        <a:latin typeface="Cambria Math" panose="02040503050406030204" pitchFamily="18" charset="0"/>
                      </a:rPr>
                      <m:t> 100=40%</m:t>
                    </m:r>
                  </m:oMath>
                </a14:m>
                <a:r>
                  <a:rPr lang="es-CL" noProof="0" dirty="0"/>
                  <a:t> </a:t>
                </a:r>
              </a:p>
            </p:txBody>
          </p:sp>
        </mc:Choice>
        <mc:Fallback xmlns="">
          <p:sp>
            <p:nvSpPr>
              <p:cNvPr id="6" name="CuadroTexto 5">
                <a:extLst>
                  <a:ext uri="{FF2B5EF4-FFF2-40B4-BE49-F238E27FC236}">
                    <a16:creationId xmlns:a16="http://schemas.microsoft.com/office/drawing/2014/main" id="{40A46D30-2980-5F1D-0BC4-9B3DDA8F6F53}"/>
                  </a:ext>
                </a:extLst>
              </p:cNvPr>
              <p:cNvSpPr txBox="1">
                <a:spLocks noRot="1" noChangeAspect="1" noMove="1" noResize="1" noEditPoints="1" noAdjustHandles="1" noChangeArrowheads="1" noChangeShapeType="1" noTextEdit="1"/>
              </p:cNvSpPr>
              <p:nvPr/>
            </p:nvSpPr>
            <p:spPr>
              <a:xfrm>
                <a:off x="7556093" y="5183045"/>
                <a:ext cx="2289666" cy="393441"/>
              </a:xfrm>
              <a:prstGeom prst="rect">
                <a:avLst/>
              </a:prstGeom>
              <a:blipFill>
                <a:blip r:embed="rId3"/>
                <a:stretch>
                  <a:fillRect l="-2400" r="-533" b="-12308"/>
                </a:stretch>
              </a:blipFill>
            </p:spPr>
            <p:txBody>
              <a:bodyPr/>
              <a:lstStyle/>
              <a:p>
                <a:r>
                  <a:rPr lang="es-CL">
                    <a:noFill/>
                  </a:rPr>
                  <a:t> </a:t>
                </a:r>
              </a:p>
            </p:txBody>
          </p:sp>
        </mc:Fallback>
      </mc:AlternateContent>
    </p:spTree>
    <p:extLst>
      <p:ext uri="{BB962C8B-B14F-4D97-AF65-F5344CB8AC3E}">
        <p14:creationId xmlns:p14="http://schemas.microsoft.com/office/powerpoint/2010/main" val="3509143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DDDF-CF9E-12F4-358D-6CFF7DAF54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7D85BB-676D-E794-F5B6-8D0A82D6F363}"/>
              </a:ext>
            </a:extLst>
          </p:cNvPr>
          <p:cNvSpPr>
            <a:spLocks noGrp="1"/>
          </p:cNvSpPr>
          <p:nvPr>
            <p:ph type="title"/>
          </p:nvPr>
        </p:nvSpPr>
        <p:spPr/>
        <p:txBody>
          <a:bodyPr/>
          <a:lstStyle/>
          <a:p>
            <a:r>
              <a:rPr lang="es-CL" noProof="0" dirty="0"/>
              <a:t>Formulas de cálculo Análisis Horizontal</a:t>
            </a:r>
          </a:p>
        </p:txBody>
      </p:sp>
      <p:sp>
        <p:nvSpPr>
          <p:cNvPr id="3" name="Marcador de contenido 2">
            <a:extLst>
              <a:ext uri="{FF2B5EF4-FFF2-40B4-BE49-F238E27FC236}">
                <a16:creationId xmlns:a16="http://schemas.microsoft.com/office/drawing/2014/main" id="{9525FE32-F9D2-9C17-C16B-9E6ACF66FCA8}"/>
              </a:ext>
            </a:extLst>
          </p:cNvPr>
          <p:cNvSpPr>
            <a:spLocks noGrp="1"/>
          </p:cNvSpPr>
          <p:nvPr>
            <p:ph idx="1"/>
          </p:nvPr>
        </p:nvSpPr>
        <p:spPr>
          <a:xfrm>
            <a:off x="699305" y="1845599"/>
            <a:ext cx="4659773" cy="4351338"/>
          </a:xfrm>
        </p:spPr>
        <p:txBody>
          <a:bodyPr>
            <a:normAutofit/>
          </a:bodyPr>
          <a:lstStyle/>
          <a:p>
            <a:r>
              <a:rPr lang="es-CL" noProof="0" dirty="0"/>
              <a:t>Balance. Análisis Horizontal</a:t>
            </a:r>
          </a:p>
          <a:p>
            <a:r>
              <a:rPr lang="es-CL" noProof="0" dirty="0"/>
              <a:t>Supongamos que tenemos la partida caja:</a:t>
            </a:r>
          </a:p>
          <a:p>
            <a:r>
              <a:rPr lang="es-CL" noProof="0" dirty="0"/>
              <a:t>año 1: $150.000</a:t>
            </a:r>
          </a:p>
          <a:p>
            <a:r>
              <a:rPr lang="es-CL" noProof="0" dirty="0"/>
              <a:t>Año 2: $230.000</a:t>
            </a:r>
          </a:p>
          <a:p>
            <a:r>
              <a:rPr lang="es-CL" noProof="0" dirty="0"/>
              <a:t>La Variación porcentual =</a:t>
            </a:r>
          </a:p>
          <a:p>
            <a:r>
              <a:rPr lang="es-CL" noProof="0" dirty="0"/>
              <a:t>Calculamos</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74162B96-89ED-7C41-628B-B9885D2525EB}"/>
                  </a:ext>
                </a:extLst>
              </p:cNvPr>
              <p:cNvSpPr txBox="1"/>
              <p:nvPr/>
            </p:nvSpPr>
            <p:spPr>
              <a:xfrm>
                <a:off x="1986742" y="4768508"/>
                <a:ext cx="3275833" cy="414537"/>
              </a:xfrm>
              <a:prstGeom prst="rect">
                <a:avLst/>
              </a:prstGeom>
              <a:noFill/>
            </p:spPr>
            <p:txBody>
              <a:bodyPr wrap="none" lIns="0" tIns="0" rIns="0" bIns="0" rtlCol="0">
                <a:spAutoFit/>
              </a:bodyPr>
              <a:lstStyle/>
              <a:p>
                <a14:m>
                  <m:oMath xmlns:m="http://schemas.openxmlformats.org/officeDocument/2006/math">
                    <m:r>
                      <a:rPr lang="es-CL" i="1" noProof="0" smtClean="0">
                        <a:latin typeface="Cambria Math" panose="02040503050406030204" pitchFamily="18" charset="0"/>
                      </a:rPr>
                      <m:t>=</m:t>
                    </m:r>
                    <m:d>
                      <m:dPr>
                        <m:ctrlPr>
                          <a:rPr lang="es-CL" b="0" i="1" noProof="0" smtClean="0">
                            <a:latin typeface="Cambria Math" panose="02040503050406030204" pitchFamily="18" charset="0"/>
                          </a:rPr>
                        </m:ctrlPr>
                      </m:dPr>
                      <m:e>
                        <m:f>
                          <m:fPr>
                            <m:ctrlPr>
                              <a:rPr lang="es-CL" b="0" i="1" noProof="0" smtClean="0">
                                <a:latin typeface="Cambria Math" panose="02040503050406030204" pitchFamily="18" charset="0"/>
                              </a:rPr>
                            </m:ctrlPr>
                          </m:fPr>
                          <m:num>
                            <m:r>
                              <a:rPr lang="es-CL" b="0" i="1" noProof="0" smtClean="0">
                                <a:latin typeface="Cambria Math" panose="02040503050406030204" pitchFamily="18" charset="0"/>
                              </a:rPr>
                              <m:t>230.000</m:t>
                            </m:r>
                          </m:num>
                          <m:den>
                            <m:r>
                              <a:rPr lang="es-CL" b="0" i="1" noProof="0" smtClean="0">
                                <a:latin typeface="Cambria Math" panose="02040503050406030204" pitchFamily="18" charset="0"/>
                              </a:rPr>
                              <m:t>150.000</m:t>
                            </m:r>
                          </m:den>
                        </m:f>
                        <m:r>
                          <a:rPr lang="es-CL" b="0" i="1" noProof="0" smtClean="0">
                            <a:latin typeface="Cambria Math" panose="02040503050406030204" pitchFamily="18" charset="0"/>
                          </a:rPr>
                          <m:t>−1 </m:t>
                        </m:r>
                      </m:e>
                    </m:d>
                    <m:r>
                      <a:rPr lang="es-CL" b="0" i="1" noProof="0" smtClean="0">
                        <a:latin typeface="Cambria Math" panose="02040503050406030204" pitchFamily="18" charset="0"/>
                      </a:rPr>
                      <m:t>𝑥</m:t>
                    </m:r>
                    <m:r>
                      <a:rPr lang="es-CL" b="0" i="1" noProof="0" smtClean="0">
                        <a:latin typeface="Cambria Math" panose="02040503050406030204" pitchFamily="18" charset="0"/>
                      </a:rPr>
                      <m:t> 100=53,33%</m:t>
                    </m:r>
                  </m:oMath>
                </a14:m>
                <a:r>
                  <a:rPr lang="es-CL" noProof="0" dirty="0"/>
                  <a:t> </a:t>
                </a:r>
              </a:p>
            </p:txBody>
          </p:sp>
        </mc:Choice>
        <mc:Fallback xmlns="">
          <p:sp>
            <p:nvSpPr>
              <p:cNvPr id="4" name="CuadroTexto 3">
                <a:extLst>
                  <a:ext uri="{FF2B5EF4-FFF2-40B4-BE49-F238E27FC236}">
                    <a16:creationId xmlns:a16="http://schemas.microsoft.com/office/drawing/2014/main" id="{74162B96-89ED-7C41-628B-B9885D2525EB}"/>
                  </a:ext>
                </a:extLst>
              </p:cNvPr>
              <p:cNvSpPr txBox="1">
                <a:spLocks noRot="1" noChangeAspect="1" noMove="1" noResize="1" noEditPoints="1" noAdjustHandles="1" noChangeArrowheads="1" noChangeShapeType="1" noTextEdit="1"/>
              </p:cNvSpPr>
              <p:nvPr/>
            </p:nvSpPr>
            <p:spPr>
              <a:xfrm>
                <a:off x="1986742" y="4768508"/>
                <a:ext cx="3275833" cy="414537"/>
              </a:xfrm>
              <a:prstGeom prst="rect">
                <a:avLst/>
              </a:prstGeom>
              <a:blipFill>
                <a:blip r:embed="rId2"/>
                <a:stretch>
                  <a:fillRect l="-1676" b="-11765"/>
                </a:stretch>
              </a:blipFill>
            </p:spPr>
            <p:txBody>
              <a:bodyPr/>
              <a:lstStyle/>
              <a:p>
                <a:r>
                  <a:rPr lang="es-CL">
                    <a:noFill/>
                  </a:rPr>
                  <a:t> </a:t>
                </a:r>
              </a:p>
            </p:txBody>
          </p:sp>
        </mc:Fallback>
      </mc:AlternateContent>
      <p:sp>
        <p:nvSpPr>
          <p:cNvPr id="5" name="Marcador de contenido 2">
            <a:extLst>
              <a:ext uri="{FF2B5EF4-FFF2-40B4-BE49-F238E27FC236}">
                <a16:creationId xmlns:a16="http://schemas.microsoft.com/office/drawing/2014/main" id="{043CEBDF-2D21-589E-C714-64BC1E4186F9}"/>
              </a:ext>
            </a:extLst>
          </p:cNvPr>
          <p:cNvSpPr txBox="1">
            <a:spLocks/>
          </p:cNvSpPr>
          <p:nvPr/>
        </p:nvSpPr>
        <p:spPr>
          <a:xfrm>
            <a:off x="7032413" y="1845599"/>
            <a:ext cx="4167753" cy="4351338"/>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s-CL" noProof="0" dirty="0"/>
              <a:t>Estado de resultado. Análisis Horizontal</a:t>
            </a:r>
          </a:p>
          <a:p>
            <a:r>
              <a:rPr lang="es-CL" noProof="0" dirty="0"/>
              <a:t>Supongamos que tenemos la partida el costo de ventas es:</a:t>
            </a:r>
          </a:p>
          <a:p>
            <a:r>
              <a:rPr lang="es-CL" noProof="0" dirty="0"/>
              <a:t>Año 1: $180.000</a:t>
            </a:r>
          </a:p>
          <a:p>
            <a:r>
              <a:rPr lang="es-CL" noProof="0" dirty="0"/>
              <a:t>Año 2: $ 200.000</a:t>
            </a:r>
          </a:p>
          <a:p>
            <a:r>
              <a:rPr lang="es-CL" noProof="0" dirty="0"/>
              <a:t>Calculamos</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B6D7070-1D06-0B8A-7AAD-C3254743205B}"/>
                  </a:ext>
                </a:extLst>
              </p:cNvPr>
              <p:cNvSpPr txBox="1"/>
              <p:nvPr/>
            </p:nvSpPr>
            <p:spPr>
              <a:xfrm>
                <a:off x="8331598" y="4561239"/>
                <a:ext cx="3275833" cy="414537"/>
              </a:xfrm>
              <a:prstGeom prst="rect">
                <a:avLst/>
              </a:prstGeom>
              <a:noFill/>
            </p:spPr>
            <p:txBody>
              <a:bodyPr wrap="none" lIns="0" tIns="0" rIns="0" bIns="0" rtlCol="0">
                <a:spAutoFit/>
              </a:bodyPr>
              <a:lstStyle/>
              <a:p>
                <a14:m>
                  <m:oMath xmlns:m="http://schemas.openxmlformats.org/officeDocument/2006/math">
                    <m:r>
                      <a:rPr lang="es-CL" i="1" noProof="0" smtClean="0">
                        <a:latin typeface="Cambria Math" panose="02040503050406030204" pitchFamily="18" charset="0"/>
                      </a:rPr>
                      <m:t>=</m:t>
                    </m:r>
                    <m:d>
                      <m:dPr>
                        <m:ctrlPr>
                          <a:rPr lang="es-CL" b="0" i="1" noProof="0" smtClean="0">
                            <a:latin typeface="Cambria Math" panose="02040503050406030204" pitchFamily="18" charset="0"/>
                          </a:rPr>
                        </m:ctrlPr>
                      </m:dPr>
                      <m:e>
                        <m:f>
                          <m:fPr>
                            <m:ctrlPr>
                              <a:rPr lang="es-CL" b="0" i="1" noProof="0" smtClean="0">
                                <a:latin typeface="Cambria Math" panose="02040503050406030204" pitchFamily="18" charset="0"/>
                              </a:rPr>
                            </m:ctrlPr>
                          </m:fPr>
                          <m:num>
                            <m:r>
                              <a:rPr lang="es-CL" b="0" i="1" noProof="0" smtClean="0">
                                <a:latin typeface="Cambria Math" panose="02040503050406030204" pitchFamily="18" charset="0"/>
                              </a:rPr>
                              <m:t>200.000</m:t>
                            </m:r>
                          </m:num>
                          <m:den>
                            <m:r>
                              <a:rPr lang="es-CL" b="0" i="1" noProof="0" smtClean="0">
                                <a:latin typeface="Cambria Math" panose="02040503050406030204" pitchFamily="18" charset="0"/>
                              </a:rPr>
                              <m:t>180.000</m:t>
                            </m:r>
                          </m:den>
                        </m:f>
                        <m:r>
                          <a:rPr lang="es-CL" b="0" i="1" noProof="0" smtClean="0">
                            <a:latin typeface="Cambria Math" panose="02040503050406030204" pitchFamily="18" charset="0"/>
                          </a:rPr>
                          <m:t>−1 </m:t>
                        </m:r>
                      </m:e>
                    </m:d>
                    <m:r>
                      <a:rPr lang="es-CL" b="0" i="1" noProof="0" smtClean="0">
                        <a:latin typeface="Cambria Math" panose="02040503050406030204" pitchFamily="18" charset="0"/>
                      </a:rPr>
                      <m:t>𝑥</m:t>
                    </m:r>
                    <m:r>
                      <a:rPr lang="es-CL" b="0" i="1" noProof="0" smtClean="0">
                        <a:latin typeface="Cambria Math" panose="02040503050406030204" pitchFamily="18" charset="0"/>
                      </a:rPr>
                      <m:t> 100=11,11%</m:t>
                    </m:r>
                  </m:oMath>
                </a14:m>
                <a:r>
                  <a:rPr lang="es-CL" noProof="0" dirty="0"/>
                  <a:t> </a:t>
                </a:r>
              </a:p>
            </p:txBody>
          </p:sp>
        </mc:Choice>
        <mc:Fallback xmlns="">
          <p:sp>
            <p:nvSpPr>
              <p:cNvPr id="8" name="CuadroTexto 7">
                <a:extLst>
                  <a:ext uri="{FF2B5EF4-FFF2-40B4-BE49-F238E27FC236}">
                    <a16:creationId xmlns:a16="http://schemas.microsoft.com/office/drawing/2014/main" id="{BB6D7070-1D06-0B8A-7AAD-C3254743205B}"/>
                  </a:ext>
                </a:extLst>
              </p:cNvPr>
              <p:cNvSpPr txBox="1">
                <a:spLocks noRot="1" noChangeAspect="1" noMove="1" noResize="1" noEditPoints="1" noAdjustHandles="1" noChangeArrowheads="1" noChangeShapeType="1" noTextEdit="1"/>
              </p:cNvSpPr>
              <p:nvPr/>
            </p:nvSpPr>
            <p:spPr>
              <a:xfrm>
                <a:off x="8331598" y="4561239"/>
                <a:ext cx="3275833" cy="414537"/>
              </a:xfrm>
              <a:prstGeom prst="rect">
                <a:avLst/>
              </a:prstGeom>
              <a:blipFill>
                <a:blip r:embed="rId3"/>
                <a:stretch>
                  <a:fillRect l="-1676" b="-10294"/>
                </a:stretch>
              </a:blipFill>
            </p:spPr>
            <p:txBody>
              <a:bodyPr/>
              <a:lstStyle/>
              <a:p>
                <a:r>
                  <a:rPr lang="es-CL">
                    <a:noFill/>
                  </a:rPr>
                  <a:t> </a:t>
                </a:r>
              </a:p>
            </p:txBody>
          </p:sp>
        </mc:Fallback>
      </mc:AlternateContent>
    </p:spTree>
    <p:extLst>
      <p:ext uri="{BB962C8B-B14F-4D97-AF65-F5344CB8AC3E}">
        <p14:creationId xmlns:p14="http://schemas.microsoft.com/office/powerpoint/2010/main" val="35287040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D8B43-4417-2C9B-C31C-DEF6C81721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3DC9F6-20A3-7B0C-2C14-9467751EFD5D}"/>
              </a:ext>
            </a:extLst>
          </p:cNvPr>
          <p:cNvSpPr>
            <a:spLocks noGrp="1"/>
          </p:cNvSpPr>
          <p:nvPr>
            <p:ph type="title"/>
          </p:nvPr>
        </p:nvSpPr>
        <p:spPr/>
        <p:txBody>
          <a:bodyPr/>
          <a:lstStyle/>
          <a:p>
            <a:r>
              <a:rPr lang="es-CL" noProof="0" dirty="0"/>
              <a:t>Ejercicio en clases Análisis Vertical BALANCE</a:t>
            </a:r>
          </a:p>
        </p:txBody>
      </p:sp>
      <p:pic>
        <p:nvPicPr>
          <p:cNvPr id="4" name="Imagen 3">
            <a:extLst>
              <a:ext uri="{FF2B5EF4-FFF2-40B4-BE49-F238E27FC236}">
                <a16:creationId xmlns:a16="http://schemas.microsoft.com/office/drawing/2014/main" id="{2D2597FE-DD1D-56F7-410F-D369EB535416}"/>
              </a:ext>
            </a:extLst>
          </p:cNvPr>
          <p:cNvPicPr>
            <a:picLocks noChangeAspect="1"/>
          </p:cNvPicPr>
          <p:nvPr/>
        </p:nvPicPr>
        <p:blipFill>
          <a:blip r:embed="rId2"/>
          <a:stretch>
            <a:fillRect/>
          </a:stretch>
        </p:blipFill>
        <p:spPr>
          <a:xfrm>
            <a:off x="1863102" y="2004831"/>
            <a:ext cx="3056139" cy="3770759"/>
          </a:xfrm>
          <a:prstGeom prst="rect">
            <a:avLst/>
          </a:prstGeom>
        </p:spPr>
      </p:pic>
      <p:pic>
        <p:nvPicPr>
          <p:cNvPr id="5" name="Imagen 4">
            <a:extLst>
              <a:ext uri="{FF2B5EF4-FFF2-40B4-BE49-F238E27FC236}">
                <a16:creationId xmlns:a16="http://schemas.microsoft.com/office/drawing/2014/main" id="{B9EF8E91-CE8A-CAA9-BCC3-CF22109B1006}"/>
              </a:ext>
            </a:extLst>
          </p:cNvPr>
          <p:cNvPicPr>
            <a:picLocks noChangeAspect="1"/>
          </p:cNvPicPr>
          <p:nvPr/>
        </p:nvPicPr>
        <p:blipFill>
          <a:blip r:embed="rId3"/>
          <a:stretch>
            <a:fillRect/>
          </a:stretch>
        </p:blipFill>
        <p:spPr>
          <a:xfrm>
            <a:off x="5488028" y="2004832"/>
            <a:ext cx="3086548" cy="3770758"/>
          </a:xfrm>
          <a:prstGeom prst="rect">
            <a:avLst/>
          </a:prstGeom>
        </p:spPr>
      </p:pic>
    </p:spTree>
    <p:extLst>
      <p:ext uri="{BB962C8B-B14F-4D97-AF65-F5344CB8AC3E}">
        <p14:creationId xmlns:p14="http://schemas.microsoft.com/office/powerpoint/2010/main" val="13642191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CE7468-22CE-87B7-3E54-D8A3BFBF1A20}"/>
              </a:ext>
            </a:extLst>
          </p:cNvPr>
          <p:cNvSpPr>
            <a:spLocks noGrp="1"/>
          </p:cNvSpPr>
          <p:nvPr>
            <p:ph type="title"/>
          </p:nvPr>
        </p:nvSpPr>
        <p:spPr/>
        <p:txBody>
          <a:bodyPr/>
          <a:lstStyle/>
          <a:p>
            <a:r>
              <a:rPr lang="es-CL" noProof="0" dirty="0"/>
              <a:t>Ejercicio en clases Análisis Vertical Estado de Resultado</a:t>
            </a:r>
          </a:p>
        </p:txBody>
      </p:sp>
      <p:pic>
        <p:nvPicPr>
          <p:cNvPr id="6" name="Imagen 5">
            <a:extLst>
              <a:ext uri="{FF2B5EF4-FFF2-40B4-BE49-F238E27FC236}">
                <a16:creationId xmlns:a16="http://schemas.microsoft.com/office/drawing/2014/main" id="{97A11F16-1DAA-9473-66AC-C3C8AB6291F6}"/>
              </a:ext>
            </a:extLst>
          </p:cNvPr>
          <p:cNvPicPr>
            <a:picLocks noChangeAspect="1"/>
          </p:cNvPicPr>
          <p:nvPr/>
        </p:nvPicPr>
        <p:blipFill>
          <a:blip r:embed="rId2"/>
          <a:stretch>
            <a:fillRect/>
          </a:stretch>
        </p:blipFill>
        <p:spPr>
          <a:xfrm>
            <a:off x="4389120" y="1456113"/>
            <a:ext cx="3864176" cy="4466385"/>
          </a:xfrm>
          <a:prstGeom prst="rect">
            <a:avLst/>
          </a:prstGeom>
        </p:spPr>
      </p:pic>
    </p:spTree>
    <p:extLst>
      <p:ext uri="{BB962C8B-B14F-4D97-AF65-F5344CB8AC3E}">
        <p14:creationId xmlns:p14="http://schemas.microsoft.com/office/powerpoint/2010/main" val="24297461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D13BCD-2D47-DB68-F07E-543518F5FE46}"/>
              </a:ext>
            </a:extLst>
          </p:cNvPr>
          <p:cNvSpPr>
            <a:spLocks noGrp="1"/>
          </p:cNvSpPr>
          <p:nvPr>
            <p:ph type="title"/>
          </p:nvPr>
        </p:nvSpPr>
        <p:spPr/>
        <p:txBody>
          <a:bodyPr/>
          <a:lstStyle/>
          <a:p>
            <a:r>
              <a:rPr lang="es-CL" noProof="0" dirty="0"/>
              <a:t>Tarea Análisis vertical de Balance</a:t>
            </a:r>
          </a:p>
        </p:txBody>
      </p:sp>
      <p:pic>
        <p:nvPicPr>
          <p:cNvPr id="3" name="Imagen 2">
            <a:extLst>
              <a:ext uri="{FF2B5EF4-FFF2-40B4-BE49-F238E27FC236}">
                <a16:creationId xmlns:a16="http://schemas.microsoft.com/office/drawing/2014/main" id="{F5D94852-FE77-FBAB-4D2D-D87CA80B188F}"/>
              </a:ext>
            </a:extLst>
          </p:cNvPr>
          <p:cNvPicPr>
            <a:picLocks noChangeAspect="1"/>
          </p:cNvPicPr>
          <p:nvPr/>
        </p:nvPicPr>
        <p:blipFill>
          <a:blip r:embed="rId2"/>
          <a:stretch>
            <a:fillRect/>
          </a:stretch>
        </p:blipFill>
        <p:spPr>
          <a:xfrm>
            <a:off x="856165" y="1486201"/>
            <a:ext cx="4320746" cy="5195434"/>
          </a:xfrm>
          <a:prstGeom prst="rect">
            <a:avLst/>
          </a:prstGeom>
        </p:spPr>
      </p:pic>
    </p:spTree>
    <p:extLst>
      <p:ext uri="{BB962C8B-B14F-4D97-AF65-F5344CB8AC3E}">
        <p14:creationId xmlns:p14="http://schemas.microsoft.com/office/powerpoint/2010/main" val="35925179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2E9E8-E901-A9EA-58E0-8A77D50E34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77F217-9BE5-34C7-5D91-8A23C89B8672}"/>
              </a:ext>
            </a:extLst>
          </p:cNvPr>
          <p:cNvSpPr>
            <a:spLocks noGrp="1"/>
          </p:cNvSpPr>
          <p:nvPr>
            <p:ph type="title"/>
          </p:nvPr>
        </p:nvSpPr>
        <p:spPr/>
        <p:txBody>
          <a:bodyPr/>
          <a:lstStyle/>
          <a:p>
            <a:r>
              <a:rPr lang="es-CL" noProof="0" dirty="0"/>
              <a:t>Tarea Análisis vertical de Estado de Resultado</a:t>
            </a:r>
          </a:p>
        </p:txBody>
      </p:sp>
      <p:pic>
        <p:nvPicPr>
          <p:cNvPr id="4" name="Imagen 3">
            <a:extLst>
              <a:ext uri="{FF2B5EF4-FFF2-40B4-BE49-F238E27FC236}">
                <a16:creationId xmlns:a16="http://schemas.microsoft.com/office/drawing/2014/main" id="{DAC135FA-DA90-5C9B-C3A9-1A16AF758A08}"/>
              </a:ext>
            </a:extLst>
          </p:cNvPr>
          <p:cNvPicPr>
            <a:picLocks noChangeAspect="1"/>
          </p:cNvPicPr>
          <p:nvPr/>
        </p:nvPicPr>
        <p:blipFill>
          <a:blip r:embed="rId2"/>
          <a:stretch>
            <a:fillRect/>
          </a:stretch>
        </p:blipFill>
        <p:spPr>
          <a:xfrm>
            <a:off x="2344395" y="2195512"/>
            <a:ext cx="6478864" cy="4092746"/>
          </a:xfrm>
          <a:prstGeom prst="rect">
            <a:avLst/>
          </a:prstGeom>
        </p:spPr>
      </p:pic>
    </p:spTree>
    <p:extLst>
      <p:ext uri="{BB962C8B-B14F-4D97-AF65-F5344CB8AC3E}">
        <p14:creationId xmlns:p14="http://schemas.microsoft.com/office/powerpoint/2010/main" val="29849278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D88784-8978-2AE7-E0E9-6E5A797CE840}"/>
              </a:ext>
            </a:extLst>
          </p:cNvPr>
          <p:cNvSpPr>
            <a:spLocks noGrp="1"/>
          </p:cNvSpPr>
          <p:nvPr>
            <p:ph type="title"/>
          </p:nvPr>
        </p:nvSpPr>
        <p:spPr/>
        <p:txBody>
          <a:bodyPr/>
          <a:lstStyle/>
          <a:p>
            <a:r>
              <a:rPr lang="es-CL" noProof="0" dirty="0"/>
              <a:t>Análisis horizontal de balance</a:t>
            </a:r>
          </a:p>
        </p:txBody>
      </p:sp>
      <p:pic>
        <p:nvPicPr>
          <p:cNvPr id="3" name="Imagen 2">
            <a:extLst>
              <a:ext uri="{FF2B5EF4-FFF2-40B4-BE49-F238E27FC236}">
                <a16:creationId xmlns:a16="http://schemas.microsoft.com/office/drawing/2014/main" id="{443DB8B7-E838-3E87-7303-9F04AAA3C5B7}"/>
              </a:ext>
            </a:extLst>
          </p:cNvPr>
          <p:cNvPicPr>
            <a:picLocks noChangeAspect="1"/>
          </p:cNvPicPr>
          <p:nvPr/>
        </p:nvPicPr>
        <p:blipFill>
          <a:blip r:embed="rId2"/>
          <a:stretch>
            <a:fillRect/>
          </a:stretch>
        </p:blipFill>
        <p:spPr>
          <a:xfrm>
            <a:off x="1354828" y="1444532"/>
            <a:ext cx="5707154" cy="5359289"/>
          </a:xfrm>
          <a:prstGeom prst="rect">
            <a:avLst/>
          </a:prstGeom>
        </p:spPr>
      </p:pic>
    </p:spTree>
    <p:extLst>
      <p:ext uri="{BB962C8B-B14F-4D97-AF65-F5344CB8AC3E}">
        <p14:creationId xmlns:p14="http://schemas.microsoft.com/office/powerpoint/2010/main" val="39690869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Análisis vertical y horizontal de estado de resultado</a:t>
            </a:r>
          </a:p>
        </p:txBody>
      </p:sp>
      <p:graphicFrame>
        <p:nvGraphicFramePr>
          <p:cNvPr id="3" name="Objeto 2"/>
          <p:cNvGraphicFramePr>
            <a:graphicFrameLocks noChangeAspect="1"/>
          </p:cNvGraphicFramePr>
          <p:nvPr/>
        </p:nvGraphicFramePr>
        <p:xfrm>
          <a:off x="1790163" y="2266971"/>
          <a:ext cx="7804597" cy="3876251"/>
        </p:xfrm>
        <a:graphic>
          <a:graphicData uri="http://schemas.openxmlformats.org/presentationml/2006/ole">
            <mc:AlternateContent xmlns:mc="http://schemas.openxmlformats.org/markup-compatibility/2006">
              <mc:Choice xmlns:v="urn:schemas-microsoft-com:vml" Requires="v">
                <p:oleObj name="Hoja de cálculo" r:id="rId2" imgW="4953080" imgH="2552753" progId="Excel.Sheet.12">
                  <p:embed/>
                </p:oleObj>
              </mc:Choice>
              <mc:Fallback>
                <p:oleObj name="Hoja de cálculo" r:id="rId2" imgW="4953080" imgH="2552753" progId="Excel.Sheet.12">
                  <p:embed/>
                  <p:pic>
                    <p:nvPicPr>
                      <p:cNvPr id="3" name="Objeto 2"/>
                      <p:cNvPicPr/>
                      <p:nvPr/>
                    </p:nvPicPr>
                    <p:blipFill>
                      <a:blip r:embed="rId3"/>
                      <a:stretch>
                        <a:fillRect/>
                      </a:stretch>
                    </p:blipFill>
                    <p:spPr>
                      <a:xfrm>
                        <a:off x="1790163" y="2266971"/>
                        <a:ext cx="7804597" cy="3876251"/>
                      </a:xfrm>
                      <a:prstGeom prst="rect">
                        <a:avLst/>
                      </a:prstGeom>
                    </p:spPr>
                  </p:pic>
                </p:oleObj>
              </mc:Fallback>
            </mc:AlternateContent>
          </a:graphicData>
        </a:graphic>
      </p:graphicFrame>
    </p:spTree>
    <p:extLst>
      <p:ext uri="{BB962C8B-B14F-4D97-AF65-F5344CB8AC3E}">
        <p14:creationId xmlns:p14="http://schemas.microsoft.com/office/powerpoint/2010/main" val="34965640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Tarea </a:t>
            </a:r>
          </a:p>
        </p:txBody>
      </p:sp>
      <p:sp>
        <p:nvSpPr>
          <p:cNvPr id="3" name="Rectángulo 2"/>
          <p:cNvSpPr/>
          <p:nvPr/>
        </p:nvSpPr>
        <p:spPr>
          <a:xfrm>
            <a:off x="1064801" y="2339438"/>
            <a:ext cx="7989047" cy="1754326"/>
          </a:xfrm>
          <a:prstGeom prst="rect">
            <a:avLst/>
          </a:prstGeom>
        </p:spPr>
        <p:txBody>
          <a:bodyPr wrap="square">
            <a:spAutoFit/>
          </a:bodyPr>
          <a:lstStyle/>
          <a:p>
            <a:pPr marL="285750" indent="-285750">
              <a:buFont typeface="Arial" panose="020B0604020202020204" pitchFamily="34" charset="0"/>
              <a:buChar char="•"/>
            </a:pPr>
            <a:r>
              <a:rPr lang="es-CL" noProof="0" dirty="0"/>
              <a:t>Con los antecedentes que se presentan hacer un análisis vertical y horizontal de los 2 estados de resultado. Analizar los resultados y explicar:</a:t>
            </a:r>
          </a:p>
          <a:p>
            <a:pPr marL="285750" indent="-285750">
              <a:buFont typeface="Arial" panose="020B0604020202020204" pitchFamily="34" charset="0"/>
              <a:buChar char="•"/>
            </a:pPr>
            <a:endParaRPr lang="es-CL" noProof="0" dirty="0"/>
          </a:p>
          <a:p>
            <a:pPr marL="285750" indent="-285750">
              <a:buFont typeface="Arial" panose="020B0604020202020204" pitchFamily="34" charset="0"/>
              <a:buChar char="•"/>
            </a:pPr>
            <a:endParaRPr lang="es-CL" noProof="0" dirty="0"/>
          </a:p>
          <a:p>
            <a:pPr marL="285750" indent="-285750">
              <a:buFont typeface="Arial" panose="020B0604020202020204" pitchFamily="34" charset="0"/>
              <a:buChar char="•"/>
            </a:pPr>
            <a:endParaRPr lang="es-CL" noProof="0" dirty="0"/>
          </a:p>
        </p:txBody>
      </p:sp>
      <p:graphicFrame>
        <p:nvGraphicFramePr>
          <p:cNvPr id="5" name="Tabla 4"/>
          <p:cNvGraphicFramePr>
            <a:graphicFrameLocks noGrp="1"/>
          </p:cNvGraphicFramePr>
          <p:nvPr>
            <p:extLst>
              <p:ext uri="{D42A27DB-BD31-4B8C-83A1-F6EECF244321}">
                <p14:modId xmlns:p14="http://schemas.microsoft.com/office/powerpoint/2010/main" val="14942745"/>
              </p:ext>
            </p:extLst>
          </p:nvPr>
        </p:nvGraphicFramePr>
        <p:xfrm>
          <a:off x="2472743" y="3039417"/>
          <a:ext cx="6581104" cy="3464418"/>
        </p:xfrm>
        <a:graphic>
          <a:graphicData uri="http://schemas.openxmlformats.org/drawingml/2006/table">
            <a:tbl>
              <a:tblPr/>
              <a:tblGrid>
                <a:gridCol w="3114803">
                  <a:extLst>
                    <a:ext uri="{9D8B030D-6E8A-4147-A177-3AD203B41FA5}">
                      <a16:colId xmlns:a16="http://schemas.microsoft.com/office/drawing/2014/main" val="20000"/>
                    </a:ext>
                  </a:extLst>
                </a:gridCol>
                <a:gridCol w="1795339">
                  <a:extLst>
                    <a:ext uri="{9D8B030D-6E8A-4147-A177-3AD203B41FA5}">
                      <a16:colId xmlns:a16="http://schemas.microsoft.com/office/drawing/2014/main" val="20001"/>
                    </a:ext>
                  </a:extLst>
                </a:gridCol>
                <a:gridCol w="1670962">
                  <a:extLst>
                    <a:ext uri="{9D8B030D-6E8A-4147-A177-3AD203B41FA5}">
                      <a16:colId xmlns:a16="http://schemas.microsoft.com/office/drawing/2014/main" val="20002"/>
                    </a:ext>
                  </a:extLst>
                </a:gridCol>
              </a:tblGrid>
              <a:tr h="339649">
                <a:tc>
                  <a:txBody>
                    <a:bodyPr/>
                    <a:lstStyle/>
                    <a:p>
                      <a:pPr algn="l" fontAlgn="b"/>
                      <a:r>
                        <a:rPr lang="es-CL" sz="2000" b="1" i="0" u="none" strike="noStrike" noProof="0" dirty="0">
                          <a:solidFill>
                            <a:srgbClr val="000000"/>
                          </a:solidFill>
                          <a:effectLst/>
                          <a:latin typeface="Calibri" panose="020F0502020204030204" pitchFamily="34" charset="0"/>
                        </a:rPr>
                        <a:t>Estado de resultado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L" sz="1600" b="1" i="0" u="none" strike="noStrike" noProof="0" dirty="0">
                          <a:solidFill>
                            <a:srgbClr val="000000"/>
                          </a:solidFill>
                          <a:effectLst/>
                          <a:latin typeface="Calibri" panose="020F0502020204030204" pitchFamily="34" charset="0"/>
                        </a:rPr>
                        <a:t>2013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L" sz="1600" b="1" i="0" u="none" strike="noStrike" noProof="0" dirty="0">
                          <a:solidFill>
                            <a:srgbClr val="000000"/>
                          </a:solidFill>
                          <a:effectLst/>
                          <a:latin typeface="Calibri" panose="020F0502020204030204" pitchFamily="34" charset="0"/>
                        </a:rPr>
                        <a:t>2014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1719">
                <a:tc>
                  <a:txBody>
                    <a:bodyPr/>
                    <a:lstStyle/>
                    <a:p>
                      <a:pPr algn="l" fontAlgn="b"/>
                      <a:r>
                        <a:rPr lang="es-CL" sz="1600" b="0" i="0" u="none" strike="noStrike" noProof="0" dirty="0">
                          <a:solidFill>
                            <a:srgbClr val="000000"/>
                          </a:solidFill>
                          <a:effectLst/>
                          <a:latin typeface="Calibri" panose="020F0502020204030204" pitchFamily="34" charset="0"/>
                        </a:rPr>
                        <a:t>Ventas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2.850.000.000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2.200.000.000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Costo de ventas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1.780.000.000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1.540.000.000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Margen comercial</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1.070.000.000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660.000.000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Gastos de Adm. y Ventas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558.000.000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350.000.000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Margen operacional</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512.000.000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310.000.000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Otros no operacionales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300.000.000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180.000.000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Resul. Antes ints. e imptos.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212.000.000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130.000.000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Intereses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138.000.000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95.000.000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Resul. Antes imptos.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74.000.000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35.000.000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Impuestos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70.000.000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25.000.000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Resultado ejercicio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4.000.000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10.000.000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9465846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53290" y="1686359"/>
            <a:ext cx="11544301" cy="3820823"/>
          </a:xfrm>
          <a:prstGeom prst="rect">
            <a:avLst/>
          </a:prstGeom>
        </p:spPr>
      </p:pic>
    </p:spTree>
    <p:extLst>
      <p:ext uri="{BB962C8B-B14F-4D97-AF65-F5344CB8AC3E}">
        <p14:creationId xmlns:p14="http://schemas.microsoft.com/office/powerpoint/2010/main" val="15106524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Análisis vertical</a:t>
            </a:r>
          </a:p>
        </p:txBody>
      </p:sp>
      <p:sp>
        <p:nvSpPr>
          <p:cNvPr id="3" name="Marcador de contenido 2"/>
          <p:cNvSpPr>
            <a:spLocks noGrp="1"/>
          </p:cNvSpPr>
          <p:nvPr>
            <p:ph idx="1"/>
          </p:nvPr>
        </p:nvSpPr>
        <p:spPr/>
        <p:txBody>
          <a:bodyPr>
            <a:normAutofit lnSpcReduction="10000"/>
          </a:bodyPr>
          <a:lstStyle/>
          <a:p>
            <a:r>
              <a:rPr lang="es-CL" noProof="0" dirty="0"/>
              <a:t>Lo que busca el análisis vertical es determinar la importancia de cada partida dentro de los activos y dentro de los pasivos y patrimonio. Se analiza la distribución equitativa de las partidas de acuerdo con la necesidad de la empresa. Se toma como base el </a:t>
            </a:r>
            <a:r>
              <a:rPr lang="es-CL" b="1" noProof="0" dirty="0"/>
              <a:t>total de activos</a:t>
            </a:r>
            <a:r>
              <a:rPr lang="es-CL" noProof="0" dirty="0"/>
              <a:t>.</a:t>
            </a:r>
          </a:p>
          <a:p>
            <a:endParaRPr lang="es-CL" noProof="0" dirty="0"/>
          </a:p>
          <a:p>
            <a:r>
              <a:rPr lang="es-CL" noProof="0" dirty="0"/>
              <a:t>Con los datos que se indican de balance, efectué un análisis. Para cada año.</a:t>
            </a:r>
          </a:p>
          <a:p>
            <a:endParaRPr lang="es-CL" noProof="0" dirty="0"/>
          </a:p>
        </p:txBody>
      </p:sp>
      <p:pic>
        <p:nvPicPr>
          <p:cNvPr id="5" name="Imagen 4">
            <a:extLst>
              <a:ext uri="{FF2B5EF4-FFF2-40B4-BE49-F238E27FC236}">
                <a16:creationId xmlns:a16="http://schemas.microsoft.com/office/drawing/2014/main" id="{9511B89A-0888-3AF9-FC97-3CEA1D8D16E2}"/>
              </a:ext>
            </a:extLst>
          </p:cNvPr>
          <p:cNvPicPr>
            <a:picLocks noChangeAspect="1"/>
          </p:cNvPicPr>
          <p:nvPr/>
        </p:nvPicPr>
        <p:blipFill>
          <a:blip r:embed="rId2"/>
          <a:stretch>
            <a:fillRect/>
          </a:stretch>
        </p:blipFill>
        <p:spPr>
          <a:xfrm>
            <a:off x="5967542" y="1588858"/>
            <a:ext cx="4167753" cy="5116846"/>
          </a:xfrm>
          <a:prstGeom prst="rect">
            <a:avLst/>
          </a:prstGeom>
        </p:spPr>
      </p:pic>
    </p:spTree>
    <p:extLst>
      <p:ext uri="{BB962C8B-B14F-4D97-AF65-F5344CB8AC3E}">
        <p14:creationId xmlns:p14="http://schemas.microsoft.com/office/powerpoint/2010/main" val="25568342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4A6AEE-BC33-1998-43F9-9C6273CD6E6B}"/>
              </a:ext>
            </a:extLst>
          </p:cNvPr>
          <p:cNvSpPr>
            <a:spLocks noGrp="1"/>
          </p:cNvSpPr>
          <p:nvPr>
            <p:ph type="title"/>
          </p:nvPr>
        </p:nvSpPr>
        <p:spPr/>
        <p:txBody>
          <a:bodyPr>
            <a:normAutofit/>
          </a:bodyPr>
          <a:lstStyle/>
          <a:p>
            <a:r>
              <a:rPr lang="es-CL" noProof="0" dirty="0"/>
              <a:t>Ejemplo del Análisis Vertical año 2013 y 2014:</a:t>
            </a:r>
          </a:p>
        </p:txBody>
      </p:sp>
      <p:pic>
        <p:nvPicPr>
          <p:cNvPr id="4" name="Marcador de contenido 3">
            <a:extLst>
              <a:ext uri="{FF2B5EF4-FFF2-40B4-BE49-F238E27FC236}">
                <a16:creationId xmlns:a16="http://schemas.microsoft.com/office/drawing/2014/main" id="{CC04C58D-BBE4-EFD5-32DB-F8DEA4CD81B5}"/>
              </a:ext>
            </a:extLst>
          </p:cNvPr>
          <p:cNvPicPr>
            <a:picLocks noGrp="1" noChangeAspect="1"/>
          </p:cNvPicPr>
          <p:nvPr>
            <p:ph idx="1"/>
          </p:nvPr>
        </p:nvPicPr>
        <p:blipFill>
          <a:blip r:embed="rId2"/>
          <a:stretch>
            <a:fillRect/>
          </a:stretch>
        </p:blipFill>
        <p:spPr>
          <a:xfrm>
            <a:off x="1112414" y="1825624"/>
            <a:ext cx="3905249" cy="4695825"/>
          </a:xfrm>
          <a:prstGeom prst="rect">
            <a:avLst/>
          </a:prstGeom>
        </p:spPr>
      </p:pic>
      <p:pic>
        <p:nvPicPr>
          <p:cNvPr id="5" name="Imagen 4">
            <a:extLst>
              <a:ext uri="{FF2B5EF4-FFF2-40B4-BE49-F238E27FC236}">
                <a16:creationId xmlns:a16="http://schemas.microsoft.com/office/drawing/2014/main" id="{724C6222-15A4-9D24-65A1-B3E35103D2FC}"/>
              </a:ext>
            </a:extLst>
          </p:cNvPr>
          <p:cNvPicPr>
            <a:picLocks noChangeAspect="1"/>
          </p:cNvPicPr>
          <p:nvPr/>
        </p:nvPicPr>
        <p:blipFill>
          <a:blip r:embed="rId3"/>
          <a:stretch>
            <a:fillRect/>
          </a:stretch>
        </p:blipFill>
        <p:spPr>
          <a:xfrm>
            <a:off x="6736104" y="1825625"/>
            <a:ext cx="3905250" cy="4695825"/>
          </a:xfrm>
          <a:prstGeom prst="rect">
            <a:avLst/>
          </a:prstGeom>
        </p:spPr>
      </p:pic>
    </p:spTree>
    <p:extLst>
      <p:ext uri="{BB962C8B-B14F-4D97-AF65-F5344CB8AC3E}">
        <p14:creationId xmlns:p14="http://schemas.microsoft.com/office/powerpoint/2010/main" val="30155568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D2AA5B-1522-B4D3-5BCB-AC28C30605CD}"/>
              </a:ext>
            </a:extLst>
          </p:cNvPr>
          <p:cNvSpPr>
            <a:spLocks noGrp="1"/>
          </p:cNvSpPr>
          <p:nvPr>
            <p:ph type="title"/>
          </p:nvPr>
        </p:nvSpPr>
        <p:spPr>
          <a:xfrm>
            <a:off x="609600" y="1"/>
            <a:ext cx="10744200" cy="1228436"/>
          </a:xfrm>
        </p:spPr>
        <p:txBody>
          <a:bodyPr anchor="b">
            <a:normAutofit/>
          </a:bodyPr>
          <a:lstStyle/>
          <a:p>
            <a:r>
              <a:rPr lang="es-CL" noProof="0" dirty="0"/>
              <a:t>Análisis Horizontal</a:t>
            </a:r>
          </a:p>
        </p:txBody>
      </p:sp>
      <p:pic>
        <p:nvPicPr>
          <p:cNvPr id="4" name="Imagen 3">
            <a:extLst>
              <a:ext uri="{FF2B5EF4-FFF2-40B4-BE49-F238E27FC236}">
                <a16:creationId xmlns:a16="http://schemas.microsoft.com/office/drawing/2014/main" id="{7702B890-FC42-164A-82FE-BD50185DCA62}"/>
              </a:ext>
            </a:extLst>
          </p:cNvPr>
          <p:cNvPicPr>
            <a:picLocks noChangeAspect="1"/>
          </p:cNvPicPr>
          <p:nvPr/>
        </p:nvPicPr>
        <p:blipFill>
          <a:blip r:embed="rId2"/>
          <a:stretch>
            <a:fillRect/>
          </a:stretch>
        </p:blipFill>
        <p:spPr>
          <a:xfrm>
            <a:off x="1656883" y="1825625"/>
            <a:ext cx="3544234" cy="4351338"/>
          </a:xfrm>
          <a:prstGeom prst="rect">
            <a:avLst/>
          </a:prstGeom>
          <a:noFill/>
        </p:spPr>
      </p:pic>
      <p:sp>
        <p:nvSpPr>
          <p:cNvPr id="3" name="Marcador de contenido 2">
            <a:extLst>
              <a:ext uri="{FF2B5EF4-FFF2-40B4-BE49-F238E27FC236}">
                <a16:creationId xmlns:a16="http://schemas.microsoft.com/office/drawing/2014/main" id="{19D44041-4ACF-291A-9C8C-765F042FF56C}"/>
              </a:ext>
            </a:extLst>
          </p:cNvPr>
          <p:cNvSpPr>
            <a:spLocks noGrp="1"/>
          </p:cNvSpPr>
          <p:nvPr>
            <p:ph sz="half" idx="2"/>
          </p:nvPr>
        </p:nvSpPr>
        <p:spPr>
          <a:xfrm>
            <a:off x="6172200" y="1825625"/>
            <a:ext cx="5181600" cy="4351338"/>
          </a:xfrm>
        </p:spPr>
        <p:txBody>
          <a:bodyPr>
            <a:normAutofit/>
          </a:bodyPr>
          <a:lstStyle/>
          <a:p>
            <a:r>
              <a:rPr lang="es-CL" noProof="0" dirty="0"/>
              <a:t>Lo que busca el análisis horizontal es determinar la variación porcentual (aumento o disminución ) de cada partida dentro de los activos y dentro de los pasivos y patrimonio. Se analizan los aumentos y disminuciones de las partidas.</a:t>
            </a:r>
          </a:p>
          <a:p>
            <a:endParaRPr lang="es-CL" noProof="0" dirty="0"/>
          </a:p>
          <a:p>
            <a:r>
              <a:rPr lang="es-CL" noProof="0" dirty="0"/>
              <a:t>Con los datos que se indican de balance, efectué un análisis horizontal. Para cada año.</a:t>
            </a:r>
          </a:p>
          <a:p>
            <a:endParaRPr lang="es-CL" noProof="0" dirty="0"/>
          </a:p>
        </p:txBody>
      </p:sp>
    </p:spTree>
    <p:extLst>
      <p:ext uri="{BB962C8B-B14F-4D97-AF65-F5344CB8AC3E}">
        <p14:creationId xmlns:p14="http://schemas.microsoft.com/office/powerpoint/2010/main" val="22738728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4A6AEE-BC33-1998-43F9-9C6273CD6E6B}"/>
              </a:ext>
            </a:extLst>
          </p:cNvPr>
          <p:cNvSpPr>
            <a:spLocks noGrp="1"/>
          </p:cNvSpPr>
          <p:nvPr>
            <p:ph type="title"/>
          </p:nvPr>
        </p:nvSpPr>
        <p:spPr/>
        <p:txBody>
          <a:bodyPr>
            <a:normAutofit/>
          </a:bodyPr>
          <a:lstStyle/>
          <a:p>
            <a:r>
              <a:rPr lang="es-CL" noProof="0" dirty="0"/>
              <a:t>Ejemplo del Análisis Horizontal año 2013 y 2014:</a:t>
            </a:r>
          </a:p>
        </p:txBody>
      </p:sp>
      <p:pic>
        <p:nvPicPr>
          <p:cNvPr id="7" name="Marcador de contenido 6">
            <a:extLst>
              <a:ext uri="{FF2B5EF4-FFF2-40B4-BE49-F238E27FC236}">
                <a16:creationId xmlns:a16="http://schemas.microsoft.com/office/drawing/2014/main" id="{5B36E1DE-A8B7-C829-9442-DAEB049031ED}"/>
              </a:ext>
            </a:extLst>
          </p:cNvPr>
          <p:cNvPicPr>
            <a:picLocks noGrp="1" noChangeAspect="1"/>
          </p:cNvPicPr>
          <p:nvPr>
            <p:ph idx="1"/>
          </p:nvPr>
        </p:nvPicPr>
        <p:blipFill>
          <a:blip r:embed="rId2"/>
          <a:stretch>
            <a:fillRect/>
          </a:stretch>
        </p:blipFill>
        <p:spPr>
          <a:xfrm>
            <a:off x="2601686" y="1430747"/>
            <a:ext cx="5889171" cy="5530211"/>
          </a:xfrm>
          <a:prstGeom prst="rect">
            <a:avLst/>
          </a:prstGeom>
        </p:spPr>
      </p:pic>
    </p:spTree>
    <p:extLst>
      <p:ext uri="{BB962C8B-B14F-4D97-AF65-F5344CB8AC3E}">
        <p14:creationId xmlns:p14="http://schemas.microsoft.com/office/powerpoint/2010/main" val="22709728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Ejemplo de análisis vertical y horizontal</a:t>
            </a:r>
          </a:p>
        </p:txBody>
      </p:sp>
      <p:graphicFrame>
        <p:nvGraphicFramePr>
          <p:cNvPr id="3" name="Objeto 2"/>
          <p:cNvGraphicFramePr>
            <a:graphicFrameLocks noChangeAspect="1"/>
          </p:cNvGraphicFramePr>
          <p:nvPr/>
        </p:nvGraphicFramePr>
        <p:xfrm>
          <a:off x="1790163" y="2266971"/>
          <a:ext cx="7804597" cy="3876251"/>
        </p:xfrm>
        <a:graphic>
          <a:graphicData uri="http://schemas.openxmlformats.org/presentationml/2006/ole">
            <mc:AlternateContent xmlns:mc="http://schemas.openxmlformats.org/markup-compatibility/2006">
              <mc:Choice xmlns:v="urn:schemas-microsoft-com:vml" Requires="v">
                <p:oleObj name="Hoja de cálculo" r:id="rId2" imgW="4953080" imgH="2552753" progId="Excel.Sheet.12">
                  <p:embed/>
                </p:oleObj>
              </mc:Choice>
              <mc:Fallback>
                <p:oleObj name="Hoja de cálculo" r:id="rId2" imgW="4953080" imgH="2552753" progId="Excel.Sheet.12">
                  <p:embed/>
                  <p:pic>
                    <p:nvPicPr>
                      <p:cNvPr id="3" name="Objeto 2"/>
                      <p:cNvPicPr/>
                      <p:nvPr/>
                    </p:nvPicPr>
                    <p:blipFill>
                      <a:blip r:embed="rId3"/>
                      <a:stretch>
                        <a:fillRect/>
                      </a:stretch>
                    </p:blipFill>
                    <p:spPr>
                      <a:xfrm>
                        <a:off x="1790163" y="2266971"/>
                        <a:ext cx="7804597" cy="3876251"/>
                      </a:xfrm>
                      <a:prstGeom prst="rect">
                        <a:avLst/>
                      </a:prstGeom>
                    </p:spPr>
                  </p:pic>
                </p:oleObj>
              </mc:Fallback>
            </mc:AlternateContent>
          </a:graphicData>
        </a:graphic>
      </p:graphicFrame>
    </p:spTree>
    <p:extLst>
      <p:ext uri="{BB962C8B-B14F-4D97-AF65-F5344CB8AC3E}">
        <p14:creationId xmlns:p14="http://schemas.microsoft.com/office/powerpoint/2010/main" val="42122656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Tarea:</a:t>
            </a:r>
          </a:p>
        </p:txBody>
      </p:sp>
      <p:sp>
        <p:nvSpPr>
          <p:cNvPr id="3" name="Rectángulo 2"/>
          <p:cNvSpPr/>
          <p:nvPr/>
        </p:nvSpPr>
        <p:spPr>
          <a:xfrm>
            <a:off x="1064801" y="2339438"/>
            <a:ext cx="7989047" cy="1754326"/>
          </a:xfrm>
          <a:prstGeom prst="rect">
            <a:avLst/>
          </a:prstGeom>
        </p:spPr>
        <p:txBody>
          <a:bodyPr wrap="square">
            <a:spAutoFit/>
          </a:bodyPr>
          <a:lstStyle/>
          <a:p>
            <a:pPr marL="285750" indent="-285750">
              <a:buFont typeface="Arial" panose="020B0604020202020204" pitchFamily="34" charset="0"/>
              <a:buChar char="•"/>
            </a:pPr>
            <a:r>
              <a:rPr lang="es-CL" noProof="0" dirty="0"/>
              <a:t>Con los antecedentes que se presentan hacer un análisis vertical y horizontal de los 2 estados de resultado. Analizar los resultados y explicar:</a:t>
            </a:r>
          </a:p>
          <a:p>
            <a:pPr marL="285750" indent="-285750">
              <a:buFont typeface="Arial" panose="020B0604020202020204" pitchFamily="34" charset="0"/>
              <a:buChar char="•"/>
            </a:pPr>
            <a:endParaRPr lang="es-CL" noProof="0" dirty="0"/>
          </a:p>
          <a:p>
            <a:pPr marL="285750" indent="-285750">
              <a:buFont typeface="Arial" panose="020B0604020202020204" pitchFamily="34" charset="0"/>
              <a:buChar char="•"/>
            </a:pPr>
            <a:endParaRPr lang="es-CL" noProof="0" dirty="0"/>
          </a:p>
          <a:p>
            <a:pPr marL="285750" indent="-285750">
              <a:buFont typeface="Arial" panose="020B0604020202020204" pitchFamily="34" charset="0"/>
              <a:buChar char="•"/>
            </a:pPr>
            <a:endParaRPr lang="es-CL" noProof="0" dirty="0"/>
          </a:p>
        </p:txBody>
      </p:sp>
      <p:graphicFrame>
        <p:nvGraphicFramePr>
          <p:cNvPr id="5" name="Tabla 4"/>
          <p:cNvGraphicFramePr>
            <a:graphicFrameLocks noGrp="1"/>
          </p:cNvGraphicFramePr>
          <p:nvPr>
            <p:extLst>
              <p:ext uri="{D42A27DB-BD31-4B8C-83A1-F6EECF244321}">
                <p14:modId xmlns:p14="http://schemas.microsoft.com/office/powerpoint/2010/main" val="175435895"/>
              </p:ext>
            </p:extLst>
          </p:nvPr>
        </p:nvGraphicFramePr>
        <p:xfrm>
          <a:off x="2472743" y="3039417"/>
          <a:ext cx="6581104" cy="3464418"/>
        </p:xfrm>
        <a:graphic>
          <a:graphicData uri="http://schemas.openxmlformats.org/drawingml/2006/table">
            <a:tbl>
              <a:tblPr/>
              <a:tblGrid>
                <a:gridCol w="3114803">
                  <a:extLst>
                    <a:ext uri="{9D8B030D-6E8A-4147-A177-3AD203B41FA5}">
                      <a16:colId xmlns:a16="http://schemas.microsoft.com/office/drawing/2014/main" val="20000"/>
                    </a:ext>
                  </a:extLst>
                </a:gridCol>
                <a:gridCol w="1795339">
                  <a:extLst>
                    <a:ext uri="{9D8B030D-6E8A-4147-A177-3AD203B41FA5}">
                      <a16:colId xmlns:a16="http://schemas.microsoft.com/office/drawing/2014/main" val="20001"/>
                    </a:ext>
                  </a:extLst>
                </a:gridCol>
                <a:gridCol w="1670962">
                  <a:extLst>
                    <a:ext uri="{9D8B030D-6E8A-4147-A177-3AD203B41FA5}">
                      <a16:colId xmlns:a16="http://schemas.microsoft.com/office/drawing/2014/main" val="20002"/>
                    </a:ext>
                  </a:extLst>
                </a:gridCol>
              </a:tblGrid>
              <a:tr h="339649">
                <a:tc>
                  <a:txBody>
                    <a:bodyPr/>
                    <a:lstStyle/>
                    <a:p>
                      <a:pPr algn="l" fontAlgn="b"/>
                      <a:r>
                        <a:rPr lang="es-CL" sz="2000" b="1" i="0" u="none" strike="noStrike" noProof="0" dirty="0">
                          <a:solidFill>
                            <a:srgbClr val="000000"/>
                          </a:solidFill>
                          <a:effectLst/>
                          <a:latin typeface="Calibri" panose="020F0502020204030204" pitchFamily="34" charset="0"/>
                        </a:rPr>
                        <a:t>Estado de resultado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L" sz="1600" b="1" i="0" u="none" strike="noStrike" noProof="0" dirty="0">
                          <a:solidFill>
                            <a:srgbClr val="000000"/>
                          </a:solidFill>
                          <a:effectLst/>
                          <a:latin typeface="Calibri" panose="020F0502020204030204" pitchFamily="34" charset="0"/>
                        </a:rPr>
                        <a:t>2013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L" sz="1600" b="1" i="0" u="none" strike="noStrike" noProof="0" dirty="0">
                          <a:solidFill>
                            <a:srgbClr val="000000"/>
                          </a:solidFill>
                          <a:effectLst/>
                          <a:latin typeface="Calibri" panose="020F0502020204030204" pitchFamily="34" charset="0"/>
                        </a:rPr>
                        <a:t>2014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1719">
                <a:tc>
                  <a:txBody>
                    <a:bodyPr/>
                    <a:lstStyle/>
                    <a:p>
                      <a:pPr algn="l" fontAlgn="b"/>
                      <a:r>
                        <a:rPr lang="es-CL" sz="1600" b="0" i="0" u="none" strike="noStrike" noProof="0" dirty="0">
                          <a:solidFill>
                            <a:srgbClr val="000000"/>
                          </a:solidFill>
                          <a:effectLst/>
                          <a:latin typeface="Calibri" panose="020F0502020204030204" pitchFamily="34" charset="0"/>
                        </a:rPr>
                        <a:t>Ventas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2.850.000.000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2.200.000.000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Costo de ventas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1.780.000.000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1.540.000.000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Margen comercial</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1.070.000.000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660.000.000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Gastos de Adm. y Ventas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558.000.000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350.000.000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Margen operacional</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512.000.000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310.000.000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Otros no operacionales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300.000.000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180.000.000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Resul. Antes ints. e imptos.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212.000.000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130.000.000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Intereses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138.000.000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95.000.000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Resul. Antes imptos.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74.000.000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35.000.000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Impuestos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70.000.000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25.000.000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Resultado ejercicio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4.000.000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10.000.000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516352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53290" y="1686359"/>
            <a:ext cx="11544301" cy="3820823"/>
          </a:xfrm>
          <a:prstGeom prst="rect">
            <a:avLst/>
          </a:prstGeom>
        </p:spPr>
      </p:pic>
    </p:spTree>
    <p:extLst>
      <p:ext uri="{BB962C8B-B14F-4D97-AF65-F5344CB8AC3E}">
        <p14:creationId xmlns:p14="http://schemas.microsoft.com/office/powerpoint/2010/main" val="41386775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
            <a:ext cx="10744200" cy="1228436"/>
          </a:xfrm>
        </p:spPr>
        <p:txBody>
          <a:bodyPr anchor="b">
            <a:normAutofit/>
          </a:bodyPr>
          <a:lstStyle/>
          <a:p>
            <a:r>
              <a:rPr lang="es-CL" noProof="0" dirty="0"/>
              <a:t>Análisis del Estado de resultado</a:t>
            </a:r>
          </a:p>
        </p:txBody>
      </p:sp>
      <p:pic>
        <p:nvPicPr>
          <p:cNvPr id="4" name="Imagen 3">
            <a:extLst>
              <a:ext uri="{FF2B5EF4-FFF2-40B4-BE49-F238E27FC236}">
                <a16:creationId xmlns:a16="http://schemas.microsoft.com/office/drawing/2014/main" id="{4131967D-981B-4095-BC13-9373E3379466}"/>
              </a:ext>
            </a:extLst>
          </p:cNvPr>
          <p:cNvPicPr>
            <a:picLocks noChangeAspect="1"/>
          </p:cNvPicPr>
          <p:nvPr/>
        </p:nvPicPr>
        <p:blipFill rotWithShape="1">
          <a:blip r:embed="rId2"/>
          <a:srcRect l="2398" r="2043" b="3"/>
          <a:stretch/>
        </p:blipFill>
        <p:spPr>
          <a:xfrm>
            <a:off x="838200" y="1825625"/>
            <a:ext cx="5181600" cy="4351338"/>
          </a:xfrm>
          <a:prstGeom prst="rect">
            <a:avLst/>
          </a:prstGeom>
          <a:noFill/>
        </p:spPr>
      </p:pic>
      <p:sp>
        <p:nvSpPr>
          <p:cNvPr id="3" name="Marcador de contenido 2"/>
          <p:cNvSpPr>
            <a:spLocks noGrp="1"/>
          </p:cNvSpPr>
          <p:nvPr>
            <p:ph sz="half" idx="2"/>
          </p:nvPr>
        </p:nvSpPr>
        <p:spPr>
          <a:xfrm>
            <a:off x="6172200" y="1825625"/>
            <a:ext cx="5181600" cy="4351338"/>
          </a:xfrm>
        </p:spPr>
        <p:txBody>
          <a:bodyPr>
            <a:normAutofit/>
          </a:bodyPr>
          <a:lstStyle/>
          <a:p>
            <a:r>
              <a:rPr lang="es-CL" sz="2400" noProof="0" dirty="0"/>
              <a:t>El estado de resultado se debe analizar, comparándolo con otros períodos.</a:t>
            </a:r>
          </a:p>
          <a:p>
            <a:pPr marL="0" indent="0">
              <a:buNone/>
            </a:pPr>
            <a:endParaRPr lang="es-CL" sz="2400" noProof="0" dirty="0"/>
          </a:p>
          <a:p>
            <a:r>
              <a:rPr lang="es-CL" sz="2400" noProof="0" dirty="0"/>
              <a:t>Y se debe hacer un análisis con respecto a su variación horizontal y vertical.</a:t>
            </a:r>
          </a:p>
          <a:p>
            <a:endParaRPr lang="es-CL" sz="2400" noProof="0" dirty="0"/>
          </a:p>
        </p:txBody>
      </p:sp>
    </p:spTree>
    <p:extLst>
      <p:ext uri="{BB962C8B-B14F-4D97-AF65-F5344CB8AC3E}">
        <p14:creationId xmlns:p14="http://schemas.microsoft.com/office/powerpoint/2010/main" val="27075492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Análisis del Estado de resultado</a:t>
            </a:r>
          </a:p>
        </p:txBody>
      </p:sp>
      <p:sp>
        <p:nvSpPr>
          <p:cNvPr id="3" name="Marcador de contenido 2"/>
          <p:cNvSpPr>
            <a:spLocks noGrp="1"/>
          </p:cNvSpPr>
          <p:nvPr>
            <p:ph idx="1"/>
          </p:nvPr>
        </p:nvSpPr>
        <p:spPr>
          <a:xfrm>
            <a:off x="838201" y="1825625"/>
            <a:ext cx="10342417" cy="4351338"/>
          </a:xfrm>
        </p:spPr>
        <p:txBody>
          <a:bodyPr>
            <a:normAutofit/>
          </a:bodyPr>
          <a:lstStyle/>
          <a:p>
            <a:r>
              <a:rPr lang="es-CL" sz="2400" noProof="0" dirty="0"/>
              <a:t>El estado de resultado se debe analizar, comparándolo con otros períodos.</a:t>
            </a:r>
          </a:p>
          <a:p>
            <a:pPr marL="0" indent="0">
              <a:buNone/>
            </a:pPr>
            <a:endParaRPr lang="es-CL" sz="2400" noProof="0" dirty="0"/>
          </a:p>
          <a:p>
            <a:r>
              <a:rPr lang="es-CL" sz="2400" noProof="0" dirty="0"/>
              <a:t>Y se debe hacer un análisis con respecto a su variación horizontal y vertical.</a:t>
            </a:r>
          </a:p>
          <a:p>
            <a:endParaRPr lang="es-CL" sz="2400" noProof="0" dirty="0"/>
          </a:p>
        </p:txBody>
      </p:sp>
    </p:spTree>
    <p:extLst>
      <p:ext uri="{BB962C8B-B14F-4D97-AF65-F5344CB8AC3E}">
        <p14:creationId xmlns:p14="http://schemas.microsoft.com/office/powerpoint/2010/main" val="26570243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Ejemplo de análisis vertical y horizontal</a:t>
            </a:r>
          </a:p>
        </p:txBody>
      </p:sp>
      <p:graphicFrame>
        <p:nvGraphicFramePr>
          <p:cNvPr id="3" name="Objeto 2"/>
          <p:cNvGraphicFramePr>
            <a:graphicFrameLocks noChangeAspect="1"/>
          </p:cNvGraphicFramePr>
          <p:nvPr/>
        </p:nvGraphicFramePr>
        <p:xfrm>
          <a:off x="1790163" y="2266971"/>
          <a:ext cx="7804597" cy="3876251"/>
        </p:xfrm>
        <a:graphic>
          <a:graphicData uri="http://schemas.openxmlformats.org/presentationml/2006/ole">
            <mc:AlternateContent xmlns:mc="http://schemas.openxmlformats.org/markup-compatibility/2006">
              <mc:Choice xmlns:v="urn:schemas-microsoft-com:vml" Requires="v">
                <p:oleObj name="Hoja de cálculo" r:id="rId2" imgW="4953080" imgH="2552753" progId="Excel.Sheet.12">
                  <p:embed/>
                </p:oleObj>
              </mc:Choice>
              <mc:Fallback>
                <p:oleObj name="Hoja de cálculo" r:id="rId2" imgW="4953080" imgH="2552753" progId="Excel.Sheet.12">
                  <p:embed/>
                  <p:pic>
                    <p:nvPicPr>
                      <p:cNvPr id="3" name="Objeto 2"/>
                      <p:cNvPicPr/>
                      <p:nvPr/>
                    </p:nvPicPr>
                    <p:blipFill>
                      <a:blip r:embed="rId3"/>
                      <a:stretch>
                        <a:fillRect/>
                      </a:stretch>
                    </p:blipFill>
                    <p:spPr>
                      <a:xfrm>
                        <a:off x="1790163" y="2266971"/>
                        <a:ext cx="7804597" cy="3876251"/>
                      </a:xfrm>
                      <a:prstGeom prst="rect">
                        <a:avLst/>
                      </a:prstGeom>
                    </p:spPr>
                  </p:pic>
                </p:oleObj>
              </mc:Fallback>
            </mc:AlternateContent>
          </a:graphicData>
        </a:graphic>
      </p:graphicFrame>
    </p:spTree>
    <p:extLst>
      <p:ext uri="{BB962C8B-B14F-4D97-AF65-F5344CB8AC3E}">
        <p14:creationId xmlns:p14="http://schemas.microsoft.com/office/powerpoint/2010/main" val="14981151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Tarea en clases</a:t>
            </a:r>
          </a:p>
        </p:txBody>
      </p:sp>
      <p:sp>
        <p:nvSpPr>
          <p:cNvPr id="3" name="Rectángulo 2"/>
          <p:cNvSpPr/>
          <p:nvPr/>
        </p:nvSpPr>
        <p:spPr>
          <a:xfrm>
            <a:off x="1064801" y="2339438"/>
            <a:ext cx="7989047" cy="1754326"/>
          </a:xfrm>
          <a:prstGeom prst="rect">
            <a:avLst/>
          </a:prstGeom>
        </p:spPr>
        <p:txBody>
          <a:bodyPr wrap="square">
            <a:spAutoFit/>
          </a:bodyPr>
          <a:lstStyle/>
          <a:p>
            <a:pPr marL="285750" indent="-285750">
              <a:buFont typeface="Arial" panose="020B0604020202020204" pitchFamily="34" charset="0"/>
              <a:buChar char="•"/>
            </a:pPr>
            <a:r>
              <a:rPr lang="es-CL" noProof="0" dirty="0"/>
              <a:t>Con los antecedentes que se presentan hacer un análisis vertical y horizontal de los 2 estados de resultado. Analizar los resultados y explicar:</a:t>
            </a:r>
          </a:p>
          <a:p>
            <a:pPr marL="285750" indent="-285750">
              <a:buFont typeface="Arial" panose="020B0604020202020204" pitchFamily="34" charset="0"/>
              <a:buChar char="•"/>
            </a:pPr>
            <a:endParaRPr lang="es-CL" noProof="0" dirty="0"/>
          </a:p>
          <a:p>
            <a:pPr marL="285750" indent="-285750">
              <a:buFont typeface="Arial" panose="020B0604020202020204" pitchFamily="34" charset="0"/>
              <a:buChar char="•"/>
            </a:pPr>
            <a:endParaRPr lang="es-CL" noProof="0" dirty="0"/>
          </a:p>
          <a:p>
            <a:pPr marL="285750" indent="-285750">
              <a:buFont typeface="Arial" panose="020B0604020202020204" pitchFamily="34" charset="0"/>
              <a:buChar char="•"/>
            </a:pPr>
            <a:endParaRPr lang="es-CL" noProof="0" dirty="0"/>
          </a:p>
        </p:txBody>
      </p:sp>
      <p:graphicFrame>
        <p:nvGraphicFramePr>
          <p:cNvPr id="5" name="Tabla 4"/>
          <p:cNvGraphicFramePr>
            <a:graphicFrameLocks noGrp="1"/>
          </p:cNvGraphicFramePr>
          <p:nvPr>
            <p:extLst>
              <p:ext uri="{D42A27DB-BD31-4B8C-83A1-F6EECF244321}">
                <p14:modId xmlns:p14="http://schemas.microsoft.com/office/powerpoint/2010/main" val="3019059285"/>
              </p:ext>
            </p:extLst>
          </p:nvPr>
        </p:nvGraphicFramePr>
        <p:xfrm>
          <a:off x="2472743" y="3039417"/>
          <a:ext cx="6581104" cy="3464418"/>
        </p:xfrm>
        <a:graphic>
          <a:graphicData uri="http://schemas.openxmlformats.org/drawingml/2006/table">
            <a:tbl>
              <a:tblPr/>
              <a:tblGrid>
                <a:gridCol w="3114803">
                  <a:extLst>
                    <a:ext uri="{9D8B030D-6E8A-4147-A177-3AD203B41FA5}">
                      <a16:colId xmlns:a16="http://schemas.microsoft.com/office/drawing/2014/main" val="20000"/>
                    </a:ext>
                  </a:extLst>
                </a:gridCol>
                <a:gridCol w="1795339">
                  <a:extLst>
                    <a:ext uri="{9D8B030D-6E8A-4147-A177-3AD203B41FA5}">
                      <a16:colId xmlns:a16="http://schemas.microsoft.com/office/drawing/2014/main" val="20001"/>
                    </a:ext>
                  </a:extLst>
                </a:gridCol>
                <a:gridCol w="1670962">
                  <a:extLst>
                    <a:ext uri="{9D8B030D-6E8A-4147-A177-3AD203B41FA5}">
                      <a16:colId xmlns:a16="http://schemas.microsoft.com/office/drawing/2014/main" val="20002"/>
                    </a:ext>
                  </a:extLst>
                </a:gridCol>
              </a:tblGrid>
              <a:tr h="339649">
                <a:tc>
                  <a:txBody>
                    <a:bodyPr/>
                    <a:lstStyle/>
                    <a:p>
                      <a:pPr algn="l" fontAlgn="b"/>
                      <a:r>
                        <a:rPr lang="es-CL" sz="2000" b="1" i="0" u="none" strike="noStrike" noProof="0" dirty="0">
                          <a:solidFill>
                            <a:srgbClr val="000000"/>
                          </a:solidFill>
                          <a:effectLst/>
                          <a:latin typeface="Calibri" panose="020F0502020204030204" pitchFamily="34" charset="0"/>
                        </a:rPr>
                        <a:t>Estado de resultado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L" sz="1600" b="1" i="0" u="none" strike="noStrike" noProof="0" dirty="0">
                          <a:solidFill>
                            <a:srgbClr val="000000"/>
                          </a:solidFill>
                          <a:effectLst/>
                          <a:latin typeface="Calibri" panose="020F0502020204030204" pitchFamily="34" charset="0"/>
                        </a:rPr>
                        <a:t>2013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L" sz="1600" b="1" i="0" u="none" strike="noStrike" noProof="0" dirty="0">
                          <a:solidFill>
                            <a:srgbClr val="000000"/>
                          </a:solidFill>
                          <a:effectLst/>
                          <a:latin typeface="Calibri" panose="020F0502020204030204" pitchFamily="34" charset="0"/>
                        </a:rPr>
                        <a:t>2014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1719">
                <a:tc>
                  <a:txBody>
                    <a:bodyPr/>
                    <a:lstStyle/>
                    <a:p>
                      <a:pPr algn="l" fontAlgn="b"/>
                      <a:r>
                        <a:rPr lang="es-CL" sz="1600" b="0" i="0" u="none" strike="noStrike" noProof="0" dirty="0">
                          <a:solidFill>
                            <a:srgbClr val="000000"/>
                          </a:solidFill>
                          <a:effectLst/>
                          <a:latin typeface="Calibri" panose="020F0502020204030204" pitchFamily="34" charset="0"/>
                        </a:rPr>
                        <a:t>Ventas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2.850.000.000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2.200.000.000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Costo de ventas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1.780.000.000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1.540.000.000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Margen comercial</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1.070.000.000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660.000.000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Gastos de Adm. y Ventas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558.000.000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350.000.000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Margen operacional</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512.000.000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310.000.000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Otros no operacionales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300.000.000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180.000.000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Resul. Antes ints. e imptos.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212.000.000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130.000.000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Intereses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138.000.000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95.000.000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Resul. Antes imptos.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74.000.000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35.000.000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85305">
                <a:tc>
                  <a:txBody>
                    <a:bodyPr/>
                    <a:lstStyle/>
                    <a:p>
                      <a:pPr algn="l" fontAlgn="b"/>
                      <a:r>
                        <a:rPr lang="es-CL" sz="1600" b="0" i="0" u="none" strike="noStrike" noProof="0" dirty="0">
                          <a:solidFill>
                            <a:srgbClr val="000000"/>
                          </a:solidFill>
                          <a:effectLst/>
                          <a:latin typeface="Calibri" panose="020F0502020204030204" pitchFamily="34" charset="0"/>
                        </a:rPr>
                        <a:t>Impuestos</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70.000.000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0" i="0" u="none" strike="noStrike" noProof="0" dirty="0">
                          <a:solidFill>
                            <a:srgbClr val="000000"/>
                          </a:solidFill>
                          <a:effectLst/>
                          <a:latin typeface="Calibri" panose="020F0502020204030204" pitchFamily="34" charset="0"/>
                        </a:rPr>
                        <a:t>-        25.000.000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85305">
                <a:tc>
                  <a:txBody>
                    <a:bodyPr/>
                    <a:lstStyle/>
                    <a:p>
                      <a:pPr algn="r" fontAlgn="b"/>
                      <a:r>
                        <a:rPr lang="es-CL" sz="1600" b="1" i="0" u="none" strike="noStrike" noProof="0" dirty="0">
                          <a:solidFill>
                            <a:srgbClr val="000000"/>
                          </a:solidFill>
                          <a:effectLst/>
                          <a:latin typeface="Calibri" panose="020F0502020204030204" pitchFamily="34" charset="0"/>
                        </a:rPr>
                        <a:t>Resultado ejercicio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4.000.000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s-CL" sz="1600" b="1" i="0" u="none" strike="noStrike" noProof="0" dirty="0">
                          <a:solidFill>
                            <a:srgbClr val="000000"/>
                          </a:solidFill>
                          <a:effectLst/>
                          <a:latin typeface="Calibri" panose="020F0502020204030204" pitchFamily="34" charset="0"/>
                        </a:rPr>
                        <a:t>          10.000.000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7034678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53290" y="1686359"/>
            <a:ext cx="11544301" cy="3820823"/>
          </a:xfrm>
          <a:prstGeom prst="rect">
            <a:avLst/>
          </a:prstGeom>
        </p:spPr>
      </p:pic>
    </p:spTree>
    <p:extLst>
      <p:ext uri="{BB962C8B-B14F-4D97-AF65-F5344CB8AC3E}">
        <p14:creationId xmlns:p14="http://schemas.microsoft.com/office/powerpoint/2010/main" val="309287549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06211" y="93518"/>
            <a:ext cx="10099111" cy="1091192"/>
          </a:xfrm>
        </p:spPr>
        <p:txBody>
          <a:bodyPr>
            <a:normAutofit fontScale="90000"/>
          </a:bodyPr>
          <a:lstStyle/>
          <a:p>
            <a:r>
              <a:rPr lang="es-CL" sz="3100" noProof="0" dirty="0"/>
              <a:t>Tarea en clases:</a:t>
            </a:r>
            <a:r>
              <a:rPr lang="es-CL" sz="4000" noProof="0" dirty="0"/>
              <a:t> Efectúe la estructura financiera y análisis vertical y horizontal para ambos años.</a:t>
            </a:r>
            <a:r>
              <a:rPr lang="es-CL" sz="2700" noProof="0" dirty="0"/>
              <a:t> </a:t>
            </a:r>
            <a:endParaRPr lang="es-CL" noProof="0" dirty="0"/>
          </a:p>
        </p:txBody>
      </p:sp>
      <p:pic>
        <p:nvPicPr>
          <p:cNvPr id="4" name="Imagen 3"/>
          <p:cNvPicPr>
            <a:picLocks noChangeAspect="1"/>
          </p:cNvPicPr>
          <p:nvPr/>
        </p:nvPicPr>
        <p:blipFill>
          <a:blip r:embed="rId2"/>
          <a:stretch>
            <a:fillRect/>
          </a:stretch>
        </p:blipFill>
        <p:spPr>
          <a:xfrm>
            <a:off x="489984" y="1197589"/>
            <a:ext cx="5203064" cy="5673290"/>
          </a:xfrm>
          <a:prstGeom prst="rect">
            <a:avLst/>
          </a:prstGeom>
        </p:spPr>
      </p:pic>
      <p:pic>
        <p:nvPicPr>
          <p:cNvPr id="5" name="Imagen 4"/>
          <p:cNvPicPr>
            <a:picLocks noChangeAspect="1"/>
          </p:cNvPicPr>
          <p:nvPr/>
        </p:nvPicPr>
        <p:blipFill>
          <a:blip r:embed="rId3"/>
          <a:stretch>
            <a:fillRect/>
          </a:stretch>
        </p:blipFill>
        <p:spPr>
          <a:xfrm>
            <a:off x="6400800" y="1897587"/>
            <a:ext cx="5009882" cy="4825185"/>
          </a:xfrm>
          <a:prstGeom prst="rect">
            <a:avLst/>
          </a:prstGeom>
        </p:spPr>
      </p:pic>
    </p:spTree>
    <p:extLst>
      <p:ext uri="{BB962C8B-B14F-4D97-AF65-F5344CB8AC3E}">
        <p14:creationId xmlns:p14="http://schemas.microsoft.com/office/powerpoint/2010/main" val="48941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to 1"/>
          <p:cNvGraphicFramePr>
            <a:graphicFrameLocks noChangeAspect="1"/>
          </p:cNvGraphicFramePr>
          <p:nvPr>
            <p:extLst>
              <p:ext uri="{D42A27DB-BD31-4B8C-83A1-F6EECF244321}">
                <p14:modId xmlns:p14="http://schemas.microsoft.com/office/powerpoint/2010/main" val="3695680693"/>
              </p:ext>
            </p:extLst>
          </p:nvPr>
        </p:nvGraphicFramePr>
        <p:xfrm>
          <a:off x="4344884" y="760529"/>
          <a:ext cx="7278986" cy="4257520"/>
        </p:xfrm>
        <a:graphic>
          <a:graphicData uri="http://schemas.openxmlformats.org/presentationml/2006/ole">
            <mc:AlternateContent xmlns:mc="http://schemas.openxmlformats.org/markup-compatibility/2006">
              <mc:Choice xmlns:v="urn:schemas-microsoft-com:vml" Requires="v">
                <p:oleObj name="Hoja de cálculo" r:id="rId2" imgW="4543376" imgH="2657436" progId="Excel.Sheet.12">
                  <p:embed/>
                </p:oleObj>
              </mc:Choice>
              <mc:Fallback>
                <p:oleObj name="Hoja de cálculo" r:id="rId2" imgW="4543376" imgH="2657436" progId="Excel.Sheet.12">
                  <p:embed/>
                  <p:pic>
                    <p:nvPicPr>
                      <p:cNvPr id="2" name="Objeto 1"/>
                      <p:cNvPicPr/>
                      <p:nvPr/>
                    </p:nvPicPr>
                    <p:blipFill>
                      <a:blip r:embed="rId3"/>
                      <a:stretch>
                        <a:fillRect/>
                      </a:stretch>
                    </p:blipFill>
                    <p:spPr>
                      <a:xfrm>
                        <a:off x="4344884" y="760529"/>
                        <a:ext cx="7278986" cy="4257520"/>
                      </a:xfrm>
                      <a:prstGeom prst="rect">
                        <a:avLst/>
                      </a:prstGeom>
                    </p:spPr>
                  </p:pic>
                </p:oleObj>
              </mc:Fallback>
            </mc:AlternateContent>
          </a:graphicData>
        </a:graphic>
      </p:graphicFrame>
      <p:graphicFrame>
        <p:nvGraphicFramePr>
          <p:cNvPr id="3" name="Objeto 2"/>
          <p:cNvGraphicFramePr>
            <a:graphicFrameLocks noChangeAspect="1"/>
          </p:cNvGraphicFramePr>
          <p:nvPr>
            <p:extLst>
              <p:ext uri="{D42A27DB-BD31-4B8C-83A1-F6EECF244321}">
                <p14:modId xmlns:p14="http://schemas.microsoft.com/office/powerpoint/2010/main" val="4153314029"/>
              </p:ext>
            </p:extLst>
          </p:nvPr>
        </p:nvGraphicFramePr>
        <p:xfrm>
          <a:off x="1270194" y="557948"/>
          <a:ext cx="2498918" cy="2592045"/>
        </p:xfrm>
        <a:graphic>
          <a:graphicData uri="http://schemas.openxmlformats.org/presentationml/2006/ole">
            <mc:AlternateContent xmlns:mc="http://schemas.openxmlformats.org/markup-compatibility/2006">
              <mc:Choice xmlns:v="urn:schemas-microsoft-com:vml" Requires="v">
                <p:oleObj name="Hoja de cálculo" r:id="rId4" imgW="1533547" imgH="1590846" progId="Excel.Sheet.12">
                  <p:embed/>
                </p:oleObj>
              </mc:Choice>
              <mc:Fallback>
                <p:oleObj name="Hoja de cálculo" r:id="rId4" imgW="1533547" imgH="1590846" progId="Excel.Sheet.12">
                  <p:embed/>
                  <p:pic>
                    <p:nvPicPr>
                      <p:cNvPr id="3" name="Objeto 2"/>
                      <p:cNvPicPr/>
                      <p:nvPr/>
                    </p:nvPicPr>
                    <p:blipFill>
                      <a:blip r:embed="rId5"/>
                      <a:stretch>
                        <a:fillRect/>
                      </a:stretch>
                    </p:blipFill>
                    <p:spPr>
                      <a:xfrm>
                        <a:off x="1270194" y="557948"/>
                        <a:ext cx="2498918" cy="2592045"/>
                      </a:xfrm>
                      <a:prstGeom prst="rect">
                        <a:avLst/>
                      </a:prstGeom>
                    </p:spPr>
                  </p:pic>
                </p:oleObj>
              </mc:Fallback>
            </mc:AlternateContent>
          </a:graphicData>
        </a:graphic>
      </p:graphicFrame>
      <p:graphicFrame>
        <p:nvGraphicFramePr>
          <p:cNvPr id="4" name="Objeto 3"/>
          <p:cNvGraphicFramePr>
            <a:graphicFrameLocks noChangeAspect="1"/>
          </p:cNvGraphicFramePr>
          <p:nvPr>
            <p:extLst>
              <p:ext uri="{D42A27DB-BD31-4B8C-83A1-F6EECF244321}">
                <p14:modId xmlns:p14="http://schemas.microsoft.com/office/powerpoint/2010/main" val="2253671505"/>
              </p:ext>
            </p:extLst>
          </p:nvPr>
        </p:nvGraphicFramePr>
        <p:xfrm>
          <a:off x="1270194" y="3680290"/>
          <a:ext cx="2498918" cy="2592045"/>
        </p:xfrm>
        <a:graphic>
          <a:graphicData uri="http://schemas.openxmlformats.org/presentationml/2006/ole">
            <mc:AlternateContent xmlns:mc="http://schemas.openxmlformats.org/markup-compatibility/2006">
              <mc:Choice xmlns:v="urn:schemas-microsoft-com:vml" Requires="v">
                <p:oleObj name="Hoja de cálculo" r:id="rId6" imgW="1533547" imgH="1590846" progId="Excel.Sheet.12">
                  <p:embed/>
                </p:oleObj>
              </mc:Choice>
              <mc:Fallback>
                <p:oleObj name="Hoja de cálculo" r:id="rId6" imgW="1533547" imgH="1590846" progId="Excel.Sheet.12">
                  <p:embed/>
                  <p:pic>
                    <p:nvPicPr>
                      <p:cNvPr id="4" name="Objeto 3"/>
                      <p:cNvPicPr/>
                      <p:nvPr/>
                    </p:nvPicPr>
                    <p:blipFill>
                      <a:blip r:embed="rId7"/>
                      <a:stretch>
                        <a:fillRect/>
                      </a:stretch>
                    </p:blipFill>
                    <p:spPr>
                      <a:xfrm>
                        <a:off x="1270194" y="3680290"/>
                        <a:ext cx="2498918" cy="2592045"/>
                      </a:xfrm>
                      <a:prstGeom prst="rect">
                        <a:avLst/>
                      </a:prstGeom>
                    </p:spPr>
                  </p:pic>
                </p:oleObj>
              </mc:Fallback>
            </mc:AlternateContent>
          </a:graphicData>
        </a:graphic>
      </p:graphicFrame>
    </p:spTree>
    <p:extLst>
      <p:ext uri="{BB962C8B-B14F-4D97-AF65-F5344CB8AC3E}">
        <p14:creationId xmlns:p14="http://schemas.microsoft.com/office/powerpoint/2010/main" val="8394691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925771-C072-48E2-93F1-5526D4C42FEB}"/>
              </a:ext>
            </a:extLst>
          </p:cNvPr>
          <p:cNvSpPr>
            <a:spLocks noGrp="1"/>
          </p:cNvSpPr>
          <p:nvPr>
            <p:ph type="title"/>
          </p:nvPr>
        </p:nvSpPr>
        <p:spPr/>
        <p:txBody>
          <a:bodyPr/>
          <a:lstStyle/>
          <a:p>
            <a:r>
              <a:rPr lang="es-CL" noProof="0" dirty="0"/>
              <a:t>Efectuar estructura financiera del balance y análisis vertical y horizontal del estado de resultado</a:t>
            </a:r>
          </a:p>
        </p:txBody>
      </p:sp>
      <p:pic>
        <p:nvPicPr>
          <p:cNvPr id="4" name="Marcador de contenido 3">
            <a:extLst>
              <a:ext uri="{FF2B5EF4-FFF2-40B4-BE49-F238E27FC236}">
                <a16:creationId xmlns:a16="http://schemas.microsoft.com/office/drawing/2014/main" id="{AE08E19D-8D27-4B67-BB5B-1D92AF6AB07F}"/>
              </a:ext>
            </a:extLst>
          </p:cNvPr>
          <p:cNvPicPr>
            <a:picLocks noGrp="1" noChangeAspect="1"/>
          </p:cNvPicPr>
          <p:nvPr>
            <p:ph idx="1"/>
          </p:nvPr>
        </p:nvPicPr>
        <p:blipFill>
          <a:blip r:embed="rId2"/>
          <a:stretch>
            <a:fillRect/>
          </a:stretch>
        </p:blipFill>
        <p:spPr>
          <a:xfrm>
            <a:off x="428744" y="2001077"/>
            <a:ext cx="5252530" cy="4214193"/>
          </a:xfrm>
          <a:prstGeom prst="rect">
            <a:avLst/>
          </a:prstGeom>
        </p:spPr>
      </p:pic>
      <p:pic>
        <p:nvPicPr>
          <p:cNvPr id="5" name="Imagen 4">
            <a:extLst>
              <a:ext uri="{FF2B5EF4-FFF2-40B4-BE49-F238E27FC236}">
                <a16:creationId xmlns:a16="http://schemas.microsoft.com/office/drawing/2014/main" id="{7F157FE2-C7D0-4948-BB6B-F796AFF93200}"/>
              </a:ext>
            </a:extLst>
          </p:cNvPr>
          <p:cNvPicPr>
            <a:picLocks noChangeAspect="1"/>
          </p:cNvPicPr>
          <p:nvPr/>
        </p:nvPicPr>
        <p:blipFill>
          <a:blip r:embed="rId3"/>
          <a:stretch>
            <a:fillRect/>
          </a:stretch>
        </p:blipFill>
        <p:spPr>
          <a:xfrm>
            <a:off x="6095998" y="2001076"/>
            <a:ext cx="5235761" cy="3644350"/>
          </a:xfrm>
          <a:prstGeom prst="rect">
            <a:avLst/>
          </a:prstGeom>
        </p:spPr>
      </p:pic>
    </p:spTree>
    <p:extLst>
      <p:ext uri="{BB962C8B-B14F-4D97-AF65-F5344CB8AC3E}">
        <p14:creationId xmlns:p14="http://schemas.microsoft.com/office/powerpoint/2010/main" val="9542746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noProof="0" dirty="0"/>
              <a:t>Resultado ejercicio anterior</a:t>
            </a:r>
          </a:p>
        </p:txBody>
      </p:sp>
      <p:graphicFrame>
        <p:nvGraphicFramePr>
          <p:cNvPr id="3" name="Objeto 2"/>
          <p:cNvGraphicFramePr>
            <a:graphicFrameLocks noChangeAspect="1"/>
          </p:cNvGraphicFramePr>
          <p:nvPr>
            <p:extLst>
              <p:ext uri="{D42A27DB-BD31-4B8C-83A1-F6EECF244321}">
                <p14:modId xmlns:p14="http://schemas.microsoft.com/office/powerpoint/2010/main" val="4000246720"/>
              </p:ext>
            </p:extLst>
          </p:nvPr>
        </p:nvGraphicFramePr>
        <p:xfrm>
          <a:off x="609600" y="1228437"/>
          <a:ext cx="2602523" cy="2699511"/>
        </p:xfrm>
        <a:graphic>
          <a:graphicData uri="http://schemas.openxmlformats.org/presentationml/2006/ole">
            <mc:AlternateContent xmlns:mc="http://schemas.openxmlformats.org/markup-compatibility/2006">
              <mc:Choice xmlns:v="urn:schemas-microsoft-com:vml" Requires="v">
                <p:oleObj name="Hoja de cálculo" r:id="rId2" imgW="1533547" imgH="1590846" progId="Excel.Sheet.12">
                  <p:embed/>
                </p:oleObj>
              </mc:Choice>
              <mc:Fallback>
                <p:oleObj name="Hoja de cálculo" r:id="rId2" imgW="1533547" imgH="1590846" progId="Excel.Sheet.12">
                  <p:embed/>
                  <p:pic>
                    <p:nvPicPr>
                      <p:cNvPr id="3" name="Objeto 2"/>
                      <p:cNvPicPr/>
                      <p:nvPr/>
                    </p:nvPicPr>
                    <p:blipFill>
                      <a:blip r:embed="rId3"/>
                      <a:stretch>
                        <a:fillRect/>
                      </a:stretch>
                    </p:blipFill>
                    <p:spPr>
                      <a:xfrm>
                        <a:off x="609600" y="1228437"/>
                        <a:ext cx="2602523" cy="2699511"/>
                      </a:xfrm>
                      <a:prstGeom prst="rect">
                        <a:avLst/>
                      </a:prstGeom>
                    </p:spPr>
                  </p:pic>
                </p:oleObj>
              </mc:Fallback>
            </mc:AlternateContent>
          </a:graphicData>
        </a:graphic>
      </p:graphicFrame>
      <p:graphicFrame>
        <p:nvGraphicFramePr>
          <p:cNvPr id="4" name="Objeto 3"/>
          <p:cNvGraphicFramePr>
            <a:graphicFrameLocks noChangeAspect="1"/>
          </p:cNvGraphicFramePr>
          <p:nvPr>
            <p:extLst>
              <p:ext uri="{D42A27DB-BD31-4B8C-83A1-F6EECF244321}">
                <p14:modId xmlns:p14="http://schemas.microsoft.com/office/powerpoint/2010/main" val="327827543"/>
              </p:ext>
            </p:extLst>
          </p:nvPr>
        </p:nvGraphicFramePr>
        <p:xfrm>
          <a:off x="609600" y="4150031"/>
          <a:ext cx="2602523" cy="2512262"/>
        </p:xfrm>
        <a:graphic>
          <a:graphicData uri="http://schemas.openxmlformats.org/presentationml/2006/ole">
            <mc:AlternateContent xmlns:mc="http://schemas.openxmlformats.org/markup-compatibility/2006">
              <mc:Choice xmlns:v="urn:schemas-microsoft-com:vml" Requires="v">
                <p:oleObj name="Hoja de cálculo" r:id="rId4" imgW="1647658" imgH="1590846" progId="Excel.Sheet.12">
                  <p:embed/>
                </p:oleObj>
              </mc:Choice>
              <mc:Fallback>
                <p:oleObj name="Hoja de cálculo" r:id="rId4" imgW="1647658" imgH="1590846" progId="Excel.Sheet.12">
                  <p:embed/>
                  <p:pic>
                    <p:nvPicPr>
                      <p:cNvPr id="4" name="Objeto 3"/>
                      <p:cNvPicPr/>
                      <p:nvPr/>
                    </p:nvPicPr>
                    <p:blipFill>
                      <a:blip r:embed="rId5"/>
                      <a:stretch>
                        <a:fillRect/>
                      </a:stretch>
                    </p:blipFill>
                    <p:spPr>
                      <a:xfrm>
                        <a:off x="609600" y="4150031"/>
                        <a:ext cx="2602523" cy="2512262"/>
                      </a:xfrm>
                      <a:prstGeom prst="rect">
                        <a:avLst/>
                      </a:prstGeom>
                    </p:spPr>
                  </p:pic>
                </p:oleObj>
              </mc:Fallback>
            </mc:AlternateContent>
          </a:graphicData>
        </a:graphic>
      </p:graphicFrame>
      <p:graphicFrame>
        <p:nvGraphicFramePr>
          <p:cNvPr id="5" name="Objeto 4"/>
          <p:cNvGraphicFramePr>
            <a:graphicFrameLocks noChangeAspect="1"/>
          </p:cNvGraphicFramePr>
          <p:nvPr>
            <p:extLst>
              <p:ext uri="{D42A27DB-BD31-4B8C-83A1-F6EECF244321}">
                <p14:modId xmlns:p14="http://schemas.microsoft.com/office/powerpoint/2010/main" val="4154193333"/>
              </p:ext>
            </p:extLst>
          </p:nvPr>
        </p:nvGraphicFramePr>
        <p:xfrm>
          <a:off x="4739429" y="1591651"/>
          <a:ext cx="6800518" cy="4152657"/>
        </p:xfrm>
        <a:graphic>
          <a:graphicData uri="http://schemas.openxmlformats.org/presentationml/2006/ole">
            <mc:AlternateContent xmlns:mc="http://schemas.openxmlformats.org/markup-compatibility/2006">
              <mc:Choice xmlns:v="urn:schemas-microsoft-com:vml" Requires="v">
                <p:oleObj name="Hoja de cálculo" r:id="rId6" imgW="4476846" imgH="2733530" progId="Excel.Sheet.12">
                  <p:embed/>
                </p:oleObj>
              </mc:Choice>
              <mc:Fallback>
                <p:oleObj name="Hoja de cálculo" r:id="rId6" imgW="4476846" imgH="2733530" progId="Excel.Sheet.12">
                  <p:embed/>
                  <p:pic>
                    <p:nvPicPr>
                      <p:cNvPr id="5" name="Objeto 4"/>
                      <p:cNvPicPr/>
                      <p:nvPr/>
                    </p:nvPicPr>
                    <p:blipFill>
                      <a:blip r:embed="rId7"/>
                      <a:stretch>
                        <a:fillRect/>
                      </a:stretch>
                    </p:blipFill>
                    <p:spPr>
                      <a:xfrm>
                        <a:off x="4739429" y="1591651"/>
                        <a:ext cx="6800518" cy="4152657"/>
                      </a:xfrm>
                      <a:prstGeom prst="rect">
                        <a:avLst/>
                      </a:prstGeom>
                    </p:spPr>
                  </p:pic>
                </p:oleObj>
              </mc:Fallback>
            </mc:AlternateContent>
          </a:graphicData>
        </a:graphic>
      </p:graphicFrame>
    </p:spTree>
    <p:extLst>
      <p:ext uri="{BB962C8B-B14F-4D97-AF65-F5344CB8AC3E}">
        <p14:creationId xmlns:p14="http://schemas.microsoft.com/office/powerpoint/2010/main" val="4279247500"/>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Doc" id="{E1E7EDF9-8B79-4E5D-B508-2301E35CD219}" vid="{4342E303-0389-44F2-B6F0-C13C203CC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8DBC0A1-66E1-4B9D-88C2-9B3A32A214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Bienvenido a PowerPoint</Template>
  <TotalTime>0</TotalTime>
  <Words>6792</Words>
  <Application>Microsoft Office PowerPoint</Application>
  <PresentationFormat>Panorámica</PresentationFormat>
  <Paragraphs>729</Paragraphs>
  <Slides>92</Slides>
  <Notes>2</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2</vt:i4>
      </vt:variant>
      <vt:variant>
        <vt:lpstr>Títulos de diapositiva</vt:lpstr>
      </vt:variant>
      <vt:variant>
        <vt:i4>92</vt:i4>
      </vt:variant>
    </vt:vector>
  </HeadingPairs>
  <TitlesOfParts>
    <vt:vector size="103" baseType="lpstr">
      <vt:lpstr>Aptos Narrow</vt:lpstr>
      <vt:lpstr>Arial</vt:lpstr>
      <vt:lpstr>Calibri</vt:lpstr>
      <vt:lpstr>Cambria Math</vt:lpstr>
      <vt:lpstr>Segoe UI</vt:lpstr>
      <vt:lpstr>Segoe UI Light</vt:lpstr>
      <vt:lpstr>Wingdings</vt:lpstr>
      <vt:lpstr>Wingdings 3</vt:lpstr>
      <vt:lpstr>WelcomeDoc</vt:lpstr>
      <vt:lpstr>Worksheet</vt:lpstr>
      <vt:lpstr>Hoja de cálculo</vt:lpstr>
      <vt:lpstr>FINANZAS PARTE I Ing. Mantención Industrial Construcción Civil Informática</vt:lpstr>
      <vt:lpstr>¿Qué es la inflación?</vt:lpstr>
      <vt:lpstr>Presentación de PowerPoint</vt:lpstr>
      <vt:lpstr>¿Cómo se mide la inflación? </vt:lpstr>
      <vt:lpstr>  ¿Para qué sirve el IPC? </vt:lpstr>
      <vt:lpstr>Tasa de interés</vt:lpstr>
      <vt:lpstr>La tasa de interés depende de la inflación:</vt:lpstr>
      <vt:lpstr>¿Cómo saber si la tasa me conviene o no?</vt:lpstr>
      <vt:lpstr>El ahorro marca una gran diferencia en el tiempo.</vt:lpstr>
      <vt:lpstr>Y si creamos una empresa nos debemos preguntar</vt:lpstr>
      <vt:lpstr>¿Qué aprenderemos en este curso?</vt:lpstr>
      <vt:lpstr>¿ Qué es una empresa o sociedad o corporación?</vt:lpstr>
      <vt:lpstr>Características de una empresa.</vt:lpstr>
      <vt:lpstr>Las corporaciones tienen objetivos</vt:lpstr>
      <vt:lpstr>¿Qué tipo de empresa podemos ser?</vt:lpstr>
      <vt:lpstr>Cuadro Comparativo de Empresas</vt:lpstr>
      <vt:lpstr>Cuadro Comparativo de Empresas (continuación 1)</vt:lpstr>
      <vt:lpstr>Cuadro Comparativo de Empresas (continuación 2)</vt:lpstr>
      <vt:lpstr>¿Qué son las finanzas?</vt:lpstr>
      <vt:lpstr>Por lo tanto, la responsabilidad de las finanzas es:</vt:lpstr>
      <vt:lpstr>¿Qué es la contabilidad?,  ¿Cuál es su objetivo?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Ecuación del Inventario</vt:lpstr>
      <vt:lpstr>Es decir, el balance representa: </vt:lpstr>
      <vt:lpstr>¿Cómo construir un balance?, Supongamos que hacemos un negocio y lo formamos así: </vt:lpstr>
      <vt:lpstr>El Balance quedaría así:</vt:lpstr>
      <vt:lpstr>Conceptos que debemos conocer:</vt:lpstr>
      <vt:lpstr>Inversiones o CAPEX (Capital Expenditure)</vt:lpstr>
      <vt:lpstr>Ingresos por Ventas o Ventas</vt:lpstr>
      <vt:lpstr>OPEX (Operational Expenditure)</vt:lpstr>
      <vt:lpstr>3.1. Costos: Los costos son en los que se incurre para producir un producto o dar un servicio. Están directamente relacionados con la fabricación del producto o la generación del servicio que se entrega. </vt:lpstr>
      <vt:lpstr>2. Gastos</vt:lpstr>
      <vt:lpstr>Estado de Resultado Integral</vt:lpstr>
      <vt:lpstr>Esquema típico de un estado de resultado.</vt:lpstr>
      <vt:lpstr>Presentación de PowerPoint</vt:lpstr>
      <vt:lpstr>1.3 Como se determina cada partida del estado de resultado.</vt:lpstr>
      <vt:lpstr>¿Cómo construir un estado de resultado?, Supongamos que hacemos un empresa y hacemos los siguientes: </vt:lpstr>
      <vt:lpstr>Así quedaría el estado de resultado:</vt:lpstr>
      <vt:lpstr>2. Depreciación</vt:lpstr>
      <vt:lpstr>2.1 Depreciación y Valor de recuperación.</vt:lpstr>
      <vt:lpstr>3. Amortización de activo</vt:lpstr>
      <vt:lpstr>Sistemas de costeo y valorización de mercaderías</vt:lpstr>
      <vt:lpstr>Ejemplo de costeos: Variable o directo y por absorción</vt:lpstr>
      <vt:lpstr>El estado de resultado para costo por absorción quedaría de la siguiente manera</vt:lpstr>
      <vt:lpstr>El estado de resultado para costo directo quedaría de la siguiente manera</vt:lpstr>
      <vt:lpstr>Desde ahora en adelante trabajaremos con costeo directo.</vt:lpstr>
      <vt:lpstr>Ejercicio en clases, realice los Estado de Resultado con los datos que se indican, para 2 años. (use costo directo)</vt:lpstr>
      <vt:lpstr>Presentación de PowerPoint</vt:lpstr>
      <vt:lpstr>Ejercicio en clases, realice los Estado de Resultado con los datos que se indican, para 5 años.</vt:lpstr>
      <vt:lpstr>Presentación de PowerPoint</vt:lpstr>
      <vt:lpstr>Análisis del Punto de Equilibrio</vt:lpstr>
      <vt:lpstr>Presentación de PowerPoint</vt:lpstr>
      <vt:lpstr>Presentación de PowerPoint</vt:lpstr>
      <vt:lpstr>Ejercicio 1 en clases</vt:lpstr>
      <vt:lpstr>Presentación de PowerPoint</vt:lpstr>
      <vt:lpstr>Presentación de PowerPoint</vt:lpstr>
      <vt:lpstr>Ejercicio 2 en clases</vt:lpstr>
      <vt:lpstr>Ejercicio3 en clases</vt:lpstr>
      <vt:lpstr>Una manera inicial de analizar el balance y el estado de resultado es a través de:</vt:lpstr>
      <vt:lpstr>Análisis Vertical y Horizontal</vt:lpstr>
      <vt:lpstr>Formulas de cálculo Análisis Vertical</vt:lpstr>
      <vt:lpstr>Formulas de cálculo Análisis Horizontal</vt:lpstr>
      <vt:lpstr>Ejercicio en clases Análisis Vertical BALANCE</vt:lpstr>
      <vt:lpstr>Ejercicio en clases Análisis Vertical Estado de Resultado</vt:lpstr>
      <vt:lpstr>Tarea Análisis vertical de Balance</vt:lpstr>
      <vt:lpstr>Tarea Análisis vertical de Estado de Resultado</vt:lpstr>
      <vt:lpstr>Análisis horizontal de balance</vt:lpstr>
      <vt:lpstr>Análisis vertical y horizontal de estado de resultado</vt:lpstr>
      <vt:lpstr>Tarea </vt:lpstr>
      <vt:lpstr>Presentación de PowerPoint</vt:lpstr>
      <vt:lpstr>Análisis vertical</vt:lpstr>
      <vt:lpstr>Ejemplo del Análisis Vertical año 2013 y 2014:</vt:lpstr>
      <vt:lpstr>Análisis Horizontal</vt:lpstr>
      <vt:lpstr>Ejemplo del Análisis Horizontal año 2013 y 2014:</vt:lpstr>
      <vt:lpstr>Ejemplo de análisis vertical y horizontal</vt:lpstr>
      <vt:lpstr>Tarea:</vt:lpstr>
      <vt:lpstr>Presentación de PowerPoint</vt:lpstr>
      <vt:lpstr>Análisis del Estado de resultado</vt:lpstr>
      <vt:lpstr>Análisis del Estado de resultado</vt:lpstr>
      <vt:lpstr>Ejemplo de análisis vertical y horizontal</vt:lpstr>
      <vt:lpstr>Tarea en clases</vt:lpstr>
      <vt:lpstr>Presentación de PowerPoint</vt:lpstr>
      <vt:lpstr>Tarea en clases: Efectúe la estructura financiera y análisis vertical y horizontal para ambos años. </vt:lpstr>
      <vt:lpstr>Presentación de PowerPoint</vt:lpstr>
      <vt:lpstr>Efectuar estructura financiera del balance y análisis vertical y horizontal del estado de resultado</vt:lpstr>
      <vt:lpstr>Resultado ejercicio anterior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2017-03-01T22:08:30Z</dcterms:created>
  <dcterms:modified xsi:type="dcterms:W3CDTF">2026-08-26T20:15:32Z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TC029239449991</vt:lpwstr>
  </property>
</Properties>
</file>